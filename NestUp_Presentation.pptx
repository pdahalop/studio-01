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Prasamsha
Suggested time: 20–25 seconds
Good morning everyone. We are Group 2, and our project is called NestUp. NestUp is a client and listing management system designed for small real estate agencies. Our group members are Prasamsha Dahal, Harshdeep Kaur, and Varish Makra. In this presentation, we will explain the system, our database design, our individual contributions, our Agile approach, GitHub usage, and the main challenges we faced.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Prasamsha
Suggested time: 20 seconds
This is the structure of our presentation. We will start with a brief introduction and the use case diagram, then cover our individual user stories. After that, we will explain the Agile practice we followed, the ER diagram and data dictionary, how we used GitHub, the main challenges, our conclusion, and finally we will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Prasamsha
Suggested time: 45–55 seconds
NestUp was created for small independent real estate agencies. The main problem is that information can be scattered between spreadsheets, diaries, messages and paper notes. This makes it harder for an agent to know who viewed a property, what offer was made, or which buyers match a new listing. Our solution is to keep the core information in one relational database. The system stores agents, vendors, buyers, properties, viewings, offers and sales. This makes searching faster, keeps the data connected, and gives the agency a clearer workflow from listing a property through to the final sale.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Harshdeep
Suggested time: 55–65 seconds
This use case diagram shows the three main actors in our current system: the agent, admin or reception staff, and the branch manager. Agents do most of the operational work, such as managing property listings, filtering properties, booking viewings, recording feedback and handling offers. Admin or reception staff can register buyer and vendor details and help with viewing bookings. The branch manager mainly uses the reporting and sale information to monitor activity and commission. Buyers and vendors are not direct login users in this version; they interact with the system through agency staff.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Prasamsha
Suggested time: 40–50 seconds
My individual contribution focuses on the Agent and Vendor side of the system. My first user story is about allowing an agent to create and update property listings so the agency always has current data. The second is about linking each property to the correct vendor and handling agent, which makes responsibility clear and supports the foreign key relationships in the database. The third is about keeping the agent's commission rate in the system so that commission can be calculated consistently when a sale is completed.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Harshdeep
Suggested time: 40–50 seconds
My contribution focuses on Buyer and Property. The first user story is registering buyers with details such as contact information, budget and preferences. The second story is about filtering the property records so an agent can quickly find suitable listings. The third is about comparing a buyer's requirements with available properties. These stories support one of the main goals of NestUp, which is to make it easier for a small agency to match the right buyer with the right property.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Varish
Suggested time: 40–50 seconds
My contribution focuses on the later part of the workflow: Viewings, Offers and Sales. The first user story is booking a viewing and storing feedback from the buyer. The second is recording an offer and changing its status as the negotiation progresses. The third is linking an accepted offer to a single sale record. In the database, the sale uses a unique offer ID, which helps prevent the same accepted offer from being used for more than one sale.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Harshdeep
Suggested time: 50–60 seconds
We did not use a large formal Scrum framework, but we followed a lightweight Agile approach. The idea was to work in small stages, review our work early and make changes instead of waiting until the end. In Week 5 the focus was analysis and the ERD. In Week 6 we moved into the data dictionary and database build. In Week 7 we tested queries and fixed issues. In Week 8 we prepared for the PDR and final review. This reflects the Agile cycle of planning, building, testing and reviewing, with feedback used to improve the next 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Varish
Suggested time: 70–85 seconds
This is our physical ER diagram. We have seven main entities: Agent, Vendor, Buyer, Property, Viewing, Offer and Sale. Agent to Property is one-to-many because one agent can manage several properties, while each property has one handling agent. Vendor to Property is also one-to-many. The Viewing table links a buyer to a property and stores the viewing date and feedback, so it acts as an associative record for that interaction. Offers are linked to both the property and the buyer. Finally, Sale is linked to Offer using a unique foreign key. That gives us a one-to-zero-or-one relationship from an offer to a sale and helps prevent the same offer from creating multiple sale records. Primary keys identify rows, while foreign keys maintain the relationships between tables.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Prasamsha
Suggested time: 45–55 seconds
For the data dictionary, my main entities are Agent and Vendor. Agent has agent_id as the primary key, along with the agent's name, contact and commission rate. The commission rate uses a check constraint so that the value stays within the business rule. Vendor has vendor_id as the primary key, plus the vendor's name and contact information. These definitions make it clear what data type each field uses, whether it is required, and what role the field plays in the database.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Harshdeep
Suggested time: 50–60 seconds
My data dictionary contribution covers Buyer and Property. Buyer uses buyer_id as the primary key and stores the person's name, contact, budget and preferences. The budget must be greater than zero. Property uses property_id as the primary key. Important constraints include a unique address, a positive price and a default status of Listed. Property also contains vendor_id and agent_id as foreign keys, which connect each property to its seller and handling agent. These constraints help keep the stored data valid and reduce duplicate or incomplete records.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Varish
Suggested time: 55–65 seconds
My data dictionary contribution covers Viewing, Offer and Sale. Viewing contains foreign keys for property and buyer, plus the date and optional feedback. Offer links the buyer and property and stores the amount, date and status. The offer amount must be greater than zero. Sale contains sale_id as the primary key and offer_id as a unique foreign key. That unique constraint is important because it prevents one offer from being linked to multiple sale records. The final price must also be positive, and the commission value is stored for the completed transaction.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Varish
Suggested time: 45–55 seconds
We used GitHub as a collaboration and version-control tool. The basic workflow is to pull the latest version, make changes to the SQL files, report or diagrams, commit the change with a clear message, and push it back to the shared repository. This gives the group one place to keep the current files and also creates evidence of progress through the commit history. For the final submission, the important repository files are the database build file, the queries file and the final report containing the data dictionary and ER diagram. We can also show our real commit-history screenshot as proof during the presentation.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Harshdeep
Suggested time: 50–60 seconds
The biggest challenge was controlling the project scope. A real estate agency handles a lot of information, so we reduced the database to seven core entities and left out things such as physical keys, phone recordings and large reports. Another challenge was modelling the relationships, especially buyer and property interactions. We used the Viewing table to store each specific visit. We also had to protect data quality, so we used primary keys, foreign keys and constraints such as NOT NULL, UNIQUE and CHECK. Finally, GitHub helped us avoid problems with different versions of the same files.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Varish
Suggested time: 30–40 seconds
To conclude, NestUp shows how a small real estate agency can move from scattered records to one connected database. Our final design uses seven core entities with clear primary and foreign key relationships. The system supports practical use cases such as managing listings, matching buyers, recording viewings and offers, and completing sales. The project also demonstrates the skills required in Studio 1: database modelling, SQLite design, constraints, queries, teamwork, Agile-style iteration and GitHub collaboration.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All members
Suggested time: 10 seconds
Thank you for listening. We are happy to answer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NESTUP_MASTER">
    <p:bg>
      <p:bgPr>
        <a:solidFill>
          <a:srgbClr val="F7F5F0"/>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F5A5A"/>
          </a:solidFill>
          <a:ln w="12700">
            <a:solidFill>
              <a:srgbClr val="1F5A5A"/>
            </a:solidFill>
            <a:prstDash val="solid"/>
          </a:ln>
        </p:spPr>
      </p:sp>
      <p:sp>
        <p:nvSpPr>
          <p:cNvPr id="3" name="Text 1"/>
          <p:cNvSpPr/>
          <p:nvPr/>
        </p:nvSpPr>
        <p:spPr>
          <a:xfrm>
            <a:off x="502920" y="6510528"/>
            <a:ext cx="6583680" cy="182880"/>
          </a:xfrm>
          <a:prstGeom prst="rect">
            <a:avLst/>
          </a:prstGeom>
          <a:noFill/>
          <a:ln/>
        </p:spPr>
        <p:txBody>
          <a:bodyPr wrap="square" lIns="0" tIns="0" rIns="0" bIns="0" rtlCol="0" anchor="ctr"/>
          <a:lstStyle/>
          <a:p>
            <a:pPr indent="0" marL="0">
              <a:buNone/>
            </a:pPr>
            <a:r>
              <a:rPr lang="en-US" sz="900" dirty="0">
                <a:solidFill>
                  <a:srgbClr val="6B7280"/>
                </a:solidFill>
                <a:latin typeface="Carlito" pitchFamily="34" charset="0"/>
                <a:ea typeface="Carlito" pitchFamily="34" charset="-122"/>
                <a:cs typeface="Carlito" pitchFamily="34" charset="-120"/>
              </a:rPr>
              <a:t>NESTUP  •  IA502001 STUDIO 1  •  GROUP 2</a:t>
            </a:r>
            <a:endParaRPr lang="en-US" sz="900" dirty="0"/>
          </a:p>
        </p:txBody>
      </p:sp>
      <p:sp>
        <p:nvSpPr>
          <p:cNvPr id="4" name="Text 2"/>
          <p:cNvSpPr/>
          <p:nvPr/>
        </p:nvSpPr>
        <p:spPr>
          <a:xfrm>
            <a:off x="8961120" y="6510528"/>
            <a:ext cx="2697480" cy="182880"/>
          </a:xfrm>
          <a:prstGeom prst="rect">
            <a:avLst/>
          </a:prstGeom>
          <a:noFill/>
          <a:ln/>
        </p:spPr>
        <p:txBody>
          <a:bodyPr wrap="square" lIns="0" tIns="0" rIns="0" bIns="0" rtlCol="0" anchor="ctr"/>
          <a:lstStyle/>
          <a:p>
            <a:pPr algn="r" indent="0" marL="0">
              <a:buNone/>
            </a:pPr>
            <a:r>
              <a:rPr lang="en-US" sz="900" dirty="0">
                <a:solidFill>
                  <a:srgbClr val="6B7280"/>
                </a:solidFill>
                <a:latin typeface="Carlito" pitchFamily="34" charset="0"/>
                <a:ea typeface="Carlito" pitchFamily="34" charset="-122"/>
                <a:cs typeface="Carlito" pitchFamily="34" charset="-120"/>
              </a:rPr>
              <a:t>Find it. List it. Love it.</a:t>
            </a:r>
            <a:endParaRPr lang="en-US" sz="900" dirty="0"/>
          </a:p>
        </p:txBody>
      </p:sp>
      <p:sp>
        <p:nvSpPr>
          <p:cNvPr id="25" name="Slide Number Placeholder 0"/>
          <p:cNvSpPr>
            <a:spLocks noGrp="1"/>
          </p:cNvSpPr>
          <p:nvPr>
            <p:ph type="sldNum" sz="quarter" idx="4294967295"/>
          </p:nvPr>
        </p:nvSpPr>
        <p:spPr>
          <a:xfrm>
            <a:off x="11750040" y="649224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latin typeface="Carlito"/>
                <a:ea typeface="Carlito"/>
                <a:cs typeface="Carlito"/>
              </a:defRPr>
            </a:lvl1pPr>
          </a:lstStyle>
          <a:p>
            <a:pPr algn="l"/>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750040" y="649224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latin typeface="Carlito"/>
                <a:ea typeface="Carlito"/>
                <a:cs typeface="Carlito"/>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svg"/><Relationship Id="rId3" Type="http://schemas.openxmlformats.org/officeDocument/2006/relationships/image" Target="../media/image-1-3.png"/><Relationship Id="rId4" Type="http://schemas.openxmlformats.org/officeDocument/2006/relationships/image" Target="../media/image-1-4.svg"/><Relationship Id="rId5" Type="http://schemas.openxmlformats.org/officeDocument/2006/relationships/slideLayout" Target="../slideLayouts/slideLayout2.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image" Target="../media/image-3-3.png"/><Relationship Id="rId4" Type="http://schemas.openxmlformats.org/officeDocument/2006/relationships/image" Target="../media/image-3-4.svg"/><Relationship Id="rId5" Type="http://schemas.openxmlformats.org/officeDocument/2006/relationships/image" Target="../media/image-3-5.png"/><Relationship Id="rId6" Type="http://schemas.openxmlformats.org/officeDocument/2006/relationships/image" Target="../media/image-3-6.svg"/><Relationship Id="rId7" Type="http://schemas.openxmlformats.org/officeDocument/2006/relationships/image" Target="../media/image-3-7.png"/><Relationship Id="rId8" Type="http://schemas.openxmlformats.org/officeDocument/2006/relationships/image" Target="../media/image-3-8.svg"/><Relationship Id="rId9" Type="http://schemas.openxmlformats.org/officeDocument/2006/relationships/slideLayout" Target="../slideLayouts/slideLayout2.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svg"/><Relationship Id="rId3" Type="http://schemas.openxmlformats.org/officeDocument/2006/relationships/image" Target="../media/image-4-3.png"/><Relationship Id="rId4" Type="http://schemas.openxmlformats.org/officeDocument/2006/relationships/image" Target="../media/image-4-4.svg"/><Relationship Id="rId5" Type="http://schemas.openxmlformats.org/officeDocument/2006/relationships/image" Target="../media/image-4-5.png"/><Relationship Id="rId6" Type="http://schemas.openxmlformats.org/officeDocument/2006/relationships/image" Target="../media/image-4-6.svg"/><Relationship Id="rId7" Type="http://schemas.openxmlformats.org/officeDocument/2006/relationships/slideLayout" Target="../slideLayouts/slideLayout2.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svg"/><Relationship Id="rId3" Type="http://schemas.openxmlformats.org/officeDocument/2006/relationships/image" Target="../media/image-5-3.png"/><Relationship Id="rId4" Type="http://schemas.openxmlformats.org/officeDocument/2006/relationships/image" Target="../media/image-5-4.svg"/><Relationship Id="rId5" Type="http://schemas.openxmlformats.org/officeDocument/2006/relationships/image" Target="../media/image-5-5.png"/><Relationship Id="rId6" Type="http://schemas.openxmlformats.org/officeDocument/2006/relationships/image" Target="../media/image-5-6.svg"/><Relationship Id="rId7" Type="http://schemas.openxmlformats.org/officeDocument/2006/relationships/slideLayout" Target="../slideLayouts/slideLayout2.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svg"/><Relationship Id="rId3" Type="http://schemas.openxmlformats.org/officeDocument/2006/relationships/image" Target="../media/image-6-3.png"/><Relationship Id="rId4" Type="http://schemas.openxmlformats.org/officeDocument/2006/relationships/image" Target="../media/image-6-4.svg"/><Relationship Id="rId5" Type="http://schemas.openxmlformats.org/officeDocument/2006/relationships/image" Target="../media/image-6-5.png"/><Relationship Id="rId6" Type="http://schemas.openxmlformats.org/officeDocument/2006/relationships/image" Target="../media/image-6-6.svg"/><Relationship Id="rId7" Type="http://schemas.openxmlformats.org/officeDocument/2006/relationships/slideLayout" Target="../slideLayouts/slideLayout2.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svg"/><Relationship Id="rId3" Type="http://schemas.openxmlformats.org/officeDocument/2006/relationships/image" Target="../media/image-7-3.png"/><Relationship Id="rId4" Type="http://schemas.openxmlformats.org/officeDocument/2006/relationships/image" Target="../media/image-7-4.svg"/><Relationship Id="rId5" Type="http://schemas.openxmlformats.org/officeDocument/2006/relationships/image" Target="../media/image-7-5.png"/><Relationship Id="rId6" Type="http://schemas.openxmlformats.org/officeDocument/2006/relationships/image" Target="../media/image-7-6.svg"/><Relationship Id="rId7" Type="http://schemas.openxmlformats.org/officeDocument/2006/relationships/slideLayout" Target="../slideLayouts/slideLayout2.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svg"/><Relationship Id="rId3" Type="http://schemas.openxmlformats.org/officeDocument/2006/relationships/image" Target="../media/image-8-3.png"/><Relationship Id="rId4" Type="http://schemas.openxmlformats.org/officeDocument/2006/relationships/image" Target="../media/image-8-4.svg"/><Relationship Id="rId5" Type="http://schemas.openxmlformats.org/officeDocument/2006/relationships/image" Target="../media/image-8-5.png"/><Relationship Id="rId6" Type="http://schemas.openxmlformats.org/officeDocument/2006/relationships/image" Target="../media/image-8-6.svg"/><Relationship Id="rId7" Type="http://schemas.openxmlformats.org/officeDocument/2006/relationships/image" Target="../media/image-8-7.png"/><Relationship Id="rId8" Type="http://schemas.openxmlformats.org/officeDocument/2006/relationships/image" Target="../media/image-8-8.svg"/><Relationship Id="rId9" Type="http://schemas.openxmlformats.org/officeDocument/2006/relationships/image" Target="../media/image-8-9.png"/><Relationship Id="rId10" Type="http://schemas.openxmlformats.org/officeDocument/2006/relationships/image" Target="../media/image-8-10.svg"/><Relationship Id="rId11" Type="http://schemas.openxmlformats.org/officeDocument/2006/relationships/slideLayout" Target="../slideLayouts/slideLayout2.xml"/><Relationship Id="rId1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svg"/><Relationship Id="rId3" Type="http://schemas.openxmlformats.org/officeDocument/2006/relationships/image" Target="../media/image-13-3.png"/><Relationship Id="rId4" Type="http://schemas.openxmlformats.org/officeDocument/2006/relationships/image" Target="../media/image-13-4.svg"/><Relationship Id="rId5" Type="http://schemas.openxmlformats.org/officeDocument/2006/relationships/image" Target="../media/image-13-5.png"/><Relationship Id="rId6" Type="http://schemas.openxmlformats.org/officeDocument/2006/relationships/image" Target="../media/image-13-6.svg"/><Relationship Id="rId7" Type="http://schemas.openxmlformats.org/officeDocument/2006/relationships/image" Target="../media/image-13-7.png"/><Relationship Id="rId8" Type="http://schemas.openxmlformats.org/officeDocument/2006/relationships/image" Target="../media/image-13-8.svg"/><Relationship Id="rId9" Type="http://schemas.openxmlformats.org/officeDocument/2006/relationships/image" Target="../media/image-13-9.png"/><Relationship Id="rId10" Type="http://schemas.openxmlformats.org/officeDocument/2006/relationships/image" Target="../media/image-13-10.svg"/><Relationship Id="rId11" Type="http://schemas.openxmlformats.org/officeDocument/2006/relationships/image" Target="../media/image-13-11.png"/><Relationship Id="rId12" Type="http://schemas.openxmlformats.org/officeDocument/2006/relationships/image" Target="../media/image-13-12.svg"/><Relationship Id="rId13" Type="http://schemas.openxmlformats.org/officeDocument/2006/relationships/slideLayout" Target="../slideLayouts/slideLayout2.xml"/><Relationship Id="rId1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svg"/><Relationship Id="rId3" Type="http://schemas.openxmlformats.org/officeDocument/2006/relationships/image" Target="../media/image-14-3.png"/><Relationship Id="rId4" Type="http://schemas.openxmlformats.org/officeDocument/2006/relationships/image" Target="../media/image-14-4.svg"/><Relationship Id="rId5" Type="http://schemas.openxmlformats.org/officeDocument/2006/relationships/image" Target="../media/image-14-5.png"/><Relationship Id="rId6" Type="http://schemas.openxmlformats.org/officeDocument/2006/relationships/image" Target="../media/image-14-6.svg"/><Relationship Id="rId7" Type="http://schemas.openxmlformats.org/officeDocument/2006/relationships/image" Target="../media/image-14-7.png"/><Relationship Id="rId8" Type="http://schemas.openxmlformats.org/officeDocument/2006/relationships/image" Target="../media/image-14-8.svg"/><Relationship Id="rId9" Type="http://schemas.openxmlformats.org/officeDocument/2006/relationships/slideLayout" Target="../slideLayouts/slideLayout2.xml"/><Relationship Id="rId10"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svg"/><Relationship Id="rId3" Type="http://schemas.openxmlformats.org/officeDocument/2006/relationships/image" Target="../media/image-15-3.png"/><Relationship Id="rId4" Type="http://schemas.openxmlformats.org/officeDocument/2006/relationships/image" Target="../media/image-15-4.svg"/><Relationship Id="rId5" Type="http://schemas.openxmlformats.org/officeDocument/2006/relationships/slideLayout" Target="../slideLayouts/slideLayout2.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svg"/><Relationship Id="rId3" Type="http://schemas.openxmlformats.org/officeDocument/2006/relationships/slideLayout" Target="../slideLayouts/slideLayout2.xml"/><Relationship Id="rId4"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5F0"/>
        </a:solidFill>
      </p:bgPr>
    </p:bg>
    <p:spTree>
      <p:nvGrpSpPr>
        <p:cNvPr id="1" name=""/>
        <p:cNvGrpSpPr/>
        <p:nvPr/>
      </p:nvGrpSpPr>
      <p:grpSpPr>
        <a:xfrm>
          <a:off x="0" y="0"/>
          <a:ext cx="0" cy="0"/>
          <a:chOff x="0" y="0"/>
          <a:chExt cx="0" cy="0"/>
        </a:xfrm>
      </p:grpSpPr>
      <p:sp>
        <p:nvSpPr>
          <p:cNvPr id="2" name="Shape 0"/>
          <p:cNvSpPr/>
          <p:nvPr/>
        </p:nvSpPr>
        <p:spPr>
          <a:xfrm>
            <a:off x="0" y="0"/>
            <a:ext cx="4846320" cy="6858000"/>
          </a:xfrm>
          <a:prstGeom prst="rect">
            <a:avLst/>
          </a:prstGeom>
          <a:solidFill>
            <a:srgbClr val="163A45"/>
          </a:solidFill>
          <a:ln w="12700">
            <a:solidFill>
              <a:srgbClr val="163A45"/>
            </a:solidFill>
            <a:prstDash val="solid"/>
          </a:ln>
        </p:spPr>
      </p:sp>
      <p:sp>
        <p:nvSpPr>
          <p:cNvPr id="3" name="Shape 1"/>
          <p:cNvSpPr/>
          <p:nvPr/>
        </p:nvSpPr>
        <p:spPr>
          <a:xfrm rot="1080000">
            <a:off x="7863840" y="731520"/>
            <a:ext cx="3657600" cy="3657600"/>
          </a:xfrm>
          <a:prstGeom prst="arc">
            <a:avLst/>
          </a:prstGeom>
          <a:solidFill>
            <a:srgbClr val="EEE2CD">
              <a:alpha val="65000"/>
            </a:srgbClr>
          </a:solidFill>
          <a:ln w="12700">
            <a:solidFill>
              <a:srgbClr val="EEE2CD">
                <a:alpha val="0"/>
              </a:srgbClr>
            </a:solidFill>
            <a:prstDash val="solid"/>
          </a:ln>
        </p:spPr>
      </p:sp>
      <p:sp>
        <p:nvSpPr>
          <p:cNvPr id="4" name="Shape 2"/>
          <p:cNvSpPr/>
          <p:nvPr/>
        </p:nvSpPr>
        <p:spPr>
          <a:xfrm>
            <a:off x="8321040" y="3108960"/>
            <a:ext cx="2834640" cy="2834640"/>
          </a:xfrm>
          <a:prstGeom prst="ellipse">
            <a:avLst/>
          </a:prstGeom>
          <a:solidFill>
            <a:srgbClr val="DCEBE4"/>
          </a:solidFill>
          <a:ln w="12700">
            <a:solidFill>
              <a:srgbClr val="DCEBE4"/>
            </a:solidFill>
            <a:prstDash val="solid"/>
          </a:ln>
        </p:spPr>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915400" y="3703320"/>
            <a:ext cx="1554480" cy="1554480"/>
          </a:xfrm>
          <a:prstGeom prst="rect">
            <a:avLst/>
          </a:prstGeom>
        </p:spPr>
      </p:pic>
      <p:pic>
        <p:nvPicPr>
          <p:cNvPr id="6"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149840" y="1920240"/>
            <a:ext cx="777240" cy="777240"/>
          </a:xfrm>
          <a:prstGeom prst="rect">
            <a:avLst/>
          </a:prstGeom>
        </p:spPr>
      </p:pic>
      <p:sp>
        <p:nvSpPr>
          <p:cNvPr id="7" name="Text 3"/>
          <p:cNvSpPr/>
          <p:nvPr/>
        </p:nvSpPr>
        <p:spPr>
          <a:xfrm>
            <a:off x="640080" y="1005840"/>
            <a:ext cx="3566160" cy="658368"/>
          </a:xfrm>
          <a:prstGeom prst="rect">
            <a:avLst/>
          </a:prstGeom>
          <a:noFill/>
          <a:ln/>
        </p:spPr>
        <p:txBody>
          <a:bodyPr wrap="square" lIns="0" tIns="0" rIns="0" bIns="0" rtlCol="0" anchor="ctr"/>
          <a:lstStyle/>
          <a:p>
            <a:pPr indent="0" marL="0">
              <a:buNone/>
            </a:pPr>
            <a:r>
              <a:rPr lang="en-US" sz="3400" b="1" spc="140" kern="0" dirty="0">
                <a:solidFill>
                  <a:srgbClr val="FFFFFF"/>
                </a:solidFill>
                <a:latin typeface="Carlito" pitchFamily="34" charset="0"/>
                <a:ea typeface="Carlito" pitchFamily="34" charset="-122"/>
                <a:cs typeface="Carlito" pitchFamily="34" charset="-120"/>
              </a:rPr>
              <a:t>NESTUP</a:t>
            </a:r>
            <a:endParaRPr lang="en-US" sz="3400" dirty="0"/>
          </a:p>
        </p:txBody>
      </p:sp>
      <p:sp>
        <p:nvSpPr>
          <p:cNvPr id="8" name="Text 4"/>
          <p:cNvSpPr/>
          <p:nvPr/>
        </p:nvSpPr>
        <p:spPr>
          <a:xfrm>
            <a:off x="658368" y="1783080"/>
            <a:ext cx="3657600" cy="1051560"/>
          </a:xfrm>
          <a:prstGeom prst="rect">
            <a:avLst/>
          </a:prstGeom>
          <a:noFill/>
          <a:ln/>
        </p:spPr>
        <p:txBody>
          <a:bodyPr wrap="square" lIns="0" tIns="0" rIns="0" bIns="0" rtlCol="0" anchor="ctr">
            <a:normAutofit/>
          </a:bodyPr>
          <a:lstStyle/>
          <a:p>
            <a:pPr indent="0" marL="0">
              <a:buNone/>
            </a:pPr>
            <a:r>
              <a:rPr lang="en-US" sz="2100" dirty="0">
                <a:solidFill>
                  <a:srgbClr val="E9F1F1"/>
                </a:solidFill>
                <a:latin typeface="Carlito" pitchFamily="34" charset="0"/>
                <a:ea typeface="Carlito" pitchFamily="34" charset="-122"/>
                <a:cs typeface="Carlito" pitchFamily="34" charset="-120"/>
              </a:rPr>
              <a:t>Client &amp; Listing Management System</a:t>
            </a:r>
            <a:endParaRPr lang="en-US" sz="2100" dirty="0"/>
          </a:p>
          <a:p>
            <a:pPr indent="0" marL="0">
              <a:buNone/>
            </a:pPr>
            <a:r>
              <a:rPr lang="en-US" sz="2100" dirty="0">
                <a:solidFill>
                  <a:srgbClr val="E9F1F1"/>
                </a:solidFill>
                <a:latin typeface="Carlito" pitchFamily="34" charset="0"/>
                <a:ea typeface="Carlito" pitchFamily="34" charset="-122"/>
                <a:cs typeface="Carlito" pitchFamily="34" charset="-120"/>
              </a:rPr>
              <a:t>for Small Real Estate Agencies</a:t>
            </a:r>
            <a:endParaRPr lang="en-US" sz="2100" dirty="0"/>
          </a:p>
        </p:txBody>
      </p:sp>
      <p:sp>
        <p:nvSpPr>
          <p:cNvPr id="9" name="Text 5"/>
          <p:cNvSpPr/>
          <p:nvPr/>
        </p:nvSpPr>
        <p:spPr>
          <a:xfrm>
            <a:off x="658368" y="3154680"/>
            <a:ext cx="3474720" cy="274320"/>
          </a:xfrm>
          <a:prstGeom prst="rect">
            <a:avLst/>
          </a:prstGeom>
          <a:noFill/>
          <a:ln/>
        </p:spPr>
        <p:txBody>
          <a:bodyPr wrap="square" lIns="0" tIns="0" rIns="0" bIns="0" rtlCol="0" anchor="ctr"/>
          <a:lstStyle/>
          <a:p>
            <a:pPr indent="0" marL="0">
              <a:buNone/>
            </a:pPr>
            <a:r>
              <a:rPr lang="en-US" sz="1350" b="1" dirty="0">
                <a:solidFill>
                  <a:srgbClr val="BFD3D1"/>
                </a:solidFill>
              </a:rPr>
              <a:t>IA502001 — Studio 1 Presentation</a:t>
            </a:r>
            <a:endParaRPr lang="en-US" sz="1350" dirty="0"/>
          </a:p>
        </p:txBody>
      </p:sp>
      <p:sp>
        <p:nvSpPr>
          <p:cNvPr id="10" name="Shape 6"/>
          <p:cNvSpPr/>
          <p:nvPr/>
        </p:nvSpPr>
        <p:spPr>
          <a:xfrm>
            <a:off x="658368" y="3657600"/>
            <a:ext cx="1051560" cy="329184"/>
          </a:xfrm>
          <a:prstGeom prst="roundRect">
            <a:avLst>
              <a:gd name="adj" fmla="val 19444"/>
            </a:avLst>
          </a:prstGeom>
          <a:solidFill>
            <a:srgbClr val="2C6870"/>
          </a:solidFill>
          <a:ln w="12700">
            <a:solidFill>
              <a:srgbClr val="2C6870"/>
            </a:solidFill>
            <a:prstDash val="solid"/>
          </a:ln>
        </p:spPr>
      </p:sp>
      <p:sp>
        <p:nvSpPr>
          <p:cNvPr id="11" name="Text 7"/>
          <p:cNvSpPr/>
          <p:nvPr/>
        </p:nvSpPr>
        <p:spPr>
          <a:xfrm>
            <a:off x="731520" y="3730752"/>
            <a:ext cx="905256" cy="146304"/>
          </a:xfrm>
          <a:prstGeom prst="rect">
            <a:avLst/>
          </a:prstGeom>
          <a:noFill/>
          <a:ln/>
        </p:spPr>
        <p:txBody>
          <a:bodyPr wrap="square" lIns="0" tIns="0" rIns="0" bIns="0" rtlCol="0" anchor="ctr"/>
          <a:lstStyle/>
          <a:p>
            <a:pPr algn="ctr" indent="0" marL="0">
              <a:buNone/>
            </a:pPr>
            <a:r>
              <a:rPr lang="en-US" sz="1050" b="1" dirty="0">
                <a:solidFill>
                  <a:srgbClr val="FFFFFF"/>
                </a:solidFill>
              </a:rPr>
              <a:t>GROUP 2</a:t>
            </a:r>
            <a:endParaRPr lang="en-US" sz="1050" dirty="0"/>
          </a:p>
        </p:txBody>
      </p:sp>
      <p:sp>
        <p:nvSpPr>
          <p:cNvPr id="12" name="Text 8"/>
          <p:cNvSpPr/>
          <p:nvPr/>
        </p:nvSpPr>
        <p:spPr>
          <a:xfrm>
            <a:off x="658368" y="4251960"/>
            <a:ext cx="3200400" cy="1097280"/>
          </a:xfrm>
          <a:prstGeom prst="rect">
            <a:avLst/>
          </a:prstGeom>
          <a:noFill/>
          <a:ln/>
        </p:spPr>
        <p:txBody>
          <a:bodyPr wrap="square" lIns="254" tIns="254" rIns="254" bIns="254" rtlCol="0" anchor="ctr"/>
          <a:lstStyle/>
          <a:p>
            <a:pPr indent="0" marL="0">
              <a:buNone/>
            </a:pPr>
            <a:r>
              <a:rPr lang="en-US" sz="1600" b="1" dirty="0">
                <a:solidFill>
                  <a:srgbClr val="FFFFFF"/>
                </a:solidFill>
              </a:rPr>
              <a:t>Prasamsha Dahal</a:t>
            </a:r>
            <a:endParaRPr lang="en-US" sz="1600" dirty="0"/>
          </a:p>
          <a:p>
            <a:pPr indent="0" marL="0">
              <a:buNone/>
            </a:pPr>
            <a:r>
              <a:rPr lang="en-US" sz="1600" b="1" dirty="0">
                <a:solidFill>
                  <a:srgbClr val="FFFFFF"/>
                </a:solidFill>
              </a:rPr>
              <a:t>Harshdeep Kaur</a:t>
            </a:r>
            <a:endParaRPr lang="en-US" sz="1600" dirty="0"/>
          </a:p>
          <a:p>
            <a:pPr indent="0" marL="0">
              <a:buNone/>
            </a:pPr>
            <a:r>
              <a:rPr lang="en-US" sz="1600" b="1" dirty="0">
                <a:solidFill>
                  <a:srgbClr val="FFFFFF"/>
                </a:solidFill>
              </a:rPr>
              <a:t>Varish Makra</a:t>
            </a:r>
            <a:endParaRPr lang="en-US" sz="1600" dirty="0"/>
          </a:p>
        </p:txBody>
      </p:sp>
      <p:sp>
        <p:nvSpPr>
          <p:cNvPr id="13" name="Text 9"/>
          <p:cNvSpPr/>
          <p:nvPr/>
        </p:nvSpPr>
        <p:spPr>
          <a:xfrm>
            <a:off x="658368" y="5715000"/>
            <a:ext cx="2011680" cy="228600"/>
          </a:xfrm>
          <a:prstGeom prst="rect">
            <a:avLst/>
          </a:prstGeom>
          <a:noFill/>
          <a:ln/>
        </p:spPr>
        <p:txBody>
          <a:bodyPr wrap="square" lIns="0" tIns="0" rIns="0" bIns="0" rtlCol="0" anchor="ctr"/>
          <a:lstStyle/>
          <a:p>
            <a:pPr indent="0" marL="0">
              <a:buNone/>
            </a:pPr>
            <a:r>
              <a:rPr lang="en-US" sz="1150" dirty="0">
                <a:solidFill>
                  <a:srgbClr val="BFD3D1"/>
                </a:solidFill>
              </a:rPr>
              <a:t>August 2026</a:t>
            </a:r>
            <a:endParaRPr lang="en-US" sz="1150" dirty="0"/>
          </a:p>
        </p:txBody>
      </p:sp>
      <p:sp>
        <p:nvSpPr>
          <p:cNvPr id="14" name="Text 10"/>
          <p:cNvSpPr/>
          <p:nvPr/>
        </p:nvSpPr>
        <p:spPr>
          <a:xfrm>
            <a:off x="7818120" y="6016752"/>
            <a:ext cx="3200400" cy="320040"/>
          </a:xfrm>
          <a:prstGeom prst="rect">
            <a:avLst/>
          </a:prstGeom>
          <a:noFill/>
          <a:ln/>
        </p:spPr>
        <p:txBody>
          <a:bodyPr wrap="square" lIns="0" tIns="0" rIns="0" bIns="0" rtlCol="0" anchor="ctr"/>
          <a:lstStyle/>
          <a:p>
            <a:pPr algn="ctr" indent="0" marL="0">
              <a:buNone/>
            </a:pPr>
            <a:r>
              <a:rPr lang="en-US" sz="1700" b="1" i="1" dirty="0">
                <a:solidFill>
                  <a:srgbClr val="163A45"/>
                </a:solidFill>
              </a:rPr>
              <a:t>Find it. List it. Love it.</a:t>
            </a:r>
            <a:endParaRPr lang="en-US" sz="1700" dirty="0"/>
          </a:p>
        </p:txBody>
      </p:sp>
      <p:sp>
        <p:nvSpPr>
          <p:cNvPr id="25" name="Slide Number Placeholder 0"/>
          <p:cNvSpPr>
            <a:spLocks noGrp="1"/>
          </p:cNvSpPr>
          <p:nvPr>
            <p:ph type="sldNum" sz="quarter" idx="4294967295"/>
          </p:nvPr>
        </p:nvSpPr>
        <p:spPr>
          <a:xfrm>
            <a:off x="11750040" y="649224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latin typeface="Carlito"/>
                <a:ea typeface="Carlito"/>
                <a:cs typeface="Carlito"/>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40080" y="411480"/>
            <a:ext cx="10698480" cy="438912"/>
          </a:xfrm>
          <a:prstGeom prst="rect">
            <a:avLst/>
          </a:prstGeom>
          <a:noFill/>
          <a:ln/>
        </p:spPr>
        <p:txBody>
          <a:bodyPr wrap="square" lIns="0" tIns="0" rIns="0" bIns="0" rtlCol="0" anchor="ctr"/>
          <a:lstStyle/>
          <a:p>
            <a:pPr indent="0" marL="0">
              <a:buNone/>
            </a:pPr>
            <a:r>
              <a:rPr lang="en-US" sz="2500" b="1" dirty="0">
                <a:solidFill>
                  <a:srgbClr val="163A45"/>
                </a:solidFill>
                <a:latin typeface="Carlito" pitchFamily="34" charset="0"/>
                <a:ea typeface="Carlito" pitchFamily="34" charset="-122"/>
                <a:cs typeface="Carlito" pitchFamily="34" charset="-120"/>
              </a:rPr>
              <a:t>Table of Contents</a:t>
            </a:r>
            <a:endParaRPr lang="en-US" sz="2500" dirty="0"/>
          </a:p>
        </p:txBody>
      </p:sp>
      <p:sp>
        <p:nvSpPr>
          <p:cNvPr id="3" name="Text 1"/>
          <p:cNvSpPr/>
          <p:nvPr/>
        </p:nvSpPr>
        <p:spPr>
          <a:xfrm>
            <a:off x="658368" y="877824"/>
            <a:ext cx="10789920" cy="310896"/>
          </a:xfrm>
          <a:prstGeom prst="rect">
            <a:avLst/>
          </a:prstGeom>
          <a:noFill/>
          <a:ln/>
        </p:spPr>
        <p:txBody>
          <a:bodyPr wrap="square" lIns="0" tIns="0" rIns="0" bIns="0" rtlCol="0" anchor="ctr"/>
          <a:lstStyle/>
          <a:p>
            <a:pPr indent="0" marL="0">
              <a:buNone/>
            </a:pPr>
            <a:r>
              <a:rPr lang="en-US" sz="1250" dirty="0">
                <a:solidFill>
                  <a:srgbClr val="6B7280"/>
                </a:solidFill>
                <a:latin typeface="Carlito" pitchFamily="34" charset="0"/>
                <a:ea typeface="Carlito" pitchFamily="34" charset="-122"/>
                <a:cs typeface="Carlito" pitchFamily="34" charset="-120"/>
              </a:rPr>
              <a:t>Presentation structure required for the Studio 1 PDR</a:t>
            </a:r>
            <a:endParaRPr lang="en-US" sz="1250" dirty="0"/>
          </a:p>
        </p:txBody>
      </p:sp>
      <p:sp>
        <p:nvSpPr>
          <p:cNvPr id="4" name="Shape 2"/>
          <p:cNvSpPr/>
          <p:nvPr/>
        </p:nvSpPr>
        <p:spPr>
          <a:xfrm>
            <a:off x="9674352" y="457200"/>
            <a:ext cx="1810512" cy="347472"/>
          </a:xfrm>
          <a:prstGeom prst="roundRect">
            <a:avLst>
              <a:gd name="adj" fmla="val 15789"/>
            </a:avLst>
          </a:prstGeom>
          <a:solidFill>
            <a:srgbClr val="EEE2CD"/>
          </a:solidFill>
          <a:ln w="12700">
            <a:solidFill>
              <a:srgbClr val="EEE2CD"/>
            </a:solidFill>
            <a:prstDash val="solid"/>
          </a:ln>
        </p:spPr>
      </p:sp>
      <p:sp>
        <p:nvSpPr>
          <p:cNvPr id="5" name="Text 3"/>
          <p:cNvSpPr/>
          <p:nvPr/>
        </p:nvSpPr>
        <p:spPr>
          <a:xfrm>
            <a:off x="9747504" y="548640"/>
            <a:ext cx="1664208" cy="137160"/>
          </a:xfrm>
          <a:prstGeom prst="rect">
            <a:avLst/>
          </a:prstGeom>
          <a:noFill/>
          <a:ln/>
        </p:spPr>
        <p:txBody>
          <a:bodyPr wrap="square" lIns="0" tIns="0" rIns="0" bIns="0" rtlCol="0" anchor="ctr"/>
          <a:lstStyle/>
          <a:p>
            <a:pPr algn="ctr" indent="0" marL="0">
              <a:buNone/>
            </a:pPr>
            <a:r>
              <a:rPr lang="en-US" sz="970" b="1" dirty="0">
                <a:solidFill>
                  <a:srgbClr val="163A45"/>
                </a:solidFill>
              </a:rPr>
              <a:t>Speaker: Prasamsha</a:t>
            </a:r>
            <a:endParaRPr lang="en-US" sz="970" dirty="0"/>
          </a:p>
        </p:txBody>
      </p:sp>
      <p:sp>
        <p:nvSpPr>
          <p:cNvPr id="6" name="Text 4"/>
          <p:cNvSpPr/>
          <p:nvPr/>
        </p:nvSpPr>
        <p:spPr>
          <a:xfrm>
            <a:off x="777240" y="1417320"/>
            <a:ext cx="502920" cy="256032"/>
          </a:xfrm>
          <a:prstGeom prst="rect">
            <a:avLst/>
          </a:prstGeom>
          <a:noFill/>
          <a:ln/>
        </p:spPr>
        <p:txBody>
          <a:bodyPr wrap="square" lIns="0" tIns="0" rIns="0" bIns="0" rtlCol="0" anchor="ctr"/>
          <a:lstStyle/>
          <a:p>
            <a:pPr indent="0" marL="0">
              <a:buNone/>
            </a:pPr>
            <a:r>
              <a:rPr lang="en-US" sz="1500" b="1" dirty="0">
                <a:solidFill>
                  <a:srgbClr val="C96F47"/>
                </a:solidFill>
              </a:rPr>
              <a:t>01</a:t>
            </a:r>
            <a:endParaRPr lang="en-US" sz="1500" dirty="0"/>
          </a:p>
        </p:txBody>
      </p:sp>
      <p:sp>
        <p:nvSpPr>
          <p:cNvPr id="7" name="Text 5"/>
          <p:cNvSpPr/>
          <p:nvPr/>
        </p:nvSpPr>
        <p:spPr>
          <a:xfrm>
            <a:off x="1389888" y="1399032"/>
            <a:ext cx="4206240" cy="292608"/>
          </a:xfrm>
          <a:prstGeom prst="rect">
            <a:avLst/>
          </a:prstGeom>
          <a:noFill/>
          <a:ln/>
        </p:spPr>
        <p:txBody>
          <a:bodyPr wrap="square" lIns="0" tIns="0" rIns="0" bIns="0" rtlCol="0" anchor="ctr"/>
          <a:lstStyle/>
          <a:p>
            <a:pPr indent="0" marL="0">
              <a:buNone/>
            </a:pPr>
            <a:r>
              <a:rPr lang="en-US" sz="1700" b="1" dirty="0">
                <a:solidFill>
                  <a:srgbClr val="1F2937"/>
                </a:solidFill>
              </a:rPr>
              <a:t>Introduction</a:t>
            </a:r>
            <a:endParaRPr lang="en-US" sz="1700" dirty="0"/>
          </a:p>
        </p:txBody>
      </p:sp>
      <p:sp>
        <p:nvSpPr>
          <p:cNvPr id="8" name="Shape 6"/>
          <p:cNvSpPr/>
          <p:nvPr/>
        </p:nvSpPr>
        <p:spPr>
          <a:xfrm>
            <a:off x="1371600" y="1801368"/>
            <a:ext cx="4434840" cy="0"/>
          </a:xfrm>
          <a:prstGeom prst="line">
            <a:avLst/>
          </a:prstGeom>
          <a:noFill/>
          <a:ln w="12700">
            <a:solidFill>
              <a:srgbClr val="D8DEDF"/>
            </a:solidFill>
            <a:prstDash val="solid"/>
          </a:ln>
        </p:spPr>
      </p:sp>
      <p:sp>
        <p:nvSpPr>
          <p:cNvPr id="9" name="Text 7"/>
          <p:cNvSpPr/>
          <p:nvPr/>
        </p:nvSpPr>
        <p:spPr>
          <a:xfrm>
            <a:off x="777240" y="2258568"/>
            <a:ext cx="502920" cy="256032"/>
          </a:xfrm>
          <a:prstGeom prst="rect">
            <a:avLst/>
          </a:prstGeom>
          <a:noFill/>
          <a:ln/>
        </p:spPr>
        <p:txBody>
          <a:bodyPr wrap="square" lIns="0" tIns="0" rIns="0" bIns="0" rtlCol="0" anchor="ctr"/>
          <a:lstStyle/>
          <a:p>
            <a:pPr indent="0" marL="0">
              <a:buNone/>
            </a:pPr>
            <a:r>
              <a:rPr lang="en-US" sz="1500" b="1" dirty="0">
                <a:solidFill>
                  <a:srgbClr val="C96F47"/>
                </a:solidFill>
              </a:rPr>
              <a:t>02</a:t>
            </a:r>
            <a:endParaRPr lang="en-US" sz="1500" dirty="0"/>
          </a:p>
        </p:txBody>
      </p:sp>
      <p:sp>
        <p:nvSpPr>
          <p:cNvPr id="10" name="Text 8"/>
          <p:cNvSpPr/>
          <p:nvPr/>
        </p:nvSpPr>
        <p:spPr>
          <a:xfrm>
            <a:off x="1389888" y="2240280"/>
            <a:ext cx="4206240" cy="292608"/>
          </a:xfrm>
          <a:prstGeom prst="rect">
            <a:avLst/>
          </a:prstGeom>
          <a:noFill/>
          <a:ln/>
        </p:spPr>
        <p:txBody>
          <a:bodyPr wrap="square" lIns="0" tIns="0" rIns="0" bIns="0" rtlCol="0" anchor="ctr"/>
          <a:lstStyle/>
          <a:p>
            <a:pPr indent="0" marL="0">
              <a:buNone/>
            </a:pPr>
            <a:r>
              <a:rPr lang="en-US" sz="1700" b="1" dirty="0">
                <a:solidFill>
                  <a:srgbClr val="1F2937"/>
                </a:solidFill>
              </a:rPr>
              <a:t>Use Case Diagram</a:t>
            </a:r>
            <a:endParaRPr lang="en-US" sz="1700" dirty="0"/>
          </a:p>
        </p:txBody>
      </p:sp>
      <p:sp>
        <p:nvSpPr>
          <p:cNvPr id="11" name="Shape 9"/>
          <p:cNvSpPr/>
          <p:nvPr/>
        </p:nvSpPr>
        <p:spPr>
          <a:xfrm>
            <a:off x="1371600" y="2642616"/>
            <a:ext cx="4434840" cy="0"/>
          </a:xfrm>
          <a:prstGeom prst="line">
            <a:avLst/>
          </a:prstGeom>
          <a:noFill/>
          <a:ln w="12700">
            <a:solidFill>
              <a:srgbClr val="D8DEDF"/>
            </a:solidFill>
            <a:prstDash val="solid"/>
          </a:ln>
        </p:spPr>
      </p:sp>
      <p:sp>
        <p:nvSpPr>
          <p:cNvPr id="12" name="Text 10"/>
          <p:cNvSpPr/>
          <p:nvPr/>
        </p:nvSpPr>
        <p:spPr>
          <a:xfrm>
            <a:off x="777240" y="3099816"/>
            <a:ext cx="502920" cy="256032"/>
          </a:xfrm>
          <a:prstGeom prst="rect">
            <a:avLst/>
          </a:prstGeom>
          <a:noFill/>
          <a:ln/>
        </p:spPr>
        <p:txBody>
          <a:bodyPr wrap="square" lIns="0" tIns="0" rIns="0" bIns="0" rtlCol="0" anchor="ctr"/>
          <a:lstStyle/>
          <a:p>
            <a:pPr indent="0" marL="0">
              <a:buNone/>
            </a:pPr>
            <a:r>
              <a:rPr lang="en-US" sz="1500" b="1" dirty="0">
                <a:solidFill>
                  <a:srgbClr val="C96F47"/>
                </a:solidFill>
              </a:rPr>
              <a:t>03</a:t>
            </a:r>
            <a:endParaRPr lang="en-US" sz="1500" dirty="0"/>
          </a:p>
        </p:txBody>
      </p:sp>
      <p:sp>
        <p:nvSpPr>
          <p:cNvPr id="13" name="Text 11"/>
          <p:cNvSpPr/>
          <p:nvPr/>
        </p:nvSpPr>
        <p:spPr>
          <a:xfrm>
            <a:off x="1389888" y="3081528"/>
            <a:ext cx="4206240" cy="292608"/>
          </a:xfrm>
          <a:prstGeom prst="rect">
            <a:avLst/>
          </a:prstGeom>
          <a:noFill/>
          <a:ln/>
        </p:spPr>
        <p:txBody>
          <a:bodyPr wrap="square" lIns="0" tIns="0" rIns="0" bIns="0" rtlCol="0" anchor="ctr"/>
          <a:lstStyle/>
          <a:p>
            <a:pPr indent="0" marL="0">
              <a:buNone/>
            </a:pPr>
            <a:r>
              <a:rPr lang="en-US" sz="1700" b="1" dirty="0">
                <a:solidFill>
                  <a:srgbClr val="1F2937"/>
                </a:solidFill>
              </a:rPr>
              <a:t>User Stories</a:t>
            </a:r>
            <a:endParaRPr lang="en-US" sz="1700" dirty="0"/>
          </a:p>
        </p:txBody>
      </p:sp>
      <p:sp>
        <p:nvSpPr>
          <p:cNvPr id="14" name="Shape 12"/>
          <p:cNvSpPr/>
          <p:nvPr/>
        </p:nvSpPr>
        <p:spPr>
          <a:xfrm>
            <a:off x="1371600" y="3483864"/>
            <a:ext cx="4434840" cy="0"/>
          </a:xfrm>
          <a:prstGeom prst="line">
            <a:avLst/>
          </a:prstGeom>
          <a:noFill/>
          <a:ln w="12700">
            <a:solidFill>
              <a:srgbClr val="D8DEDF"/>
            </a:solidFill>
            <a:prstDash val="solid"/>
          </a:ln>
        </p:spPr>
      </p:sp>
      <p:sp>
        <p:nvSpPr>
          <p:cNvPr id="15" name="Text 13"/>
          <p:cNvSpPr/>
          <p:nvPr/>
        </p:nvSpPr>
        <p:spPr>
          <a:xfrm>
            <a:off x="777240" y="3941064"/>
            <a:ext cx="502920" cy="256032"/>
          </a:xfrm>
          <a:prstGeom prst="rect">
            <a:avLst/>
          </a:prstGeom>
          <a:noFill/>
          <a:ln/>
        </p:spPr>
        <p:txBody>
          <a:bodyPr wrap="square" lIns="0" tIns="0" rIns="0" bIns="0" rtlCol="0" anchor="ctr"/>
          <a:lstStyle/>
          <a:p>
            <a:pPr indent="0" marL="0">
              <a:buNone/>
            </a:pPr>
            <a:r>
              <a:rPr lang="en-US" sz="1500" b="1" dirty="0">
                <a:solidFill>
                  <a:srgbClr val="C96F47"/>
                </a:solidFill>
              </a:rPr>
              <a:t>04</a:t>
            </a:r>
            <a:endParaRPr lang="en-US" sz="1500" dirty="0"/>
          </a:p>
        </p:txBody>
      </p:sp>
      <p:sp>
        <p:nvSpPr>
          <p:cNvPr id="16" name="Text 14"/>
          <p:cNvSpPr/>
          <p:nvPr/>
        </p:nvSpPr>
        <p:spPr>
          <a:xfrm>
            <a:off x="1389888" y="3922776"/>
            <a:ext cx="4206240" cy="292608"/>
          </a:xfrm>
          <a:prstGeom prst="rect">
            <a:avLst/>
          </a:prstGeom>
          <a:noFill/>
          <a:ln/>
        </p:spPr>
        <p:txBody>
          <a:bodyPr wrap="square" lIns="0" tIns="0" rIns="0" bIns="0" rtlCol="0" anchor="ctr"/>
          <a:lstStyle/>
          <a:p>
            <a:pPr indent="0" marL="0">
              <a:buNone/>
            </a:pPr>
            <a:r>
              <a:rPr lang="en-US" sz="1700" b="1" dirty="0">
                <a:solidFill>
                  <a:srgbClr val="1F2937"/>
                </a:solidFill>
              </a:rPr>
              <a:t>Agile Practice</a:t>
            </a:r>
            <a:endParaRPr lang="en-US" sz="1700" dirty="0"/>
          </a:p>
        </p:txBody>
      </p:sp>
      <p:sp>
        <p:nvSpPr>
          <p:cNvPr id="17" name="Shape 15"/>
          <p:cNvSpPr/>
          <p:nvPr/>
        </p:nvSpPr>
        <p:spPr>
          <a:xfrm>
            <a:off x="1371600" y="4325112"/>
            <a:ext cx="4434840" cy="0"/>
          </a:xfrm>
          <a:prstGeom prst="line">
            <a:avLst/>
          </a:prstGeom>
          <a:noFill/>
          <a:ln w="12700">
            <a:solidFill>
              <a:srgbClr val="D8DEDF"/>
            </a:solidFill>
            <a:prstDash val="solid"/>
          </a:ln>
        </p:spPr>
      </p:sp>
      <p:sp>
        <p:nvSpPr>
          <p:cNvPr id="18" name="Text 16"/>
          <p:cNvSpPr/>
          <p:nvPr/>
        </p:nvSpPr>
        <p:spPr>
          <a:xfrm>
            <a:off x="777240" y="4782312"/>
            <a:ext cx="502920" cy="256032"/>
          </a:xfrm>
          <a:prstGeom prst="rect">
            <a:avLst/>
          </a:prstGeom>
          <a:noFill/>
          <a:ln/>
        </p:spPr>
        <p:txBody>
          <a:bodyPr wrap="square" lIns="0" tIns="0" rIns="0" bIns="0" rtlCol="0" anchor="ctr"/>
          <a:lstStyle/>
          <a:p>
            <a:pPr indent="0" marL="0">
              <a:buNone/>
            </a:pPr>
            <a:r>
              <a:rPr lang="en-US" sz="1500" b="1" dirty="0">
                <a:solidFill>
                  <a:srgbClr val="C96F47"/>
                </a:solidFill>
              </a:rPr>
              <a:t>05</a:t>
            </a:r>
            <a:endParaRPr lang="en-US" sz="1500" dirty="0"/>
          </a:p>
        </p:txBody>
      </p:sp>
      <p:sp>
        <p:nvSpPr>
          <p:cNvPr id="19" name="Text 17"/>
          <p:cNvSpPr/>
          <p:nvPr/>
        </p:nvSpPr>
        <p:spPr>
          <a:xfrm>
            <a:off x="1389888" y="4764024"/>
            <a:ext cx="4206240" cy="292608"/>
          </a:xfrm>
          <a:prstGeom prst="rect">
            <a:avLst/>
          </a:prstGeom>
          <a:noFill/>
          <a:ln/>
        </p:spPr>
        <p:txBody>
          <a:bodyPr wrap="square" lIns="0" tIns="0" rIns="0" bIns="0" rtlCol="0" anchor="ctr"/>
          <a:lstStyle/>
          <a:p>
            <a:pPr indent="0" marL="0">
              <a:buNone/>
            </a:pPr>
            <a:r>
              <a:rPr lang="en-US" sz="1700" b="1" dirty="0">
                <a:solidFill>
                  <a:srgbClr val="1F2937"/>
                </a:solidFill>
              </a:rPr>
              <a:t>ER Diagram</a:t>
            </a:r>
            <a:endParaRPr lang="en-US" sz="1700" dirty="0"/>
          </a:p>
        </p:txBody>
      </p:sp>
      <p:sp>
        <p:nvSpPr>
          <p:cNvPr id="20" name="Shape 18"/>
          <p:cNvSpPr/>
          <p:nvPr/>
        </p:nvSpPr>
        <p:spPr>
          <a:xfrm>
            <a:off x="1371600" y="5166360"/>
            <a:ext cx="4434840" cy="0"/>
          </a:xfrm>
          <a:prstGeom prst="line">
            <a:avLst/>
          </a:prstGeom>
          <a:noFill/>
          <a:ln w="12700">
            <a:solidFill>
              <a:srgbClr val="D8DEDF"/>
            </a:solidFill>
            <a:prstDash val="solid"/>
          </a:ln>
        </p:spPr>
      </p:sp>
      <p:sp>
        <p:nvSpPr>
          <p:cNvPr id="21" name="Text 19"/>
          <p:cNvSpPr/>
          <p:nvPr/>
        </p:nvSpPr>
        <p:spPr>
          <a:xfrm>
            <a:off x="6400800" y="1417320"/>
            <a:ext cx="502920" cy="256032"/>
          </a:xfrm>
          <a:prstGeom prst="rect">
            <a:avLst/>
          </a:prstGeom>
          <a:noFill/>
          <a:ln/>
        </p:spPr>
        <p:txBody>
          <a:bodyPr wrap="square" lIns="0" tIns="0" rIns="0" bIns="0" rtlCol="0" anchor="ctr"/>
          <a:lstStyle/>
          <a:p>
            <a:pPr indent="0" marL="0">
              <a:buNone/>
            </a:pPr>
            <a:r>
              <a:rPr lang="en-US" sz="1500" b="1" dirty="0">
                <a:solidFill>
                  <a:srgbClr val="C96F47"/>
                </a:solidFill>
              </a:rPr>
              <a:t>06</a:t>
            </a:r>
            <a:endParaRPr lang="en-US" sz="1500" dirty="0"/>
          </a:p>
        </p:txBody>
      </p:sp>
      <p:sp>
        <p:nvSpPr>
          <p:cNvPr id="22" name="Text 20"/>
          <p:cNvSpPr/>
          <p:nvPr/>
        </p:nvSpPr>
        <p:spPr>
          <a:xfrm>
            <a:off x="7013448" y="1399032"/>
            <a:ext cx="4206240" cy="292608"/>
          </a:xfrm>
          <a:prstGeom prst="rect">
            <a:avLst/>
          </a:prstGeom>
          <a:noFill/>
          <a:ln/>
        </p:spPr>
        <p:txBody>
          <a:bodyPr wrap="square" lIns="0" tIns="0" rIns="0" bIns="0" rtlCol="0" anchor="ctr"/>
          <a:lstStyle/>
          <a:p>
            <a:pPr indent="0" marL="0">
              <a:buNone/>
            </a:pPr>
            <a:r>
              <a:rPr lang="en-US" sz="1700" b="1" dirty="0">
                <a:solidFill>
                  <a:srgbClr val="1F2937"/>
                </a:solidFill>
              </a:rPr>
              <a:t>Data Dictionary</a:t>
            </a:r>
            <a:endParaRPr lang="en-US" sz="1700" dirty="0"/>
          </a:p>
        </p:txBody>
      </p:sp>
      <p:sp>
        <p:nvSpPr>
          <p:cNvPr id="23" name="Shape 21"/>
          <p:cNvSpPr/>
          <p:nvPr/>
        </p:nvSpPr>
        <p:spPr>
          <a:xfrm>
            <a:off x="6995160" y="1801368"/>
            <a:ext cx="4434840" cy="0"/>
          </a:xfrm>
          <a:prstGeom prst="line">
            <a:avLst/>
          </a:prstGeom>
          <a:noFill/>
          <a:ln w="12700">
            <a:solidFill>
              <a:srgbClr val="D8DEDF"/>
            </a:solidFill>
            <a:prstDash val="solid"/>
          </a:ln>
        </p:spPr>
      </p:sp>
      <p:sp>
        <p:nvSpPr>
          <p:cNvPr id="24" name="Text 22"/>
          <p:cNvSpPr/>
          <p:nvPr/>
        </p:nvSpPr>
        <p:spPr>
          <a:xfrm>
            <a:off x="6400800" y="2258568"/>
            <a:ext cx="502920" cy="256032"/>
          </a:xfrm>
          <a:prstGeom prst="rect">
            <a:avLst/>
          </a:prstGeom>
          <a:noFill/>
          <a:ln/>
        </p:spPr>
        <p:txBody>
          <a:bodyPr wrap="square" lIns="0" tIns="0" rIns="0" bIns="0" rtlCol="0" anchor="ctr"/>
          <a:lstStyle/>
          <a:p>
            <a:pPr indent="0" marL="0">
              <a:buNone/>
            </a:pPr>
            <a:r>
              <a:rPr lang="en-US" sz="1500" b="1" dirty="0">
                <a:solidFill>
                  <a:srgbClr val="C96F47"/>
                </a:solidFill>
              </a:rPr>
              <a:t>07</a:t>
            </a:r>
            <a:endParaRPr lang="en-US" sz="1500" dirty="0"/>
          </a:p>
        </p:txBody>
      </p:sp>
      <p:sp>
        <p:nvSpPr>
          <p:cNvPr id="25" name="Text 23"/>
          <p:cNvSpPr/>
          <p:nvPr/>
        </p:nvSpPr>
        <p:spPr>
          <a:xfrm>
            <a:off x="7013448" y="2240280"/>
            <a:ext cx="4206240" cy="292608"/>
          </a:xfrm>
          <a:prstGeom prst="rect">
            <a:avLst/>
          </a:prstGeom>
          <a:noFill/>
          <a:ln/>
        </p:spPr>
        <p:txBody>
          <a:bodyPr wrap="square" lIns="0" tIns="0" rIns="0" bIns="0" rtlCol="0" anchor="ctr"/>
          <a:lstStyle/>
          <a:p>
            <a:pPr indent="0" marL="0">
              <a:buNone/>
            </a:pPr>
            <a:r>
              <a:rPr lang="en-US" sz="1700" b="1" dirty="0">
                <a:solidFill>
                  <a:srgbClr val="1F2937"/>
                </a:solidFill>
              </a:rPr>
              <a:t>GitHub Usage</a:t>
            </a:r>
            <a:endParaRPr lang="en-US" sz="1700" dirty="0"/>
          </a:p>
        </p:txBody>
      </p:sp>
      <p:sp>
        <p:nvSpPr>
          <p:cNvPr id="26" name="Shape 24"/>
          <p:cNvSpPr/>
          <p:nvPr/>
        </p:nvSpPr>
        <p:spPr>
          <a:xfrm>
            <a:off x="6995160" y="2642616"/>
            <a:ext cx="4434840" cy="0"/>
          </a:xfrm>
          <a:prstGeom prst="line">
            <a:avLst/>
          </a:prstGeom>
          <a:noFill/>
          <a:ln w="12700">
            <a:solidFill>
              <a:srgbClr val="D8DEDF"/>
            </a:solidFill>
            <a:prstDash val="solid"/>
          </a:ln>
        </p:spPr>
      </p:sp>
      <p:sp>
        <p:nvSpPr>
          <p:cNvPr id="27" name="Text 25"/>
          <p:cNvSpPr/>
          <p:nvPr/>
        </p:nvSpPr>
        <p:spPr>
          <a:xfrm>
            <a:off x="6400800" y="3099816"/>
            <a:ext cx="502920" cy="256032"/>
          </a:xfrm>
          <a:prstGeom prst="rect">
            <a:avLst/>
          </a:prstGeom>
          <a:noFill/>
          <a:ln/>
        </p:spPr>
        <p:txBody>
          <a:bodyPr wrap="square" lIns="0" tIns="0" rIns="0" bIns="0" rtlCol="0" anchor="ctr"/>
          <a:lstStyle/>
          <a:p>
            <a:pPr indent="0" marL="0">
              <a:buNone/>
            </a:pPr>
            <a:r>
              <a:rPr lang="en-US" sz="1500" b="1" dirty="0">
                <a:solidFill>
                  <a:srgbClr val="C96F47"/>
                </a:solidFill>
              </a:rPr>
              <a:t>08</a:t>
            </a:r>
            <a:endParaRPr lang="en-US" sz="1500" dirty="0"/>
          </a:p>
        </p:txBody>
      </p:sp>
      <p:sp>
        <p:nvSpPr>
          <p:cNvPr id="28" name="Text 26"/>
          <p:cNvSpPr/>
          <p:nvPr/>
        </p:nvSpPr>
        <p:spPr>
          <a:xfrm>
            <a:off x="7013448" y="3081528"/>
            <a:ext cx="4206240" cy="292608"/>
          </a:xfrm>
          <a:prstGeom prst="rect">
            <a:avLst/>
          </a:prstGeom>
          <a:noFill/>
          <a:ln/>
        </p:spPr>
        <p:txBody>
          <a:bodyPr wrap="square" lIns="0" tIns="0" rIns="0" bIns="0" rtlCol="0" anchor="ctr"/>
          <a:lstStyle/>
          <a:p>
            <a:pPr indent="0" marL="0">
              <a:buNone/>
            </a:pPr>
            <a:r>
              <a:rPr lang="en-US" sz="1700" b="1" dirty="0">
                <a:solidFill>
                  <a:srgbClr val="1F2937"/>
                </a:solidFill>
              </a:rPr>
              <a:t>Challenges</a:t>
            </a:r>
            <a:endParaRPr lang="en-US" sz="1700" dirty="0"/>
          </a:p>
        </p:txBody>
      </p:sp>
      <p:sp>
        <p:nvSpPr>
          <p:cNvPr id="29" name="Shape 27"/>
          <p:cNvSpPr/>
          <p:nvPr/>
        </p:nvSpPr>
        <p:spPr>
          <a:xfrm>
            <a:off x="6995160" y="3483864"/>
            <a:ext cx="4434840" cy="0"/>
          </a:xfrm>
          <a:prstGeom prst="line">
            <a:avLst/>
          </a:prstGeom>
          <a:noFill/>
          <a:ln w="12700">
            <a:solidFill>
              <a:srgbClr val="D8DEDF"/>
            </a:solidFill>
            <a:prstDash val="solid"/>
          </a:ln>
        </p:spPr>
      </p:sp>
      <p:sp>
        <p:nvSpPr>
          <p:cNvPr id="30" name="Text 28"/>
          <p:cNvSpPr/>
          <p:nvPr/>
        </p:nvSpPr>
        <p:spPr>
          <a:xfrm>
            <a:off x="6400800" y="3941064"/>
            <a:ext cx="502920" cy="256032"/>
          </a:xfrm>
          <a:prstGeom prst="rect">
            <a:avLst/>
          </a:prstGeom>
          <a:noFill/>
          <a:ln/>
        </p:spPr>
        <p:txBody>
          <a:bodyPr wrap="square" lIns="0" tIns="0" rIns="0" bIns="0" rtlCol="0" anchor="ctr"/>
          <a:lstStyle/>
          <a:p>
            <a:pPr indent="0" marL="0">
              <a:buNone/>
            </a:pPr>
            <a:r>
              <a:rPr lang="en-US" sz="1500" b="1" dirty="0">
                <a:solidFill>
                  <a:srgbClr val="C96F47"/>
                </a:solidFill>
              </a:rPr>
              <a:t>09</a:t>
            </a:r>
            <a:endParaRPr lang="en-US" sz="1500" dirty="0"/>
          </a:p>
        </p:txBody>
      </p:sp>
      <p:sp>
        <p:nvSpPr>
          <p:cNvPr id="31" name="Text 29"/>
          <p:cNvSpPr/>
          <p:nvPr/>
        </p:nvSpPr>
        <p:spPr>
          <a:xfrm>
            <a:off x="7013448" y="3922776"/>
            <a:ext cx="4206240" cy="292608"/>
          </a:xfrm>
          <a:prstGeom prst="rect">
            <a:avLst/>
          </a:prstGeom>
          <a:noFill/>
          <a:ln/>
        </p:spPr>
        <p:txBody>
          <a:bodyPr wrap="square" lIns="0" tIns="0" rIns="0" bIns="0" rtlCol="0" anchor="ctr"/>
          <a:lstStyle/>
          <a:p>
            <a:pPr indent="0" marL="0">
              <a:buNone/>
            </a:pPr>
            <a:r>
              <a:rPr lang="en-US" sz="1700" b="1" dirty="0">
                <a:solidFill>
                  <a:srgbClr val="1F2937"/>
                </a:solidFill>
              </a:rPr>
              <a:t>Conclusion</a:t>
            </a:r>
            <a:endParaRPr lang="en-US" sz="1700" dirty="0"/>
          </a:p>
        </p:txBody>
      </p:sp>
      <p:sp>
        <p:nvSpPr>
          <p:cNvPr id="32" name="Shape 30"/>
          <p:cNvSpPr/>
          <p:nvPr/>
        </p:nvSpPr>
        <p:spPr>
          <a:xfrm>
            <a:off x="6995160" y="4325112"/>
            <a:ext cx="4434840" cy="0"/>
          </a:xfrm>
          <a:prstGeom prst="line">
            <a:avLst/>
          </a:prstGeom>
          <a:noFill/>
          <a:ln w="12700">
            <a:solidFill>
              <a:srgbClr val="D8DEDF"/>
            </a:solidFill>
            <a:prstDash val="solid"/>
          </a:ln>
        </p:spPr>
      </p:sp>
      <p:sp>
        <p:nvSpPr>
          <p:cNvPr id="33" name="Text 31"/>
          <p:cNvSpPr/>
          <p:nvPr/>
        </p:nvSpPr>
        <p:spPr>
          <a:xfrm>
            <a:off x="6400800" y="4782312"/>
            <a:ext cx="502920" cy="256032"/>
          </a:xfrm>
          <a:prstGeom prst="rect">
            <a:avLst/>
          </a:prstGeom>
          <a:noFill/>
          <a:ln/>
        </p:spPr>
        <p:txBody>
          <a:bodyPr wrap="square" lIns="0" tIns="0" rIns="0" bIns="0" rtlCol="0" anchor="ctr"/>
          <a:lstStyle/>
          <a:p>
            <a:pPr indent="0" marL="0">
              <a:buNone/>
            </a:pPr>
            <a:r>
              <a:rPr lang="en-US" sz="1500" b="1" dirty="0">
                <a:solidFill>
                  <a:srgbClr val="C96F47"/>
                </a:solidFill>
              </a:rPr>
              <a:t>10</a:t>
            </a:r>
            <a:endParaRPr lang="en-US" sz="1500" dirty="0"/>
          </a:p>
        </p:txBody>
      </p:sp>
      <p:sp>
        <p:nvSpPr>
          <p:cNvPr id="34" name="Text 32"/>
          <p:cNvSpPr/>
          <p:nvPr/>
        </p:nvSpPr>
        <p:spPr>
          <a:xfrm>
            <a:off x="7013448" y="4764024"/>
            <a:ext cx="4206240" cy="292608"/>
          </a:xfrm>
          <a:prstGeom prst="rect">
            <a:avLst/>
          </a:prstGeom>
          <a:noFill/>
          <a:ln/>
        </p:spPr>
        <p:txBody>
          <a:bodyPr wrap="square" lIns="0" tIns="0" rIns="0" bIns="0" rtlCol="0" anchor="ctr"/>
          <a:lstStyle/>
          <a:p>
            <a:pPr indent="0" marL="0">
              <a:buNone/>
            </a:pPr>
            <a:r>
              <a:rPr lang="en-US" sz="1700" b="1" dirty="0">
                <a:solidFill>
                  <a:srgbClr val="1F2937"/>
                </a:solidFill>
              </a:rPr>
              <a:t>Q &amp; A</a:t>
            </a:r>
            <a:endParaRPr lang="en-US" sz="1700" dirty="0"/>
          </a:p>
        </p:txBody>
      </p:sp>
      <p:sp>
        <p:nvSpPr>
          <p:cNvPr id="35" name="Shape 33"/>
          <p:cNvSpPr/>
          <p:nvPr/>
        </p:nvSpPr>
        <p:spPr>
          <a:xfrm>
            <a:off x="6995160" y="5166360"/>
            <a:ext cx="4434840" cy="0"/>
          </a:xfrm>
          <a:prstGeom prst="line">
            <a:avLst/>
          </a:prstGeom>
          <a:noFill/>
          <a:ln w="12700">
            <a:solidFill>
              <a:srgbClr val="D8DEDF"/>
            </a:solidFill>
            <a:prstDash val="solid"/>
          </a:ln>
        </p:spPr>
      </p:sp>
      <p:sp>
        <p:nvSpPr>
          <p:cNvPr id="25" name="Slide Number Placeholder 0"/>
          <p:cNvSpPr>
            <a:spLocks noGrp="1"/>
          </p:cNvSpPr>
          <p:nvPr>
            <p:ph type="sldNum" sz="quarter" idx="4294967295"/>
          </p:nvPr>
        </p:nvSpPr>
        <p:spPr>
          <a:xfrm>
            <a:off x="11750040" y="649224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latin typeface="Carlito"/>
                <a:ea typeface="Carlito"/>
                <a:cs typeface="Carlito"/>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40080" y="411480"/>
            <a:ext cx="10698480" cy="438912"/>
          </a:xfrm>
          <a:prstGeom prst="rect">
            <a:avLst/>
          </a:prstGeom>
          <a:noFill/>
          <a:ln/>
        </p:spPr>
        <p:txBody>
          <a:bodyPr wrap="square" lIns="0" tIns="0" rIns="0" bIns="0" rtlCol="0" anchor="ctr"/>
          <a:lstStyle/>
          <a:p>
            <a:pPr indent="0" marL="0">
              <a:buNone/>
            </a:pPr>
            <a:r>
              <a:rPr lang="en-US" sz="2500" b="1" dirty="0">
                <a:solidFill>
                  <a:srgbClr val="163A45"/>
                </a:solidFill>
                <a:latin typeface="Carlito" pitchFamily="34" charset="0"/>
                <a:ea typeface="Carlito" pitchFamily="34" charset="-122"/>
                <a:cs typeface="Carlito" pitchFamily="34" charset="-120"/>
              </a:rPr>
              <a:t>Introduction</a:t>
            </a:r>
            <a:endParaRPr lang="en-US" sz="2500" dirty="0"/>
          </a:p>
        </p:txBody>
      </p:sp>
      <p:sp>
        <p:nvSpPr>
          <p:cNvPr id="3" name="Text 1"/>
          <p:cNvSpPr/>
          <p:nvPr/>
        </p:nvSpPr>
        <p:spPr>
          <a:xfrm>
            <a:off x="658368" y="877824"/>
            <a:ext cx="10789920" cy="310896"/>
          </a:xfrm>
          <a:prstGeom prst="rect">
            <a:avLst/>
          </a:prstGeom>
          <a:noFill/>
          <a:ln/>
        </p:spPr>
        <p:txBody>
          <a:bodyPr wrap="square" lIns="0" tIns="0" rIns="0" bIns="0" rtlCol="0" anchor="ctr"/>
          <a:lstStyle/>
          <a:p>
            <a:pPr indent="0" marL="0">
              <a:buNone/>
            </a:pPr>
            <a:r>
              <a:rPr lang="en-US" sz="1250" dirty="0">
                <a:solidFill>
                  <a:srgbClr val="6B7280"/>
                </a:solidFill>
                <a:latin typeface="Carlito" pitchFamily="34" charset="0"/>
                <a:ea typeface="Carlito" pitchFamily="34" charset="-122"/>
                <a:cs typeface="Carlito" pitchFamily="34" charset="-120"/>
              </a:rPr>
              <a:t>Why NestUp exists and what problem it solves</a:t>
            </a:r>
            <a:endParaRPr lang="en-US" sz="1250" dirty="0"/>
          </a:p>
        </p:txBody>
      </p:sp>
      <p:sp>
        <p:nvSpPr>
          <p:cNvPr id="4" name="Shape 2"/>
          <p:cNvSpPr/>
          <p:nvPr/>
        </p:nvSpPr>
        <p:spPr>
          <a:xfrm>
            <a:off x="9674352" y="457200"/>
            <a:ext cx="1810512" cy="347472"/>
          </a:xfrm>
          <a:prstGeom prst="roundRect">
            <a:avLst>
              <a:gd name="adj" fmla="val 15789"/>
            </a:avLst>
          </a:prstGeom>
          <a:solidFill>
            <a:srgbClr val="EEE2CD"/>
          </a:solidFill>
          <a:ln w="12700">
            <a:solidFill>
              <a:srgbClr val="EEE2CD"/>
            </a:solidFill>
            <a:prstDash val="solid"/>
          </a:ln>
        </p:spPr>
      </p:sp>
      <p:sp>
        <p:nvSpPr>
          <p:cNvPr id="5" name="Text 3"/>
          <p:cNvSpPr/>
          <p:nvPr/>
        </p:nvSpPr>
        <p:spPr>
          <a:xfrm>
            <a:off x="9747504" y="548640"/>
            <a:ext cx="1664208" cy="137160"/>
          </a:xfrm>
          <a:prstGeom prst="rect">
            <a:avLst/>
          </a:prstGeom>
          <a:noFill/>
          <a:ln/>
        </p:spPr>
        <p:txBody>
          <a:bodyPr wrap="square" lIns="0" tIns="0" rIns="0" bIns="0" rtlCol="0" anchor="ctr"/>
          <a:lstStyle/>
          <a:p>
            <a:pPr algn="ctr" indent="0" marL="0">
              <a:buNone/>
            </a:pPr>
            <a:r>
              <a:rPr lang="en-US" sz="970" b="1" dirty="0">
                <a:solidFill>
                  <a:srgbClr val="163A45"/>
                </a:solidFill>
              </a:rPr>
              <a:t>Speaker: Prasamsha</a:t>
            </a:r>
            <a:endParaRPr lang="en-US" sz="970" dirty="0"/>
          </a:p>
        </p:txBody>
      </p:sp>
      <p:sp>
        <p:nvSpPr>
          <p:cNvPr id="6" name="Shape 4"/>
          <p:cNvSpPr/>
          <p:nvPr/>
        </p:nvSpPr>
        <p:spPr>
          <a:xfrm>
            <a:off x="640080" y="1417320"/>
            <a:ext cx="4892040" cy="4434840"/>
          </a:xfrm>
          <a:prstGeom prst="roundRect">
            <a:avLst>
              <a:gd name="adj" fmla="val 2062"/>
            </a:avLst>
          </a:prstGeom>
          <a:solidFill>
            <a:srgbClr val="163A45"/>
          </a:solidFill>
          <a:ln w="12700">
            <a:solidFill>
              <a:srgbClr val="163A45"/>
            </a:solidFill>
            <a:prstDash val="solid"/>
          </a:ln>
        </p:spPr>
      </p:sp>
      <p:sp>
        <p:nvSpPr>
          <p:cNvPr id="7" name="Text 5"/>
          <p:cNvSpPr/>
          <p:nvPr/>
        </p:nvSpPr>
        <p:spPr>
          <a:xfrm>
            <a:off x="1005840" y="1783080"/>
            <a:ext cx="2286000" cy="320040"/>
          </a:xfrm>
          <a:prstGeom prst="rect">
            <a:avLst/>
          </a:prstGeom>
          <a:noFill/>
          <a:ln/>
        </p:spPr>
        <p:txBody>
          <a:bodyPr wrap="square" lIns="0" tIns="0" rIns="0" bIns="0" rtlCol="0" anchor="ctr"/>
          <a:lstStyle/>
          <a:p>
            <a:pPr indent="0" marL="0">
              <a:buNone/>
            </a:pPr>
            <a:r>
              <a:rPr lang="en-US" sz="2100" b="1" dirty="0">
                <a:solidFill>
                  <a:srgbClr val="FFFFFF"/>
                </a:solidFill>
              </a:rPr>
              <a:t>The problem</a:t>
            </a:r>
            <a:endParaRPr lang="en-US" sz="2100" dirty="0"/>
          </a:p>
        </p:txBody>
      </p:sp>
      <p:sp>
        <p:nvSpPr>
          <p:cNvPr id="8" name="Text 6"/>
          <p:cNvSpPr/>
          <p:nvPr/>
        </p:nvSpPr>
        <p:spPr>
          <a:xfrm>
            <a:off x="1005840" y="2331720"/>
            <a:ext cx="4069080" cy="1234440"/>
          </a:xfrm>
          <a:prstGeom prst="rect">
            <a:avLst/>
          </a:prstGeom>
          <a:noFill/>
          <a:ln/>
        </p:spPr>
        <p:txBody>
          <a:bodyPr wrap="square" lIns="0" tIns="0" rIns="0" bIns="0" rtlCol="0" anchor="ctr">
            <a:normAutofit/>
          </a:bodyPr>
          <a:lstStyle/>
          <a:p>
            <a:pPr indent="0" marL="0">
              <a:buNone/>
            </a:pPr>
            <a:r>
              <a:rPr lang="en-US" sz="1700" dirty="0">
                <a:solidFill>
                  <a:srgbClr val="E6EFEF"/>
                </a:solidFill>
              </a:rPr>
              <a:t>Small agencies often keep listings, buyer details, viewing bookings and offers in separate places — spreadsheets, diaries, texts and notes.</a:t>
            </a:r>
            <a:endParaRPr lang="en-US" sz="1700" dirty="0"/>
          </a:p>
        </p:txBody>
      </p:sp>
      <p:sp>
        <p:nvSpPr>
          <p:cNvPr id="9" name="Text 7"/>
          <p:cNvSpPr/>
          <p:nvPr/>
        </p:nvSpPr>
        <p:spPr>
          <a:xfrm>
            <a:off x="1005840" y="3886200"/>
            <a:ext cx="4069080" cy="1143000"/>
          </a:xfrm>
          <a:prstGeom prst="rect">
            <a:avLst/>
          </a:prstGeom>
          <a:noFill/>
          <a:ln/>
        </p:spPr>
        <p:txBody>
          <a:bodyPr wrap="square" lIns="0" tIns="0" rIns="0" bIns="0" rtlCol="0" anchor="ctr">
            <a:normAutofit/>
          </a:bodyPr>
          <a:lstStyle/>
          <a:p>
            <a:pPr indent="0" marL="0">
              <a:buNone/>
            </a:pPr>
            <a:r>
              <a:rPr lang="en-US" sz="1700" b="1" dirty="0">
                <a:solidFill>
                  <a:srgbClr val="FFFFFF"/>
                </a:solidFill>
              </a:rPr>
              <a:t>NestUp brings these records into one relational database so agents can find a client or property history quickly and keep information consistent.</a:t>
            </a:r>
            <a:endParaRPr lang="en-US" sz="1700" dirty="0"/>
          </a:p>
        </p:txBody>
      </p:sp>
      <p:sp>
        <p:nvSpPr>
          <p:cNvPr id="10" name="Shape 8"/>
          <p:cNvSpPr/>
          <p:nvPr/>
        </p:nvSpPr>
        <p:spPr>
          <a:xfrm>
            <a:off x="5806440" y="1417320"/>
            <a:ext cx="2651760" cy="1828800"/>
          </a:xfrm>
          <a:prstGeom prst="roundRect">
            <a:avLst>
              <a:gd name="adj" fmla="val 4000"/>
            </a:avLst>
          </a:prstGeom>
          <a:solidFill>
            <a:srgbClr val="FFFFFF"/>
          </a:solidFill>
          <a:ln w="12700">
            <a:solidFill>
              <a:srgbClr val="D8DEDF"/>
            </a:solidFill>
            <a:prstDash val="solid"/>
          </a:ln>
          <a:effectLst>
            <a:outerShdw sx="100000" sy="100000" kx="0" ky="0" algn="bl" rotWithShape="0" blurRad="19050" dist="50800" dir="2700000">
              <a:srgbClr val="C5CBCB">
                <a:alpha val="18000"/>
              </a:srgbClr>
            </a:outerShdw>
          </a:effectLst>
        </p:spPr>
      </p:sp>
      <p:sp>
        <p:nvSpPr>
          <p:cNvPr id="11" name="Shape 9"/>
          <p:cNvSpPr/>
          <p:nvPr/>
        </p:nvSpPr>
        <p:spPr>
          <a:xfrm>
            <a:off x="6007608" y="1618488"/>
            <a:ext cx="512064" cy="512064"/>
          </a:xfrm>
          <a:prstGeom prst="ellipse">
            <a:avLst/>
          </a:prstGeom>
          <a:solidFill>
            <a:srgbClr val="1F5A5A">
              <a:alpha val="12000"/>
            </a:srgbClr>
          </a:solidFill>
          <a:ln w="12700">
            <a:solidFill>
              <a:srgbClr val="1F5A5A">
                <a:alpha val="0"/>
              </a:srgbClr>
            </a:solidFill>
            <a:prstDash val="solid"/>
          </a:ln>
        </p:spPr>
      </p:sp>
      <p:pic>
        <p:nvPicPr>
          <p:cNvPr id="12"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126480" y="1737360"/>
            <a:ext cx="274320" cy="274320"/>
          </a:xfrm>
          <a:prstGeom prst="rect">
            <a:avLst/>
          </a:prstGeom>
        </p:spPr>
      </p:pic>
      <p:sp>
        <p:nvSpPr>
          <p:cNvPr id="13" name="Text 10"/>
          <p:cNvSpPr/>
          <p:nvPr/>
        </p:nvSpPr>
        <p:spPr>
          <a:xfrm>
            <a:off x="6647688" y="1645920"/>
            <a:ext cx="1600200" cy="256032"/>
          </a:xfrm>
          <a:prstGeom prst="rect">
            <a:avLst/>
          </a:prstGeom>
          <a:noFill/>
          <a:ln/>
        </p:spPr>
        <p:txBody>
          <a:bodyPr wrap="square" lIns="0" tIns="0" rIns="0" bIns="0" rtlCol="0" anchor="ctr"/>
          <a:lstStyle/>
          <a:p>
            <a:pPr indent="0" marL="0">
              <a:buNone/>
            </a:pPr>
            <a:r>
              <a:rPr lang="en-US" sz="1550" b="1" dirty="0">
                <a:solidFill>
                  <a:srgbClr val="1F2937"/>
                </a:solidFill>
              </a:rPr>
              <a:t>Centralised data</a:t>
            </a:r>
            <a:endParaRPr lang="en-US" sz="1550" dirty="0"/>
          </a:p>
        </p:txBody>
      </p:sp>
      <p:sp>
        <p:nvSpPr>
          <p:cNvPr id="14" name="Text 11"/>
          <p:cNvSpPr/>
          <p:nvPr/>
        </p:nvSpPr>
        <p:spPr>
          <a:xfrm>
            <a:off x="6647688" y="1984248"/>
            <a:ext cx="1600200" cy="1097280"/>
          </a:xfrm>
          <a:prstGeom prst="rect">
            <a:avLst/>
          </a:prstGeom>
          <a:noFill/>
          <a:ln/>
        </p:spPr>
        <p:txBody>
          <a:bodyPr wrap="square" lIns="127" tIns="127" rIns="127" bIns="127" rtlCol="0" anchor="t">
            <a:normAutofit/>
          </a:bodyPr>
          <a:lstStyle/>
          <a:p>
            <a:pPr indent="0" marL="0">
              <a:buNone/>
            </a:pPr>
            <a:r>
              <a:rPr lang="en-US" sz="1120" dirty="0">
                <a:solidFill>
                  <a:srgbClr val="6B7280"/>
                </a:solidFill>
              </a:rPr>
              <a:t>Listings, vendors, buyers, viewings, offers and sales in one place.</a:t>
            </a:r>
            <a:endParaRPr lang="en-US" sz="1120" dirty="0"/>
          </a:p>
        </p:txBody>
      </p:sp>
      <p:sp>
        <p:nvSpPr>
          <p:cNvPr id="15" name="Shape 12"/>
          <p:cNvSpPr/>
          <p:nvPr/>
        </p:nvSpPr>
        <p:spPr>
          <a:xfrm>
            <a:off x="8668512" y="1417320"/>
            <a:ext cx="2651760" cy="1828800"/>
          </a:xfrm>
          <a:prstGeom prst="roundRect">
            <a:avLst>
              <a:gd name="adj" fmla="val 4000"/>
            </a:avLst>
          </a:prstGeom>
          <a:solidFill>
            <a:srgbClr val="FFFFFF"/>
          </a:solidFill>
          <a:ln w="12700">
            <a:solidFill>
              <a:srgbClr val="D8DEDF"/>
            </a:solidFill>
            <a:prstDash val="solid"/>
          </a:ln>
          <a:effectLst>
            <a:outerShdw sx="100000" sy="100000" kx="0" ky="0" algn="bl" rotWithShape="0" blurRad="19050" dist="50800" dir="2700000">
              <a:srgbClr val="C5CBCB">
                <a:alpha val="18000"/>
              </a:srgbClr>
            </a:outerShdw>
          </a:effectLst>
        </p:spPr>
      </p:sp>
      <p:sp>
        <p:nvSpPr>
          <p:cNvPr id="16" name="Shape 13"/>
          <p:cNvSpPr/>
          <p:nvPr/>
        </p:nvSpPr>
        <p:spPr>
          <a:xfrm>
            <a:off x="8869680" y="1618488"/>
            <a:ext cx="512064" cy="512064"/>
          </a:xfrm>
          <a:prstGeom prst="ellipse">
            <a:avLst/>
          </a:prstGeom>
          <a:solidFill>
            <a:srgbClr val="C96F47">
              <a:alpha val="12000"/>
            </a:srgbClr>
          </a:solidFill>
          <a:ln w="12700">
            <a:solidFill>
              <a:srgbClr val="C96F47">
                <a:alpha val="0"/>
              </a:srgbClr>
            </a:solidFill>
            <a:prstDash val="solid"/>
          </a:ln>
        </p:spPr>
      </p:sp>
      <p:pic>
        <p:nvPicPr>
          <p:cNvPr id="1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988552" y="1737360"/>
            <a:ext cx="274320" cy="274320"/>
          </a:xfrm>
          <a:prstGeom prst="rect">
            <a:avLst/>
          </a:prstGeom>
        </p:spPr>
      </p:pic>
      <p:sp>
        <p:nvSpPr>
          <p:cNvPr id="18" name="Text 14"/>
          <p:cNvSpPr/>
          <p:nvPr/>
        </p:nvSpPr>
        <p:spPr>
          <a:xfrm>
            <a:off x="9509760" y="1645920"/>
            <a:ext cx="1600200" cy="256032"/>
          </a:xfrm>
          <a:prstGeom prst="rect">
            <a:avLst/>
          </a:prstGeom>
          <a:noFill/>
          <a:ln/>
        </p:spPr>
        <p:txBody>
          <a:bodyPr wrap="square" lIns="0" tIns="0" rIns="0" bIns="0" rtlCol="0" anchor="ctr"/>
          <a:lstStyle/>
          <a:p>
            <a:pPr indent="0" marL="0">
              <a:buNone/>
            </a:pPr>
            <a:r>
              <a:rPr lang="en-US" sz="1550" b="1" dirty="0">
                <a:solidFill>
                  <a:srgbClr val="1F2937"/>
                </a:solidFill>
              </a:rPr>
              <a:t>Faster search</a:t>
            </a:r>
            <a:endParaRPr lang="en-US" sz="1550" dirty="0"/>
          </a:p>
        </p:txBody>
      </p:sp>
      <p:sp>
        <p:nvSpPr>
          <p:cNvPr id="19" name="Text 15"/>
          <p:cNvSpPr/>
          <p:nvPr/>
        </p:nvSpPr>
        <p:spPr>
          <a:xfrm>
            <a:off x="9509760" y="1984248"/>
            <a:ext cx="1600200" cy="1097280"/>
          </a:xfrm>
          <a:prstGeom prst="rect">
            <a:avLst/>
          </a:prstGeom>
          <a:noFill/>
          <a:ln/>
        </p:spPr>
        <p:txBody>
          <a:bodyPr wrap="square" lIns="127" tIns="127" rIns="127" bIns="127" rtlCol="0" anchor="t">
            <a:normAutofit/>
          </a:bodyPr>
          <a:lstStyle/>
          <a:p>
            <a:pPr indent="0" marL="0">
              <a:buNone/>
            </a:pPr>
            <a:r>
              <a:rPr lang="en-US" sz="1120" dirty="0">
                <a:solidFill>
                  <a:srgbClr val="6B7280"/>
                </a:solidFill>
              </a:rPr>
              <a:t>Agents can filter listings and quickly retrieve a client or property history.</a:t>
            </a:r>
            <a:endParaRPr lang="en-US" sz="1120" dirty="0"/>
          </a:p>
        </p:txBody>
      </p:sp>
      <p:sp>
        <p:nvSpPr>
          <p:cNvPr id="20" name="Shape 16"/>
          <p:cNvSpPr/>
          <p:nvPr/>
        </p:nvSpPr>
        <p:spPr>
          <a:xfrm>
            <a:off x="5806440" y="3520440"/>
            <a:ext cx="2651760" cy="1828800"/>
          </a:xfrm>
          <a:prstGeom prst="roundRect">
            <a:avLst>
              <a:gd name="adj" fmla="val 4000"/>
            </a:avLst>
          </a:prstGeom>
          <a:solidFill>
            <a:srgbClr val="FFFFFF"/>
          </a:solidFill>
          <a:ln w="12700">
            <a:solidFill>
              <a:srgbClr val="D8DEDF"/>
            </a:solidFill>
            <a:prstDash val="solid"/>
          </a:ln>
          <a:effectLst>
            <a:outerShdw sx="100000" sy="100000" kx="0" ky="0" algn="bl" rotWithShape="0" blurRad="19050" dist="50800" dir="2700000">
              <a:srgbClr val="C5CBCB">
                <a:alpha val="18000"/>
              </a:srgbClr>
            </a:outerShdw>
          </a:effectLst>
        </p:spPr>
      </p:sp>
      <p:sp>
        <p:nvSpPr>
          <p:cNvPr id="21" name="Shape 17"/>
          <p:cNvSpPr/>
          <p:nvPr/>
        </p:nvSpPr>
        <p:spPr>
          <a:xfrm>
            <a:off x="6007608" y="3721608"/>
            <a:ext cx="512064" cy="512064"/>
          </a:xfrm>
          <a:prstGeom prst="ellipse">
            <a:avLst/>
          </a:prstGeom>
          <a:solidFill>
            <a:srgbClr val="4B7A6A">
              <a:alpha val="12000"/>
            </a:srgbClr>
          </a:solidFill>
          <a:ln w="12700">
            <a:solidFill>
              <a:srgbClr val="4B7A6A">
                <a:alpha val="0"/>
              </a:srgbClr>
            </a:solidFill>
            <a:prstDash val="solid"/>
          </a:ln>
        </p:spPr>
      </p:sp>
      <p:pic>
        <p:nvPicPr>
          <p:cNvPr id="22"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126480" y="3840480"/>
            <a:ext cx="274320" cy="274320"/>
          </a:xfrm>
          <a:prstGeom prst="rect">
            <a:avLst/>
          </a:prstGeom>
        </p:spPr>
      </p:pic>
      <p:sp>
        <p:nvSpPr>
          <p:cNvPr id="23" name="Text 18"/>
          <p:cNvSpPr/>
          <p:nvPr/>
        </p:nvSpPr>
        <p:spPr>
          <a:xfrm>
            <a:off x="6647688" y="3749040"/>
            <a:ext cx="1600200" cy="256032"/>
          </a:xfrm>
          <a:prstGeom prst="rect">
            <a:avLst/>
          </a:prstGeom>
          <a:noFill/>
          <a:ln/>
        </p:spPr>
        <p:txBody>
          <a:bodyPr wrap="square" lIns="0" tIns="0" rIns="0" bIns="0" rtlCol="0" anchor="ctr"/>
          <a:lstStyle/>
          <a:p>
            <a:pPr indent="0" marL="0">
              <a:buNone/>
            </a:pPr>
            <a:r>
              <a:rPr lang="en-US" sz="1550" b="1" dirty="0">
                <a:solidFill>
                  <a:srgbClr val="1F2937"/>
                </a:solidFill>
              </a:rPr>
              <a:t>Better matching</a:t>
            </a:r>
            <a:endParaRPr lang="en-US" sz="1550" dirty="0"/>
          </a:p>
        </p:txBody>
      </p:sp>
      <p:sp>
        <p:nvSpPr>
          <p:cNvPr id="24" name="Text 19"/>
          <p:cNvSpPr/>
          <p:nvPr/>
        </p:nvSpPr>
        <p:spPr>
          <a:xfrm>
            <a:off x="6647688" y="4087368"/>
            <a:ext cx="1600200" cy="1097280"/>
          </a:xfrm>
          <a:prstGeom prst="rect">
            <a:avLst/>
          </a:prstGeom>
          <a:noFill/>
          <a:ln/>
        </p:spPr>
        <p:txBody>
          <a:bodyPr wrap="square" lIns="127" tIns="127" rIns="127" bIns="127" rtlCol="0" anchor="t">
            <a:normAutofit/>
          </a:bodyPr>
          <a:lstStyle/>
          <a:p>
            <a:pPr indent="0" marL="0">
              <a:buNone/>
            </a:pPr>
            <a:r>
              <a:rPr lang="en-US" sz="1120" dirty="0">
                <a:solidFill>
                  <a:srgbClr val="6B7280"/>
                </a:solidFill>
              </a:rPr>
              <a:t>Buyer budgets and preferences can be compared with current properties.</a:t>
            </a:r>
            <a:endParaRPr lang="en-US" sz="1120" dirty="0"/>
          </a:p>
        </p:txBody>
      </p:sp>
      <p:sp>
        <p:nvSpPr>
          <p:cNvPr id="25" name="Shape 20"/>
          <p:cNvSpPr/>
          <p:nvPr/>
        </p:nvSpPr>
        <p:spPr>
          <a:xfrm>
            <a:off x="8668512" y="3520440"/>
            <a:ext cx="2651760" cy="1828800"/>
          </a:xfrm>
          <a:prstGeom prst="roundRect">
            <a:avLst>
              <a:gd name="adj" fmla="val 4000"/>
            </a:avLst>
          </a:prstGeom>
          <a:solidFill>
            <a:srgbClr val="FFFFFF"/>
          </a:solidFill>
          <a:ln w="12700">
            <a:solidFill>
              <a:srgbClr val="D8DEDF"/>
            </a:solidFill>
            <a:prstDash val="solid"/>
          </a:ln>
          <a:effectLst>
            <a:outerShdw sx="100000" sy="100000" kx="0" ky="0" algn="bl" rotWithShape="0" blurRad="19050" dist="50800" dir="2700000">
              <a:srgbClr val="C5CBCB">
                <a:alpha val="18000"/>
              </a:srgbClr>
            </a:outerShdw>
          </a:effectLst>
        </p:spPr>
      </p:sp>
      <p:sp>
        <p:nvSpPr>
          <p:cNvPr id="26" name="Shape 21"/>
          <p:cNvSpPr/>
          <p:nvPr/>
        </p:nvSpPr>
        <p:spPr>
          <a:xfrm>
            <a:off x="8869680" y="3721608"/>
            <a:ext cx="512064" cy="512064"/>
          </a:xfrm>
          <a:prstGeom prst="ellipse">
            <a:avLst/>
          </a:prstGeom>
          <a:solidFill>
            <a:srgbClr val="163A45">
              <a:alpha val="12000"/>
            </a:srgbClr>
          </a:solidFill>
          <a:ln w="12700">
            <a:solidFill>
              <a:srgbClr val="163A45">
                <a:alpha val="0"/>
              </a:srgbClr>
            </a:solidFill>
            <a:prstDash val="solid"/>
          </a:ln>
        </p:spPr>
      </p:sp>
      <p:pic>
        <p:nvPicPr>
          <p:cNvPr id="27"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988552" y="3840480"/>
            <a:ext cx="274320" cy="274320"/>
          </a:xfrm>
          <a:prstGeom prst="rect">
            <a:avLst/>
          </a:prstGeom>
        </p:spPr>
      </p:pic>
      <p:sp>
        <p:nvSpPr>
          <p:cNvPr id="28" name="Text 22"/>
          <p:cNvSpPr/>
          <p:nvPr/>
        </p:nvSpPr>
        <p:spPr>
          <a:xfrm>
            <a:off x="9509760" y="3749040"/>
            <a:ext cx="1600200" cy="256032"/>
          </a:xfrm>
          <a:prstGeom prst="rect">
            <a:avLst/>
          </a:prstGeom>
          <a:noFill/>
          <a:ln/>
        </p:spPr>
        <p:txBody>
          <a:bodyPr wrap="square" lIns="0" tIns="0" rIns="0" bIns="0" rtlCol="0" anchor="ctr"/>
          <a:lstStyle/>
          <a:p>
            <a:pPr indent="0" marL="0">
              <a:buNone/>
            </a:pPr>
            <a:r>
              <a:rPr lang="en-US" sz="1550" b="1" dirty="0">
                <a:solidFill>
                  <a:srgbClr val="1F2937"/>
                </a:solidFill>
              </a:rPr>
              <a:t>Clear workflow</a:t>
            </a:r>
            <a:endParaRPr lang="en-US" sz="1550" dirty="0"/>
          </a:p>
        </p:txBody>
      </p:sp>
      <p:sp>
        <p:nvSpPr>
          <p:cNvPr id="29" name="Text 23"/>
          <p:cNvSpPr/>
          <p:nvPr/>
        </p:nvSpPr>
        <p:spPr>
          <a:xfrm>
            <a:off x="9509760" y="4087368"/>
            <a:ext cx="1600200" cy="1097280"/>
          </a:xfrm>
          <a:prstGeom prst="rect">
            <a:avLst/>
          </a:prstGeom>
          <a:noFill/>
          <a:ln/>
        </p:spPr>
        <p:txBody>
          <a:bodyPr wrap="square" lIns="127" tIns="127" rIns="127" bIns="127" rtlCol="0" anchor="t">
            <a:normAutofit/>
          </a:bodyPr>
          <a:lstStyle/>
          <a:p>
            <a:pPr indent="0" marL="0">
              <a:buNone/>
            </a:pPr>
            <a:r>
              <a:rPr lang="en-US" sz="1120" dirty="0">
                <a:solidFill>
                  <a:srgbClr val="6B7280"/>
                </a:solidFill>
              </a:rPr>
              <a:t>Viewings lead to offers, and accepted offers can become sale records.</a:t>
            </a:r>
            <a:endParaRPr lang="en-US" sz="1120" dirty="0"/>
          </a:p>
        </p:txBody>
      </p:sp>
      <p:sp>
        <p:nvSpPr>
          <p:cNvPr id="25" name="Slide Number Placeholder 0"/>
          <p:cNvSpPr>
            <a:spLocks noGrp="1"/>
          </p:cNvSpPr>
          <p:nvPr>
            <p:ph type="sldNum" sz="quarter" idx="4294967295"/>
          </p:nvPr>
        </p:nvSpPr>
        <p:spPr>
          <a:xfrm>
            <a:off x="11750040" y="649224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latin typeface="Carlito"/>
                <a:ea typeface="Carlito"/>
                <a:cs typeface="Carlito"/>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40080" y="411480"/>
            <a:ext cx="10698480" cy="438912"/>
          </a:xfrm>
          <a:prstGeom prst="rect">
            <a:avLst/>
          </a:prstGeom>
          <a:noFill/>
          <a:ln/>
        </p:spPr>
        <p:txBody>
          <a:bodyPr wrap="square" lIns="0" tIns="0" rIns="0" bIns="0" rtlCol="0" anchor="ctr"/>
          <a:lstStyle/>
          <a:p>
            <a:pPr indent="0" marL="0">
              <a:buNone/>
            </a:pPr>
            <a:r>
              <a:rPr lang="en-US" sz="2500" b="1" dirty="0">
                <a:solidFill>
                  <a:srgbClr val="163A45"/>
                </a:solidFill>
                <a:latin typeface="Carlito" pitchFamily="34" charset="0"/>
                <a:ea typeface="Carlito" pitchFamily="34" charset="-122"/>
                <a:cs typeface="Carlito" pitchFamily="34" charset="-120"/>
              </a:rPr>
              <a:t>Use Case Diagram</a:t>
            </a:r>
            <a:endParaRPr lang="en-US" sz="2500" dirty="0"/>
          </a:p>
        </p:txBody>
      </p:sp>
      <p:sp>
        <p:nvSpPr>
          <p:cNvPr id="3" name="Text 1"/>
          <p:cNvSpPr/>
          <p:nvPr/>
        </p:nvSpPr>
        <p:spPr>
          <a:xfrm>
            <a:off x="658368" y="877824"/>
            <a:ext cx="10789920" cy="310896"/>
          </a:xfrm>
          <a:prstGeom prst="rect">
            <a:avLst/>
          </a:prstGeom>
          <a:noFill/>
          <a:ln/>
        </p:spPr>
        <p:txBody>
          <a:bodyPr wrap="square" lIns="0" tIns="0" rIns="0" bIns="0" rtlCol="0" anchor="ctr"/>
          <a:lstStyle/>
          <a:p>
            <a:pPr indent="0" marL="0">
              <a:buNone/>
            </a:pPr>
            <a:r>
              <a:rPr lang="en-US" sz="1250" dirty="0">
                <a:solidFill>
                  <a:srgbClr val="6B7280"/>
                </a:solidFill>
                <a:latin typeface="Carlito" pitchFamily="34" charset="0"/>
                <a:ea typeface="Carlito" pitchFamily="34" charset="-122"/>
                <a:cs typeface="Carlito" pitchFamily="34" charset="-120"/>
              </a:rPr>
              <a:t>Main actors and the tasks they perform in NestUp</a:t>
            </a:r>
            <a:endParaRPr lang="en-US" sz="1250" dirty="0"/>
          </a:p>
        </p:txBody>
      </p:sp>
      <p:sp>
        <p:nvSpPr>
          <p:cNvPr id="4" name="Shape 2"/>
          <p:cNvSpPr/>
          <p:nvPr/>
        </p:nvSpPr>
        <p:spPr>
          <a:xfrm>
            <a:off x="9674352" y="457200"/>
            <a:ext cx="1810512" cy="347472"/>
          </a:xfrm>
          <a:prstGeom prst="roundRect">
            <a:avLst>
              <a:gd name="adj" fmla="val 15789"/>
            </a:avLst>
          </a:prstGeom>
          <a:solidFill>
            <a:srgbClr val="EEE2CD"/>
          </a:solidFill>
          <a:ln w="12700">
            <a:solidFill>
              <a:srgbClr val="EEE2CD"/>
            </a:solidFill>
            <a:prstDash val="solid"/>
          </a:ln>
        </p:spPr>
      </p:sp>
      <p:sp>
        <p:nvSpPr>
          <p:cNvPr id="5" name="Text 3"/>
          <p:cNvSpPr/>
          <p:nvPr/>
        </p:nvSpPr>
        <p:spPr>
          <a:xfrm>
            <a:off x="9747504" y="548640"/>
            <a:ext cx="1664208" cy="137160"/>
          </a:xfrm>
          <a:prstGeom prst="rect">
            <a:avLst/>
          </a:prstGeom>
          <a:noFill/>
          <a:ln/>
        </p:spPr>
        <p:txBody>
          <a:bodyPr wrap="square" lIns="0" tIns="0" rIns="0" bIns="0" rtlCol="0" anchor="ctr"/>
          <a:lstStyle/>
          <a:p>
            <a:pPr algn="ctr" indent="0" marL="0">
              <a:buNone/>
            </a:pPr>
            <a:r>
              <a:rPr lang="en-US" sz="970" b="1" dirty="0">
                <a:solidFill>
                  <a:srgbClr val="163A45"/>
                </a:solidFill>
              </a:rPr>
              <a:t>Speaker: Harshdeep</a:t>
            </a:r>
            <a:endParaRPr lang="en-US" sz="970" dirty="0"/>
          </a:p>
        </p:txBody>
      </p:sp>
      <p:sp>
        <p:nvSpPr>
          <p:cNvPr id="6" name="Shape 4"/>
          <p:cNvSpPr/>
          <p:nvPr/>
        </p:nvSpPr>
        <p:spPr>
          <a:xfrm>
            <a:off x="2926080" y="1234440"/>
            <a:ext cx="6537960" cy="4983480"/>
          </a:xfrm>
          <a:prstGeom prst="roundRect">
            <a:avLst>
              <a:gd name="adj" fmla="val 917"/>
            </a:avLst>
          </a:prstGeom>
          <a:solidFill>
            <a:srgbClr val="FCFCFA"/>
          </a:solidFill>
          <a:ln w="19050">
            <a:solidFill>
              <a:srgbClr val="1F5A5A"/>
            </a:solidFill>
            <a:prstDash val="solid"/>
          </a:ln>
        </p:spPr>
      </p:sp>
      <p:sp>
        <p:nvSpPr>
          <p:cNvPr id="7" name="Text 5"/>
          <p:cNvSpPr/>
          <p:nvPr/>
        </p:nvSpPr>
        <p:spPr>
          <a:xfrm>
            <a:off x="5166360" y="1389888"/>
            <a:ext cx="2011680" cy="256032"/>
          </a:xfrm>
          <a:prstGeom prst="rect">
            <a:avLst/>
          </a:prstGeom>
          <a:noFill/>
          <a:ln/>
        </p:spPr>
        <p:txBody>
          <a:bodyPr wrap="square" lIns="0" tIns="0" rIns="0" bIns="0" rtlCol="0" anchor="ctr"/>
          <a:lstStyle/>
          <a:p>
            <a:pPr algn="ctr" indent="0" marL="0">
              <a:buNone/>
            </a:pPr>
            <a:r>
              <a:rPr lang="en-US" sz="1500" b="1" dirty="0">
                <a:solidFill>
                  <a:srgbClr val="1F5A5A"/>
                </a:solidFill>
              </a:rPr>
              <a:t>NestUp System</a:t>
            </a:r>
            <a:endParaRPr lang="en-US" sz="1500" dirty="0"/>
          </a:p>
        </p:txBody>
      </p:sp>
      <p:sp>
        <p:nvSpPr>
          <p:cNvPr id="8" name="Shape 6"/>
          <p:cNvSpPr/>
          <p:nvPr/>
        </p:nvSpPr>
        <p:spPr>
          <a:xfrm>
            <a:off x="3703320" y="1874520"/>
            <a:ext cx="2240280" cy="566928"/>
          </a:xfrm>
          <a:prstGeom prst="ellipse">
            <a:avLst/>
          </a:prstGeom>
          <a:solidFill>
            <a:srgbClr val="DCEBE4"/>
          </a:solidFill>
          <a:ln w="12700">
            <a:solidFill>
              <a:srgbClr val="1F5A5A"/>
            </a:solidFill>
            <a:prstDash val="solid"/>
          </a:ln>
        </p:spPr>
      </p:sp>
      <p:sp>
        <p:nvSpPr>
          <p:cNvPr id="9" name="Text 7"/>
          <p:cNvSpPr/>
          <p:nvPr/>
        </p:nvSpPr>
        <p:spPr>
          <a:xfrm>
            <a:off x="3813048" y="2029968"/>
            <a:ext cx="2020824" cy="182880"/>
          </a:xfrm>
          <a:prstGeom prst="rect">
            <a:avLst/>
          </a:prstGeom>
          <a:noFill/>
          <a:ln/>
        </p:spPr>
        <p:txBody>
          <a:bodyPr wrap="square" lIns="0" tIns="0" rIns="0" bIns="0" rtlCol="0" anchor="ctr">
            <a:normAutofit/>
          </a:bodyPr>
          <a:lstStyle/>
          <a:p>
            <a:pPr algn="ctr" indent="0" marL="0">
              <a:buNone/>
            </a:pPr>
            <a:r>
              <a:rPr lang="en-US" sz="1150" b="1" dirty="0">
                <a:solidFill>
                  <a:srgbClr val="163A45"/>
                </a:solidFill>
              </a:rPr>
              <a:t>Manage property listings</a:t>
            </a:r>
            <a:endParaRPr lang="en-US" sz="1150" dirty="0"/>
          </a:p>
        </p:txBody>
      </p:sp>
      <p:sp>
        <p:nvSpPr>
          <p:cNvPr id="10" name="Shape 8"/>
          <p:cNvSpPr/>
          <p:nvPr/>
        </p:nvSpPr>
        <p:spPr>
          <a:xfrm>
            <a:off x="6400800" y="1874520"/>
            <a:ext cx="2240280" cy="566928"/>
          </a:xfrm>
          <a:prstGeom prst="ellipse">
            <a:avLst/>
          </a:prstGeom>
          <a:solidFill>
            <a:srgbClr val="DCEBE4"/>
          </a:solidFill>
          <a:ln w="12700">
            <a:solidFill>
              <a:srgbClr val="1F5A5A"/>
            </a:solidFill>
            <a:prstDash val="solid"/>
          </a:ln>
        </p:spPr>
      </p:sp>
      <p:sp>
        <p:nvSpPr>
          <p:cNvPr id="11" name="Text 9"/>
          <p:cNvSpPr/>
          <p:nvPr/>
        </p:nvSpPr>
        <p:spPr>
          <a:xfrm>
            <a:off x="6510528" y="2029968"/>
            <a:ext cx="2020824" cy="182880"/>
          </a:xfrm>
          <a:prstGeom prst="rect">
            <a:avLst/>
          </a:prstGeom>
          <a:noFill/>
          <a:ln/>
        </p:spPr>
        <p:txBody>
          <a:bodyPr wrap="square" lIns="0" tIns="0" rIns="0" bIns="0" rtlCol="0" anchor="ctr">
            <a:normAutofit/>
          </a:bodyPr>
          <a:lstStyle/>
          <a:p>
            <a:pPr algn="ctr" indent="0" marL="0">
              <a:buNone/>
            </a:pPr>
            <a:r>
              <a:rPr lang="en-US" sz="1150" b="1" dirty="0">
                <a:solidFill>
                  <a:srgbClr val="163A45"/>
                </a:solidFill>
              </a:rPr>
              <a:t>Register buyers / vendors</a:t>
            </a:r>
            <a:endParaRPr lang="en-US" sz="1150" dirty="0"/>
          </a:p>
        </p:txBody>
      </p:sp>
      <p:sp>
        <p:nvSpPr>
          <p:cNvPr id="12" name="Shape 10"/>
          <p:cNvSpPr/>
          <p:nvPr/>
        </p:nvSpPr>
        <p:spPr>
          <a:xfrm>
            <a:off x="3703320" y="2880360"/>
            <a:ext cx="2240280" cy="566928"/>
          </a:xfrm>
          <a:prstGeom prst="ellipse">
            <a:avLst/>
          </a:prstGeom>
          <a:solidFill>
            <a:srgbClr val="DCEBE4"/>
          </a:solidFill>
          <a:ln w="12700">
            <a:solidFill>
              <a:srgbClr val="1F5A5A"/>
            </a:solidFill>
            <a:prstDash val="solid"/>
          </a:ln>
        </p:spPr>
      </p:sp>
      <p:sp>
        <p:nvSpPr>
          <p:cNvPr id="13" name="Text 11"/>
          <p:cNvSpPr/>
          <p:nvPr/>
        </p:nvSpPr>
        <p:spPr>
          <a:xfrm>
            <a:off x="3813048" y="3035808"/>
            <a:ext cx="2020824" cy="182880"/>
          </a:xfrm>
          <a:prstGeom prst="rect">
            <a:avLst/>
          </a:prstGeom>
          <a:noFill/>
          <a:ln/>
        </p:spPr>
        <p:txBody>
          <a:bodyPr wrap="square" lIns="0" tIns="0" rIns="0" bIns="0" rtlCol="0" anchor="ctr">
            <a:normAutofit/>
          </a:bodyPr>
          <a:lstStyle/>
          <a:p>
            <a:pPr algn="ctr" indent="0" marL="0">
              <a:buNone/>
            </a:pPr>
            <a:r>
              <a:rPr lang="en-US" sz="1150" b="1" dirty="0">
                <a:solidFill>
                  <a:srgbClr val="163A45"/>
                </a:solidFill>
              </a:rPr>
              <a:t>Filter &amp; match listings</a:t>
            </a:r>
            <a:endParaRPr lang="en-US" sz="1150" dirty="0"/>
          </a:p>
        </p:txBody>
      </p:sp>
      <p:sp>
        <p:nvSpPr>
          <p:cNvPr id="14" name="Shape 12"/>
          <p:cNvSpPr/>
          <p:nvPr/>
        </p:nvSpPr>
        <p:spPr>
          <a:xfrm>
            <a:off x="6400800" y="2880360"/>
            <a:ext cx="2240280" cy="566928"/>
          </a:xfrm>
          <a:prstGeom prst="ellipse">
            <a:avLst/>
          </a:prstGeom>
          <a:solidFill>
            <a:srgbClr val="DCEBE4"/>
          </a:solidFill>
          <a:ln w="12700">
            <a:solidFill>
              <a:srgbClr val="1F5A5A"/>
            </a:solidFill>
            <a:prstDash val="solid"/>
          </a:ln>
        </p:spPr>
      </p:sp>
      <p:sp>
        <p:nvSpPr>
          <p:cNvPr id="15" name="Text 13"/>
          <p:cNvSpPr/>
          <p:nvPr/>
        </p:nvSpPr>
        <p:spPr>
          <a:xfrm>
            <a:off x="6510528" y="3035808"/>
            <a:ext cx="2020824" cy="182880"/>
          </a:xfrm>
          <a:prstGeom prst="rect">
            <a:avLst/>
          </a:prstGeom>
          <a:noFill/>
          <a:ln/>
        </p:spPr>
        <p:txBody>
          <a:bodyPr wrap="square" lIns="0" tIns="0" rIns="0" bIns="0" rtlCol="0" anchor="ctr">
            <a:normAutofit/>
          </a:bodyPr>
          <a:lstStyle/>
          <a:p>
            <a:pPr algn="ctr" indent="0" marL="0">
              <a:buNone/>
            </a:pPr>
            <a:r>
              <a:rPr lang="en-US" sz="1150" b="1" dirty="0">
                <a:solidFill>
                  <a:srgbClr val="163A45"/>
                </a:solidFill>
              </a:rPr>
              <a:t>Book viewings</a:t>
            </a:r>
            <a:endParaRPr lang="en-US" sz="1150" dirty="0"/>
          </a:p>
        </p:txBody>
      </p:sp>
      <p:sp>
        <p:nvSpPr>
          <p:cNvPr id="16" name="Shape 14"/>
          <p:cNvSpPr/>
          <p:nvPr/>
        </p:nvSpPr>
        <p:spPr>
          <a:xfrm>
            <a:off x="3703320" y="3886200"/>
            <a:ext cx="2240280" cy="566928"/>
          </a:xfrm>
          <a:prstGeom prst="ellipse">
            <a:avLst/>
          </a:prstGeom>
          <a:solidFill>
            <a:srgbClr val="DCEBE4"/>
          </a:solidFill>
          <a:ln w="12700">
            <a:solidFill>
              <a:srgbClr val="1F5A5A"/>
            </a:solidFill>
            <a:prstDash val="solid"/>
          </a:ln>
        </p:spPr>
      </p:sp>
      <p:sp>
        <p:nvSpPr>
          <p:cNvPr id="17" name="Text 15"/>
          <p:cNvSpPr/>
          <p:nvPr/>
        </p:nvSpPr>
        <p:spPr>
          <a:xfrm>
            <a:off x="3813048" y="4041648"/>
            <a:ext cx="2020824" cy="182880"/>
          </a:xfrm>
          <a:prstGeom prst="rect">
            <a:avLst/>
          </a:prstGeom>
          <a:noFill/>
          <a:ln/>
        </p:spPr>
        <p:txBody>
          <a:bodyPr wrap="square" lIns="0" tIns="0" rIns="0" bIns="0" rtlCol="0" anchor="ctr">
            <a:normAutofit/>
          </a:bodyPr>
          <a:lstStyle/>
          <a:p>
            <a:pPr algn="ctr" indent="0" marL="0">
              <a:buNone/>
            </a:pPr>
            <a:r>
              <a:rPr lang="en-US" sz="1150" b="1" dirty="0">
                <a:solidFill>
                  <a:srgbClr val="163A45"/>
                </a:solidFill>
              </a:rPr>
              <a:t>Record feedback</a:t>
            </a:r>
            <a:endParaRPr lang="en-US" sz="1150" dirty="0"/>
          </a:p>
        </p:txBody>
      </p:sp>
      <p:sp>
        <p:nvSpPr>
          <p:cNvPr id="18" name="Shape 16"/>
          <p:cNvSpPr/>
          <p:nvPr/>
        </p:nvSpPr>
        <p:spPr>
          <a:xfrm>
            <a:off x="6400800" y="3886200"/>
            <a:ext cx="2240280" cy="566928"/>
          </a:xfrm>
          <a:prstGeom prst="ellipse">
            <a:avLst/>
          </a:prstGeom>
          <a:solidFill>
            <a:srgbClr val="DCEBE4"/>
          </a:solidFill>
          <a:ln w="12700">
            <a:solidFill>
              <a:srgbClr val="1F5A5A"/>
            </a:solidFill>
            <a:prstDash val="solid"/>
          </a:ln>
        </p:spPr>
      </p:sp>
      <p:sp>
        <p:nvSpPr>
          <p:cNvPr id="19" name="Text 17"/>
          <p:cNvSpPr/>
          <p:nvPr/>
        </p:nvSpPr>
        <p:spPr>
          <a:xfrm>
            <a:off x="6510528" y="4041648"/>
            <a:ext cx="2020824" cy="182880"/>
          </a:xfrm>
          <a:prstGeom prst="rect">
            <a:avLst/>
          </a:prstGeom>
          <a:noFill/>
          <a:ln/>
        </p:spPr>
        <p:txBody>
          <a:bodyPr wrap="square" lIns="0" tIns="0" rIns="0" bIns="0" rtlCol="0" anchor="ctr">
            <a:normAutofit/>
          </a:bodyPr>
          <a:lstStyle/>
          <a:p>
            <a:pPr algn="ctr" indent="0" marL="0">
              <a:buNone/>
            </a:pPr>
            <a:r>
              <a:rPr lang="en-US" sz="1150" b="1" dirty="0">
                <a:solidFill>
                  <a:srgbClr val="163A45"/>
                </a:solidFill>
              </a:rPr>
              <a:t>Record / update offers</a:t>
            </a:r>
            <a:endParaRPr lang="en-US" sz="1150" dirty="0"/>
          </a:p>
        </p:txBody>
      </p:sp>
      <p:sp>
        <p:nvSpPr>
          <p:cNvPr id="20" name="Shape 18"/>
          <p:cNvSpPr/>
          <p:nvPr/>
        </p:nvSpPr>
        <p:spPr>
          <a:xfrm>
            <a:off x="3703320" y="4892040"/>
            <a:ext cx="2240280" cy="566928"/>
          </a:xfrm>
          <a:prstGeom prst="ellipse">
            <a:avLst/>
          </a:prstGeom>
          <a:solidFill>
            <a:srgbClr val="DCEBE4"/>
          </a:solidFill>
          <a:ln w="12700">
            <a:solidFill>
              <a:srgbClr val="1F5A5A"/>
            </a:solidFill>
            <a:prstDash val="solid"/>
          </a:ln>
        </p:spPr>
      </p:sp>
      <p:sp>
        <p:nvSpPr>
          <p:cNvPr id="21" name="Text 19"/>
          <p:cNvSpPr/>
          <p:nvPr/>
        </p:nvSpPr>
        <p:spPr>
          <a:xfrm>
            <a:off x="3813048" y="5047488"/>
            <a:ext cx="2020824" cy="182880"/>
          </a:xfrm>
          <a:prstGeom prst="rect">
            <a:avLst/>
          </a:prstGeom>
          <a:noFill/>
          <a:ln/>
        </p:spPr>
        <p:txBody>
          <a:bodyPr wrap="square" lIns="0" tIns="0" rIns="0" bIns="0" rtlCol="0" anchor="ctr">
            <a:normAutofit/>
          </a:bodyPr>
          <a:lstStyle/>
          <a:p>
            <a:pPr algn="ctr" indent="0" marL="0">
              <a:buNone/>
            </a:pPr>
            <a:r>
              <a:rPr lang="en-US" sz="1150" b="1" dirty="0">
                <a:solidFill>
                  <a:srgbClr val="163A45"/>
                </a:solidFill>
              </a:rPr>
              <a:t>Create sale &amp; commission</a:t>
            </a:r>
            <a:endParaRPr lang="en-US" sz="1150" dirty="0"/>
          </a:p>
        </p:txBody>
      </p:sp>
      <p:sp>
        <p:nvSpPr>
          <p:cNvPr id="22" name="Shape 20"/>
          <p:cNvSpPr/>
          <p:nvPr/>
        </p:nvSpPr>
        <p:spPr>
          <a:xfrm>
            <a:off x="6400800" y="4892040"/>
            <a:ext cx="2240280" cy="566928"/>
          </a:xfrm>
          <a:prstGeom prst="ellipse">
            <a:avLst/>
          </a:prstGeom>
          <a:solidFill>
            <a:srgbClr val="DCEBE4"/>
          </a:solidFill>
          <a:ln w="12700">
            <a:solidFill>
              <a:srgbClr val="1F5A5A"/>
            </a:solidFill>
            <a:prstDash val="solid"/>
          </a:ln>
        </p:spPr>
      </p:sp>
      <p:sp>
        <p:nvSpPr>
          <p:cNvPr id="23" name="Text 21"/>
          <p:cNvSpPr/>
          <p:nvPr/>
        </p:nvSpPr>
        <p:spPr>
          <a:xfrm>
            <a:off x="6510528" y="5047488"/>
            <a:ext cx="2020824" cy="182880"/>
          </a:xfrm>
          <a:prstGeom prst="rect">
            <a:avLst/>
          </a:prstGeom>
          <a:noFill/>
          <a:ln/>
        </p:spPr>
        <p:txBody>
          <a:bodyPr wrap="square" lIns="0" tIns="0" rIns="0" bIns="0" rtlCol="0" anchor="ctr">
            <a:normAutofit/>
          </a:bodyPr>
          <a:lstStyle/>
          <a:p>
            <a:pPr algn="ctr" indent="0" marL="0">
              <a:buNone/>
            </a:pPr>
            <a:r>
              <a:rPr lang="en-US" sz="1150" b="1" dirty="0">
                <a:solidFill>
                  <a:srgbClr val="163A45"/>
                </a:solidFill>
              </a:rPr>
              <a:t>Run activity reports</a:t>
            </a:r>
            <a:endParaRPr lang="en-US" sz="1150" dirty="0"/>
          </a:p>
        </p:txBody>
      </p:sp>
      <p:pic>
        <p:nvPicPr>
          <p:cNvPr id="2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51560" y="1828800"/>
            <a:ext cx="548640" cy="548640"/>
          </a:xfrm>
          <a:prstGeom prst="rect">
            <a:avLst/>
          </a:prstGeom>
        </p:spPr>
      </p:pic>
      <p:sp>
        <p:nvSpPr>
          <p:cNvPr id="25" name="Text 22"/>
          <p:cNvSpPr/>
          <p:nvPr/>
        </p:nvSpPr>
        <p:spPr>
          <a:xfrm>
            <a:off x="640080" y="2441448"/>
            <a:ext cx="1371600" cy="320040"/>
          </a:xfrm>
          <a:prstGeom prst="rect">
            <a:avLst/>
          </a:prstGeom>
          <a:noFill/>
          <a:ln/>
        </p:spPr>
        <p:txBody>
          <a:bodyPr wrap="square" lIns="0" tIns="0" rIns="0" bIns="0" rtlCol="0" anchor="ctr"/>
          <a:lstStyle/>
          <a:p>
            <a:pPr algn="ctr" indent="0" marL="0">
              <a:buNone/>
            </a:pPr>
            <a:r>
              <a:rPr lang="en-US" sz="1150" b="1" dirty="0">
                <a:solidFill>
                  <a:srgbClr val="1F2937"/>
                </a:solidFill>
              </a:rPr>
              <a:t>Agent</a:t>
            </a:r>
            <a:endParaRPr lang="en-US" sz="1150" dirty="0"/>
          </a:p>
        </p:txBody>
      </p:sp>
      <p:pic>
        <p:nvPicPr>
          <p:cNvPr id="26"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51560" y="4434840"/>
            <a:ext cx="548640" cy="548640"/>
          </a:xfrm>
          <a:prstGeom prst="rect">
            <a:avLst/>
          </a:prstGeom>
        </p:spPr>
      </p:pic>
      <p:sp>
        <p:nvSpPr>
          <p:cNvPr id="27" name="Text 23"/>
          <p:cNvSpPr/>
          <p:nvPr/>
        </p:nvSpPr>
        <p:spPr>
          <a:xfrm>
            <a:off x="640080" y="5047488"/>
            <a:ext cx="1371600" cy="320040"/>
          </a:xfrm>
          <a:prstGeom prst="rect">
            <a:avLst/>
          </a:prstGeom>
          <a:noFill/>
          <a:ln/>
        </p:spPr>
        <p:txBody>
          <a:bodyPr wrap="square" lIns="0" tIns="0" rIns="0" bIns="0" rtlCol="0" anchor="ctr"/>
          <a:lstStyle/>
          <a:p>
            <a:pPr algn="ctr" indent="0" marL="0">
              <a:buNone/>
            </a:pPr>
            <a:r>
              <a:rPr lang="en-US" sz="1150" b="1" dirty="0">
                <a:solidFill>
                  <a:srgbClr val="1F2937"/>
                </a:solidFill>
              </a:rPr>
              <a:t>Admin / Reception</a:t>
            </a:r>
            <a:endParaRPr lang="en-US" sz="1150" dirty="0"/>
          </a:p>
        </p:txBody>
      </p:sp>
      <p:pic>
        <p:nvPicPr>
          <p:cNvPr id="28"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378440" y="2880360"/>
            <a:ext cx="548640" cy="548640"/>
          </a:xfrm>
          <a:prstGeom prst="rect">
            <a:avLst/>
          </a:prstGeom>
        </p:spPr>
      </p:pic>
      <p:sp>
        <p:nvSpPr>
          <p:cNvPr id="29" name="Text 24"/>
          <p:cNvSpPr/>
          <p:nvPr/>
        </p:nvSpPr>
        <p:spPr>
          <a:xfrm>
            <a:off x="9966960" y="3493008"/>
            <a:ext cx="1371600" cy="320040"/>
          </a:xfrm>
          <a:prstGeom prst="rect">
            <a:avLst/>
          </a:prstGeom>
          <a:noFill/>
          <a:ln/>
        </p:spPr>
        <p:txBody>
          <a:bodyPr wrap="square" lIns="0" tIns="0" rIns="0" bIns="0" rtlCol="0" anchor="ctr"/>
          <a:lstStyle/>
          <a:p>
            <a:pPr algn="ctr" indent="0" marL="0">
              <a:buNone/>
            </a:pPr>
            <a:r>
              <a:rPr lang="en-US" sz="1150" b="1" dirty="0">
                <a:solidFill>
                  <a:srgbClr val="1F2937"/>
                </a:solidFill>
              </a:rPr>
              <a:t>Branch Manager</a:t>
            </a:r>
            <a:endParaRPr lang="en-US" sz="1150" dirty="0"/>
          </a:p>
        </p:txBody>
      </p:sp>
      <p:sp>
        <p:nvSpPr>
          <p:cNvPr id="30" name="Shape 25"/>
          <p:cNvSpPr/>
          <p:nvPr/>
        </p:nvSpPr>
        <p:spPr>
          <a:xfrm>
            <a:off x="1600200" y="2103120"/>
            <a:ext cx="2103120" cy="54864"/>
          </a:xfrm>
          <a:prstGeom prst="line">
            <a:avLst/>
          </a:prstGeom>
          <a:noFill/>
          <a:ln w="11430">
            <a:solidFill>
              <a:srgbClr val="AAB6B8"/>
            </a:solidFill>
            <a:prstDash val="solid"/>
            <a:headEnd type="none"/>
            <a:tailEnd type="none"/>
          </a:ln>
        </p:spPr>
      </p:sp>
      <p:sp>
        <p:nvSpPr>
          <p:cNvPr id="31" name="Shape 26"/>
          <p:cNvSpPr/>
          <p:nvPr/>
        </p:nvSpPr>
        <p:spPr>
          <a:xfrm>
            <a:off x="1600200" y="2103120"/>
            <a:ext cx="2103120" cy="1060704"/>
          </a:xfrm>
          <a:prstGeom prst="line">
            <a:avLst/>
          </a:prstGeom>
          <a:noFill/>
          <a:ln w="11430">
            <a:solidFill>
              <a:srgbClr val="AAB6B8"/>
            </a:solidFill>
            <a:prstDash val="solid"/>
            <a:headEnd type="none"/>
            <a:tailEnd type="none"/>
          </a:ln>
        </p:spPr>
      </p:sp>
      <p:sp>
        <p:nvSpPr>
          <p:cNvPr id="32" name="Shape 27"/>
          <p:cNvSpPr/>
          <p:nvPr/>
        </p:nvSpPr>
        <p:spPr>
          <a:xfrm>
            <a:off x="1600200" y="2103120"/>
            <a:ext cx="4800600" cy="2066544"/>
          </a:xfrm>
          <a:prstGeom prst="line">
            <a:avLst/>
          </a:prstGeom>
          <a:noFill/>
          <a:ln w="11430">
            <a:solidFill>
              <a:srgbClr val="AAB6B8"/>
            </a:solidFill>
            <a:prstDash val="solid"/>
            <a:headEnd type="none"/>
            <a:tailEnd type="none"/>
          </a:ln>
        </p:spPr>
      </p:sp>
      <p:sp>
        <p:nvSpPr>
          <p:cNvPr id="33" name="Shape 28"/>
          <p:cNvSpPr/>
          <p:nvPr/>
        </p:nvSpPr>
        <p:spPr>
          <a:xfrm>
            <a:off x="1600200" y="2103120"/>
            <a:ext cx="4800600" cy="3072384"/>
          </a:xfrm>
          <a:prstGeom prst="line">
            <a:avLst/>
          </a:prstGeom>
          <a:noFill/>
          <a:ln w="11430">
            <a:solidFill>
              <a:srgbClr val="AAB6B8"/>
            </a:solidFill>
            <a:prstDash val="solid"/>
            <a:headEnd type="none"/>
            <a:tailEnd type="none"/>
          </a:ln>
        </p:spPr>
      </p:sp>
      <p:sp>
        <p:nvSpPr>
          <p:cNvPr id="34" name="Shape 29"/>
          <p:cNvSpPr/>
          <p:nvPr/>
        </p:nvSpPr>
        <p:spPr>
          <a:xfrm>
            <a:off x="1600200" y="4709160"/>
            <a:ext cx="4800600" cy="-2551176"/>
          </a:xfrm>
          <a:prstGeom prst="line">
            <a:avLst/>
          </a:prstGeom>
          <a:noFill/>
          <a:ln w="11430">
            <a:solidFill>
              <a:srgbClr val="AAB6B8"/>
            </a:solidFill>
            <a:prstDash val="solid"/>
            <a:headEnd type="none"/>
            <a:tailEnd type="none"/>
          </a:ln>
        </p:spPr>
      </p:sp>
      <p:sp>
        <p:nvSpPr>
          <p:cNvPr id="35" name="Shape 30"/>
          <p:cNvSpPr/>
          <p:nvPr/>
        </p:nvSpPr>
        <p:spPr>
          <a:xfrm>
            <a:off x="1600200" y="4709160"/>
            <a:ext cx="4800600" cy="-1545336"/>
          </a:xfrm>
          <a:prstGeom prst="line">
            <a:avLst/>
          </a:prstGeom>
          <a:noFill/>
          <a:ln w="11430">
            <a:solidFill>
              <a:srgbClr val="AAB6B8"/>
            </a:solidFill>
            <a:prstDash val="solid"/>
            <a:headEnd type="none"/>
            <a:tailEnd type="none"/>
          </a:ln>
        </p:spPr>
      </p:sp>
      <p:sp>
        <p:nvSpPr>
          <p:cNvPr id="36" name="Shape 31"/>
          <p:cNvSpPr/>
          <p:nvPr/>
        </p:nvSpPr>
        <p:spPr>
          <a:xfrm>
            <a:off x="1600200" y="4709160"/>
            <a:ext cx="2103120" cy="-539496"/>
          </a:xfrm>
          <a:prstGeom prst="line">
            <a:avLst/>
          </a:prstGeom>
          <a:noFill/>
          <a:ln w="11430">
            <a:solidFill>
              <a:srgbClr val="AAB6B8"/>
            </a:solidFill>
            <a:prstDash val="solid"/>
            <a:headEnd type="none"/>
            <a:tailEnd type="none"/>
          </a:ln>
        </p:spPr>
      </p:sp>
      <p:sp>
        <p:nvSpPr>
          <p:cNvPr id="37" name="Shape 32"/>
          <p:cNvSpPr/>
          <p:nvPr/>
        </p:nvSpPr>
        <p:spPr>
          <a:xfrm>
            <a:off x="10378440" y="3163824"/>
            <a:ext cx="-1737360" cy="2011680"/>
          </a:xfrm>
          <a:prstGeom prst="line">
            <a:avLst/>
          </a:prstGeom>
          <a:noFill/>
          <a:ln w="11430">
            <a:solidFill>
              <a:srgbClr val="AAB6B8"/>
            </a:solidFill>
            <a:prstDash val="solid"/>
            <a:headEnd type="none"/>
            <a:tailEnd type="none"/>
          </a:ln>
        </p:spPr>
      </p:sp>
      <p:sp>
        <p:nvSpPr>
          <p:cNvPr id="38" name="Shape 33"/>
          <p:cNvSpPr/>
          <p:nvPr/>
        </p:nvSpPr>
        <p:spPr>
          <a:xfrm>
            <a:off x="10378440" y="3163824"/>
            <a:ext cx="-4434840" cy="2011680"/>
          </a:xfrm>
          <a:prstGeom prst="line">
            <a:avLst/>
          </a:prstGeom>
          <a:noFill/>
          <a:ln w="11430">
            <a:solidFill>
              <a:srgbClr val="AAB6B8"/>
            </a:solidFill>
            <a:prstDash val="solid"/>
            <a:headEnd type="none"/>
            <a:tailEnd type="none"/>
          </a:ln>
        </p:spPr>
      </p:sp>
      <p:sp>
        <p:nvSpPr>
          <p:cNvPr id="25" name="Slide Number Placeholder 0"/>
          <p:cNvSpPr>
            <a:spLocks noGrp="1"/>
          </p:cNvSpPr>
          <p:nvPr>
            <p:ph type="sldNum" sz="quarter" idx="4294967295"/>
          </p:nvPr>
        </p:nvSpPr>
        <p:spPr>
          <a:xfrm>
            <a:off x="11750040" y="649224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latin typeface="Carlito"/>
                <a:ea typeface="Carlito"/>
                <a:cs typeface="Carlito"/>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40080" y="411480"/>
            <a:ext cx="10698480" cy="438912"/>
          </a:xfrm>
          <a:prstGeom prst="rect">
            <a:avLst/>
          </a:prstGeom>
          <a:noFill/>
          <a:ln/>
        </p:spPr>
        <p:txBody>
          <a:bodyPr wrap="square" lIns="0" tIns="0" rIns="0" bIns="0" rtlCol="0" anchor="ctr"/>
          <a:lstStyle/>
          <a:p>
            <a:pPr indent="0" marL="0">
              <a:buNone/>
            </a:pPr>
            <a:r>
              <a:rPr lang="en-US" sz="2500" b="1" dirty="0">
                <a:solidFill>
                  <a:srgbClr val="163A45"/>
                </a:solidFill>
                <a:latin typeface="Carlito" pitchFamily="34" charset="0"/>
                <a:ea typeface="Carlito" pitchFamily="34" charset="-122"/>
                <a:cs typeface="Carlito" pitchFamily="34" charset="-120"/>
              </a:rPr>
              <a:t>User Stories — Prasamsha Dahal</a:t>
            </a:r>
            <a:endParaRPr lang="en-US" sz="2500" dirty="0"/>
          </a:p>
        </p:txBody>
      </p:sp>
      <p:sp>
        <p:nvSpPr>
          <p:cNvPr id="3" name="Text 1"/>
          <p:cNvSpPr/>
          <p:nvPr/>
        </p:nvSpPr>
        <p:spPr>
          <a:xfrm>
            <a:off x="658368" y="877824"/>
            <a:ext cx="10789920" cy="310896"/>
          </a:xfrm>
          <a:prstGeom prst="rect">
            <a:avLst/>
          </a:prstGeom>
          <a:noFill/>
          <a:ln/>
        </p:spPr>
        <p:txBody>
          <a:bodyPr wrap="square" lIns="0" tIns="0" rIns="0" bIns="0" rtlCol="0" anchor="ctr"/>
          <a:lstStyle/>
          <a:p>
            <a:pPr indent="0" marL="0">
              <a:buNone/>
            </a:pPr>
            <a:r>
              <a:rPr lang="en-US" sz="1250" dirty="0">
                <a:solidFill>
                  <a:srgbClr val="6B7280"/>
                </a:solidFill>
                <a:latin typeface="Carlito" pitchFamily="34" charset="0"/>
                <a:ea typeface="Carlito" pitchFamily="34" charset="-122"/>
                <a:cs typeface="Carlito" pitchFamily="34" charset="-120"/>
              </a:rPr>
              <a:t>Individual contribution focus: Agent &amp; Vendor</a:t>
            </a:r>
            <a:endParaRPr lang="en-US" sz="1250" dirty="0"/>
          </a:p>
        </p:txBody>
      </p:sp>
      <p:sp>
        <p:nvSpPr>
          <p:cNvPr id="4" name="Shape 2"/>
          <p:cNvSpPr/>
          <p:nvPr/>
        </p:nvSpPr>
        <p:spPr>
          <a:xfrm>
            <a:off x="9674352" y="457200"/>
            <a:ext cx="1810512" cy="347472"/>
          </a:xfrm>
          <a:prstGeom prst="roundRect">
            <a:avLst>
              <a:gd name="adj" fmla="val 15789"/>
            </a:avLst>
          </a:prstGeom>
          <a:solidFill>
            <a:srgbClr val="EEE2CD"/>
          </a:solidFill>
          <a:ln w="12700">
            <a:solidFill>
              <a:srgbClr val="EEE2CD"/>
            </a:solidFill>
            <a:prstDash val="solid"/>
          </a:ln>
        </p:spPr>
      </p:sp>
      <p:sp>
        <p:nvSpPr>
          <p:cNvPr id="5" name="Text 3"/>
          <p:cNvSpPr/>
          <p:nvPr/>
        </p:nvSpPr>
        <p:spPr>
          <a:xfrm>
            <a:off x="9747504" y="548640"/>
            <a:ext cx="1664208" cy="137160"/>
          </a:xfrm>
          <a:prstGeom prst="rect">
            <a:avLst/>
          </a:prstGeom>
          <a:noFill/>
          <a:ln/>
        </p:spPr>
        <p:txBody>
          <a:bodyPr wrap="square" lIns="0" tIns="0" rIns="0" bIns="0" rtlCol="0" anchor="ctr"/>
          <a:lstStyle/>
          <a:p>
            <a:pPr algn="ctr" indent="0" marL="0">
              <a:buNone/>
            </a:pPr>
            <a:r>
              <a:rPr lang="en-US" sz="970" b="1" dirty="0">
                <a:solidFill>
                  <a:srgbClr val="163A45"/>
                </a:solidFill>
              </a:rPr>
              <a:t>Speaker: Prasamsha</a:t>
            </a:r>
            <a:endParaRPr lang="en-US" sz="970" dirty="0"/>
          </a:p>
        </p:txBody>
      </p:sp>
      <p:sp>
        <p:nvSpPr>
          <p:cNvPr id="6" name="Shape 4"/>
          <p:cNvSpPr/>
          <p:nvPr/>
        </p:nvSpPr>
        <p:spPr>
          <a:xfrm>
            <a:off x="777240" y="1417320"/>
            <a:ext cx="3493008" cy="4389120"/>
          </a:xfrm>
          <a:prstGeom prst="roundRect">
            <a:avLst>
              <a:gd name="adj" fmla="val 2094"/>
            </a:avLst>
          </a:prstGeom>
          <a:solidFill>
            <a:srgbClr val="FFFFFF"/>
          </a:solidFill>
          <a:ln w="12700">
            <a:solidFill>
              <a:srgbClr val="D8DEDF"/>
            </a:solidFill>
            <a:prstDash val="solid"/>
          </a:ln>
          <a:effectLst>
            <a:outerShdw sx="100000" sy="100000" kx="0" ky="0" algn="bl" rotWithShape="0" blurRad="19050" dist="50800" dir="2700000">
              <a:srgbClr val="C5CBCB">
                <a:alpha val="18000"/>
              </a:srgbClr>
            </a:outerShdw>
          </a:effectLst>
        </p:spPr>
      </p:sp>
      <p:sp>
        <p:nvSpPr>
          <p:cNvPr id="7" name="Shape 5"/>
          <p:cNvSpPr/>
          <p:nvPr/>
        </p:nvSpPr>
        <p:spPr>
          <a:xfrm>
            <a:off x="978408" y="1618488"/>
            <a:ext cx="512064" cy="512064"/>
          </a:xfrm>
          <a:prstGeom prst="ellipse">
            <a:avLst/>
          </a:prstGeom>
          <a:solidFill>
            <a:srgbClr val="1F5A5A">
              <a:alpha val="12000"/>
            </a:srgbClr>
          </a:solidFill>
          <a:ln w="12700">
            <a:solidFill>
              <a:srgbClr val="1F5A5A">
                <a:alpha val="0"/>
              </a:srgbClr>
            </a:solidFill>
            <a:prstDash val="solid"/>
          </a:ln>
        </p:spPr>
      </p:sp>
      <p:pic>
        <p:nvPicPr>
          <p:cNvPr id="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97280" y="1737360"/>
            <a:ext cx="274320" cy="274320"/>
          </a:xfrm>
          <a:prstGeom prst="rect">
            <a:avLst/>
          </a:prstGeom>
        </p:spPr>
      </p:pic>
      <p:sp>
        <p:nvSpPr>
          <p:cNvPr id="9" name="Text 6"/>
          <p:cNvSpPr/>
          <p:nvPr/>
        </p:nvSpPr>
        <p:spPr>
          <a:xfrm>
            <a:off x="1618488" y="1645920"/>
            <a:ext cx="2441448" cy="256032"/>
          </a:xfrm>
          <a:prstGeom prst="rect">
            <a:avLst/>
          </a:prstGeom>
          <a:noFill/>
          <a:ln/>
        </p:spPr>
        <p:txBody>
          <a:bodyPr wrap="square" lIns="0" tIns="0" rIns="0" bIns="0" rtlCol="0" anchor="ctr"/>
          <a:lstStyle/>
          <a:p>
            <a:pPr indent="0" marL="0">
              <a:buNone/>
            </a:pPr>
            <a:r>
              <a:rPr lang="en-US" sz="1550" b="1" dirty="0">
                <a:solidFill>
                  <a:srgbClr val="1F2937"/>
                </a:solidFill>
              </a:rPr>
              <a:t>Story 1</a:t>
            </a:r>
            <a:endParaRPr lang="en-US" sz="1550" dirty="0"/>
          </a:p>
        </p:txBody>
      </p:sp>
      <p:sp>
        <p:nvSpPr>
          <p:cNvPr id="10" name="Text 7"/>
          <p:cNvSpPr/>
          <p:nvPr/>
        </p:nvSpPr>
        <p:spPr>
          <a:xfrm>
            <a:off x="1618488" y="1984248"/>
            <a:ext cx="2441448" cy="3657600"/>
          </a:xfrm>
          <a:prstGeom prst="rect">
            <a:avLst/>
          </a:prstGeom>
          <a:noFill/>
          <a:ln/>
        </p:spPr>
        <p:txBody>
          <a:bodyPr wrap="square" lIns="127" tIns="127" rIns="127" bIns="127" rtlCol="0" anchor="t">
            <a:normAutofit/>
          </a:bodyPr>
          <a:lstStyle/>
          <a:p>
            <a:pPr indent="0" marL="0">
              <a:buNone/>
            </a:pPr>
            <a:r>
              <a:rPr lang="en-US" sz="1120" dirty="0">
                <a:solidFill>
                  <a:srgbClr val="6B7280"/>
                </a:solidFill>
              </a:rPr>
              <a:t>As an agent, I want to create and update property listings so that the agency always has current information.</a:t>
            </a:r>
            <a:endParaRPr lang="en-US" sz="1120" dirty="0"/>
          </a:p>
        </p:txBody>
      </p:sp>
      <p:sp>
        <p:nvSpPr>
          <p:cNvPr id="11" name="Shape 8"/>
          <p:cNvSpPr/>
          <p:nvPr/>
        </p:nvSpPr>
        <p:spPr>
          <a:xfrm>
            <a:off x="4352544" y="1417320"/>
            <a:ext cx="3493008" cy="4389120"/>
          </a:xfrm>
          <a:prstGeom prst="roundRect">
            <a:avLst>
              <a:gd name="adj" fmla="val 2094"/>
            </a:avLst>
          </a:prstGeom>
          <a:solidFill>
            <a:srgbClr val="FFFFFF"/>
          </a:solidFill>
          <a:ln w="12700">
            <a:solidFill>
              <a:srgbClr val="D8DEDF"/>
            </a:solidFill>
            <a:prstDash val="solid"/>
          </a:ln>
          <a:effectLst>
            <a:outerShdw sx="100000" sy="100000" kx="0" ky="0" algn="bl" rotWithShape="0" blurRad="19050" dist="50800" dir="2700000">
              <a:srgbClr val="C5CBCB">
                <a:alpha val="18000"/>
              </a:srgbClr>
            </a:outerShdw>
          </a:effectLst>
        </p:spPr>
      </p:sp>
      <p:sp>
        <p:nvSpPr>
          <p:cNvPr id="12" name="Shape 9"/>
          <p:cNvSpPr/>
          <p:nvPr/>
        </p:nvSpPr>
        <p:spPr>
          <a:xfrm>
            <a:off x="4553712" y="1618488"/>
            <a:ext cx="512064" cy="512064"/>
          </a:xfrm>
          <a:prstGeom prst="ellipse">
            <a:avLst/>
          </a:prstGeom>
          <a:solidFill>
            <a:srgbClr val="C96F47">
              <a:alpha val="12000"/>
            </a:srgbClr>
          </a:solidFill>
          <a:ln w="12700">
            <a:solidFill>
              <a:srgbClr val="C96F47">
                <a:alpha val="0"/>
              </a:srgbClr>
            </a:solidFill>
            <a:prstDash val="solid"/>
          </a:ln>
        </p:spPr>
      </p:sp>
      <p:pic>
        <p:nvPicPr>
          <p:cNvPr id="13"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672584" y="1737360"/>
            <a:ext cx="274320" cy="274320"/>
          </a:xfrm>
          <a:prstGeom prst="rect">
            <a:avLst/>
          </a:prstGeom>
        </p:spPr>
      </p:pic>
      <p:sp>
        <p:nvSpPr>
          <p:cNvPr id="14" name="Text 10"/>
          <p:cNvSpPr/>
          <p:nvPr/>
        </p:nvSpPr>
        <p:spPr>
          <a:xfrm>
            <a:off x="5193792" y="1645920"/>
            <a:ext cx="2441448" cy="256032"/>
          </a:xfrm>
          <a:prstGeom prst="rect">
            <a:avLst/>
          </a:prstGeom>
          <a:noFill/>
          <a:ln/>
        </p:spPr>
        <p:txBody>
          <a:bodyPr wrap="square" lIns="0" tIns="0" rIns="0" bIns="0" rtlCol="0" anchor="ctr"/>
          <a:lstStyle/>
          <a:p>
            <a:pPr indent="0" marL="0">
              <a:buNone/>
            </a:pPr>
            <a:r>
              <a:rPr lang="en-US" sz="1550" b="1" dirty="0">
                <a:solidFill>
                  <a:srgbClr val="1F2937"/>
                </a:solidFill>
              </a:rPr>
              <a:t>Story 2</a:t>
            </a:r>
            <a:endParaRPr lang="en-US" sz="1550" dirty="0"/>
          </a:p>
        </p:txBody>
      </p:sp>
      <p:sp>
        <p:nvSpPr>
          <p:cNvPr id="15" name="Text 11"/>
          <p:cNvSpPr/>
          <p:nvPr/>
        </p:nvSpPr>
        <p:spPr>
          <a:xfrm>
            <a:off x="5193792" y="1984248"/>
            <a:ext cx="2441448" cy="3657600"/>
          </a:xfrm>
          <a:prstGeom prst="rect">
            <a:avLst/>
          </a:prstGeom>
          <a:noFill/>
          <a:ln/>
        </p:spPr>
        <p:txBody>
          <a:bodyPr wrap="square" lIns="127" tIns="127" rIns="127" bIns="127" rtlCol="0" anchor="t">
            <a:normAutofit/>
          </a:bodyPr>
          <a:lstStyle/>
          <a:p>
            <a:pPr indent="0" marL="0">
              <a:buNone/>
            </a:pPr>
            <a:r>
              <a:rPr lang="en-US" sz="1120" dirty="0">
                <a:solidFill>
                  <a:srgbClr val="6B7280"/>
                </a:solidFill>
              </a:rPr>
              <a:t>As an agent, I want each property linked to the correct vendor and handling agent so that ownership and responsibility are clear.</a:t>
            </a:r>
            <a:endParaRPr lang="en-US" sz="1120" dirty="0"/>
          </a:p>
        </p:txBody>
      </p:sp>
      <p:sp>
        <p:nvSpPr>
          <p:cNvPr id="16" name="Shape 12"/>
          <p:cNvSpPr/>
          <p:nvPr/>
        </p:nvSpPr>
        <p:spPr>
          <a:xfrm>
            <a:off x="7927848" y="1417320"/>
            <a:ext cx="3493008" cy="4389120"/>
          </a:xfrm>
          <a:prstGeom prst="roundRect">
            <a:avLst>
              <a:gd name="adj" fmla="val 2094"/>
            </a:avLst>
          </a:prstGeom>
          <a:solidFill>
            <a:srgbClr val="FFFFFF"/>
          </a:solidFill>
          <a:ln w="12700">
            <a:solidFill>
              <a:srgbClr val="D8DEDF"/>
            </a:solidFill>
            <a:prstDash val="solid"/>
          </a:ln>
          <a:effectLst>
            <a:outerShdw sx="100000" sy="100000" kx="0" ky="0" algn="bl" rotWithShape="0" blurRad="19050" dist="50800" dir="2700000">
              <a:srgbClr val="C5CBCB">
                <a:alpha val="18000"/>
              </a:srgbClr>
            </a:outerShdw>
          </a:effectLst>
        </p:spPr>
      </p:sp>
      <p:sp>
        <p:nvSpPr>
          <p:cNvPr id="17" name="Shape 13"/>
          <p:cNvSpPr/>
          <p:nvPr/>
        </p:nvSpPr>
        <p:spPr>
          <a:xfrm>
            <a:off x="8129016" y="1618488"/>
            <a:ext cx="512064" cy="512064"/>
          </a:xfrm>
          <a:prstGeom prst="ellipse">
            <a:avLst/>
          </a:prstGeom>
          <a:solidFill>
            <a:srgbClr val="4B7A6A">
              <a:alpha val="12000"/>
            </a:srgbClr>
          </a:solidFill>
          <a:ln w="12700">
            <a:solidFill>
              <a:srgbClr val="4B7A6A">
                <a:alpha val="0"/>
              </a:srgbClr>
            </a:solidFill>
            <a:prstDash val="solid"/>
          </a:ln>
        </p:spPr>
      </p:sp>
      <p:pic>
        <p:nvPicPr>
          <p:cNvPr id="18"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247888" y="1737360"/>
            <a:ext cx="274320" cy="274320"/>
          </a:xfrm>
          <a:prstGeom prst="rect">
            <a:avLst/>
          </a:prstGeom>
        </p:spPr>
      </p:pic>
      <p:sp>
        <p:nvSpPr>
          <p:cNvPr id="19" name="Text 14"/>
          <p:cNvSpPr/>
          <p:nvPr/>
        </p:nvSpPr>
        <p:spPr>
          <a:xfrm>
            <a:off x="8769096" y="1645920"/>
            <a:ext cx="2441448" cy="256032"/>
          </a:xfrm>
          <a:prstGeom prst="rect">
            <a:avLst/>
          </a:prstGeom>
          <a:noFill/>
          <a:ln/>
        </p:spPr>
        <p:txBody>
          <a:bodyPr wrap="square" lIns="0" tIns="0" rIns="0" bIns="0" rtlCol="0" anchor="ctr"/>
          <a:lstStyle/>
          <a:p>
            <a:pPr indent="0" marL="0">
              <a:buNone/>
            </a:pPr>
            <a:r>
              <a:rPr lang="en-US" sz="1550" b="1" dirty="0">
                <a:solidFill>
                  <a:srgbClr val="1F2937"/>
                </a:solidFill>
              </a:rPr>
              <a:t>Story 3</a:t>
            </a:r>
            <a:endParaRPr lang="en-US" sz="1550" dirty="0"/>
          </a:p>
        </p:txBody>
      </p:sp>
      <p:sp>
        <p:nvSpPr>
          <p:cNvPr id="20" name="Text 15"/>
          <p:cNvSpPr/>
          <p:nvPr/>
        </p:nvSpPr>
        <p:spPr>
          <a:xfrm>
            <a:off x="8769096" y="1984248"/>
            <a:ext cx="2441448" cy="3657600"/>
          </a:xfrm>
          <a:prstGeom prst="rect">
            <a:avLst/>
          </a:prstGeom>
          <a:noFill/>
          <a:ln/>
        </p:spPr>
        <p:txBody>
          <a:bodyPr wrap="square" lIns="127" tIns="127" rIns="127" bIns="127" rtlCol="0" anchor="t">
            <a:normAutofit/>
          </a:bodyPr>
          <a:lstStyle/>
          <a:p>
            <a:pPr indent="0" marL="0">
              <a:buNone/>
            </a:pPr>
            <a:r>
              <a:rPr lang="en-US" sz="1120" dirty="0">
                <a:solidFill>
                  <a:srgbClr val="6B7280"/>
                </a:solidFill>
              </a:rPr>
              <a:t>As an agent or manager, I want commission rates connected to staff records so that sale commission can be calculated consistently.</a:t>
            </a:r>
            <a:endParaRPr lang="en-US" sz="1120" dirty="0"/>
          </a:p>
        </p:txBody>
      </p:sp>
      <p:sp>
        <p:nvSpPr>
          <p:cNvPr id="21" name="Shape 16"/>
          <p:cNvSpPr/>
          <p:nvPr/>
        </p:nvSpPr>
        <p:spPr>
          <a:xfrm>
            <a:off x="4480560" y="5897880"/>
            <a:ext cx="3246120" cy="329184"/>
          </a:xfrm>
          <a:prstGeom prst="roundRect">
            <a:avLst>
              <a:gd name="adj" fmla="val 19444"/>
            </a:avLst>
          </a:prstGeom>
          <a:solidFill>
            <a:srgbClr val="EEE2CD"/>
          </a:solidFill>
          <a:ln w="12700">
            <a:solidFill>
              <a:srgbClr val="EEE2CD"/>
            </a:solidFill>
            <a:prstDash val="solid"/>
          </a:ln>
        </p:spPr>
      </p:sp>
      <p:sp>
        <p:nvSpPr>
          <p:cNvPr id="22" name="Text 17"/>
          <p:cNvSpPr/>
          <p:nvPr/>
        </p:nvSpPr>
        <p:spPr>
          <a:xfrm>
            <a:off x="4553712" y="5971032"/>
            <a:ext cx="3099816" cy="146304"/>
          </a:xfrm>
          <a:prstGeom prst="rect">
            <a:avLst/>
          </a:prstGeom>
          <a:noFill/>
          <a:ln/>
        </p:spPr>
        <p:txBody>
          <a:bodyPr wrap="square" lIns="0" tIns="0" rIns="0" bIns="0" rtlCol="0" anchor="ctr"/>
          <a:lstStyle/>
          <a:p>
            <a:pPr algn="ctr" indent="0" marL="0">
              <a:buNone/>
            </a:pPr>
            <a:r>
              <a:rPr lang="en-US" sz="1050" b="1" dirty="0">
                <a:solidFill>
                  <a:srgbClr val="163A45"/>
                </a:solidFill>
              </a:rPr>
              <a:t>Tables: AGENT + VENDOR</a:t>
            </a:r>
            <a:endParaRPr lang="en-US" sz="1050" dirty="0"/>
          </a:p>
        </p:txBody>
      </p:sp>
      <p:sp>
        <p:nvSpPr>
          <p:cNvPr id="25" name="Slide Number Placeholder 0"/>
          <p:cNvSpPr>
            <a:spLocks noGrp="1"/>
          </p:cNvSpPr>
          <p:nvPr>
            <p:ph type="sldNum" sz="quarter" idx="4294967295"/>
          </p:nvPr>
        </p:nvSpPr>
        <p:spPr>
          <a:xfrm>
            <a:off x="11750040" y="649224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latin typeface="Carlito"/>
                <a:ea typeface="Carlito"/>
                <a:cs typeface="Carlito"/>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40080" y="411480"/>
            <a:ext cx="10698480" cy="438912"/>
          </a:xfrm>
          <a:prstGeom prst="rect">
            <a:avLst/>
          </a:prstGeom>
          <a:noFill/>
          <a:ln/>
        </p:spPr>
        <p:txBody>
          <a:bodyPr wrap="square" lIns="0" tIns="0" rIns="0" bIns="0" rtlCol="0" anchor="ctr"/>
          <a:lstStyle/>
          <a:p>
            <a:pPr indent="0" marL="0">
              <a:buNone/>
            </a:pPr>
            <a:r>
              <a:rPr lang="en-US" sz="2500" b="1" dirty="0">
                <a:solidFill>
                  <a:srgbClr val="163A45"/>
                </a:solidFill>
                <a:latin typeface="Carlito" pitchFamily="34" charset="0"/>
                <a:ea typeface="Carlito" pitchFamily="34" charset="-122"/>
                <a:cs typeface="Carlito" pitchFamily="34" charset="-120"/>
              </a:rPr>
              <a:t>User Stories — Harshdeep Kaur</a:t>
            </a:r>
            <a:endParaRPr lang="en-US" sz="2500" dirty="0"/>
          </a:p>
        </p:txBody>
      </p:sp>
      <p:sp>
        <p:nvSpPr>
          <p:cNvPr id="3" name="Text 1"/>
          <p:cNvSpPr/>
          <p:nvPr/>
        </p:nvSpPr>
        <p:spPr>
          <a:xfrm>
            <a:off x="658368" y="877824"/>
            <a:ext cx="10789920" cy="310896"/>
          </a:xfrm>
          <a:prstGeom prst="rect">
            <a:avLst/>
          </a:prstGeom>
          <a:noFill/>
          <a:ln/>
        </p:spPr>
        <p:txBody>
          <a:bodyPr wrap="square" lIns="0" tIns="0" rIns="0" bIns="0" rtlCol="0" anchor="ctr"/>
          <a:lstStyle/>
          <a:p>
            <a:pPr indent="0" marL="0">
              <a:buNone/>
            </a:pPr>
            <a:r>
              <a:rPr lang="en-US" sz="1250" dirty="0">
                <a:solidFill>
                  <a:srgbClr val="6B7280"/>
                </a:solidFill>
                <a:latin typeface="Carlito" pitchFamily="34" charset="0"/>
                <a:ea typeface="Carlito" pitchFamily="34" charset="-122"/>
                <a:cs typeface="Carlito" pitchFamily="34" charset="-120"/>
              </a:rPr>
              <a:t>Individual contribution focus: Buyer &amp; Property</a:t>
            </a:r>
            <a:endParaRPr lang="en-US" sz="1250" dirty="0"/>
          </a:p>
        </p:txBody>
      </p:sp>
      <p:sp>
        <p:nvSpPr>
          <p:cNvPr id="4" name="Shape 2"/>
          <p:cNvSpPr/>
          <p:nvPr/>
        </p:nvSpPr>
        <p:spPr>
          <a:xfrm>
            <a:off x="9674352" y="457200"/>
            <a:ext cx="1810512" cy="347472"/>
          </a:xfrm>
          <a:prstGeom prst="roundRect">
            <a:avLst>
              <a:gd name="adj" fmla="val 15789"/>
            </a:avLst>
          </a:prstGeom>
          <a:solidFill>
            <a:srgbClr val="EEE2CD"/>
          </a:solidFill>
          <a:ln w="12700">
            <a:solidFill>
              <a:srgbClr val="EEE2CD"/>
            </a:solidFill>
            <a:prstDash val="solid"/>
          </a:ln>
        </p:spPr>
      </p:sp>
      <p:sp>
        <p:nvSpPr>
          <p:cNvPr id="5" name="Text 3"/>
          <p:cNvSpPr/>
          <p:nvPr/>
        </p:nvSpPr>
        <p:spPr>
          <a:xfrm>
            <a:off x="9747504" y="548640"/>
            <a:ext cx="1664208" cy="137160"/>
          </a:xfrm>
          <a:prstGeom prst="rect">
            <a:avLst/>
          </a:prstGeom>
          <a:noFill/>
          <a:ln/>
        </p:spPr>
        <p:txBody>
          <a:bodyPr wrap="square" lIns="0" tIns="0" rIns="0" bIns="0" rtlCol="0" anchor="ctr"/>
          <a:lstStyle/>
          <a:p>
            <a:pPr algn="ctr" indent="0" marL="0">
              <a:buNone/>
            </a:pPr>
            <a:r>
              <a:rPr lang="en-US" sz="970" b="1" dirty="0">
                <a:solidFill>
                  <a:srgbClr val="163A45"/>
                </a:solidFill>
              </a:rPr>
              <a:t>Speaker: Harshdeep</a:t>
            </a:r>
            <a:endParaRPr lang="en-US" sz="970" dirty="0"/>
          </a:p>
        </p:txBody>
      </p:sp>
      <p:sp>
        <p:nvSpPr>
          <p:cNvPr id="6" name="Shape 4"/>
          <p:cNvSpPr/>
          <p:nvPr/>
        </p:nvSpPr>
        <p:spPr>
          <a:xfrm>
            <a:off x="777240" y="1417320"/>
            <a:ext cx="3493008" cy="4389120"/>
          </a:xfrm>
          <a:prstGeom prst="roundRect">
            <a:avLst>
              <a:gd name="adj" fmla="val 2094"/>
            </a:avLst>
          </a:prstGeom>
          <a:solidFill>
            <a:srgbClr val="FFFFFF"/>
          </a:solidFill>
          <a:ln w="12700">
            <a:solidFill>
              <a:srgbClr val="D8DEDF"/>
            </a:solidFill>
            <a:prstDash val="solid"/>
          </a:ln>
          <a:effectLst>
            <a:outerShdw sx="100000" sy="100000" kx="0" ky="0" algn="bl" rotWithShape="0" blurRad="19050" dist="50800" dir="2700000">
              <a:srgbClr val="C5CBCB">
                <a:alpha val="18000"/>
              </a:srgbClr>
            </a:outerShdw>
          </a:effectLst>
        </p:spPr>
      </p:sp>
      <p:sp>
        <p:nvSpPr>
          <p:cNvPr id="7" name="Shape 5"/>
          <p:cNvSpPr/>
          <p:nvPr/>
        </p:nvSpPr>
        <p:spPr>
          <a:xfrm>
            <a:off x="978408" y="1618488"/>
            <a:ext cx="512064" cy="512064"/>
          </a:xfrm>
          <a:prstGeom prst="ellipse">
            <a:avLst/>
          </a:prstGeom>
          <a:solidFill>
            <a:srgbClr val="1F5A5A">
              <a:alpha val="12000"/>
            </a:srgbClr>
          </a:solidFill>
          <a:ln w="12700">
            <a:solidFill>
              <a:srgbClr val="1F5A5A">
                <a:alpha val="0"/>
              </a:srgbClr>
            </a:solidFill>
            <a:prstDash val="solid"/>
          </a:ln>
        </p:spPr>
      </p:sp>
      <p:pic>
        <p:nvPicPr>
          <p:cNvPr id="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97280" y="1737360"/>
            <a:ext cx="274320" cy="274320"/>
          </a:xfrm>
          <a:prstGeom prst="rect">
            <a:avLst/>
          </a:prstGeom>
        </p:spPr>
      </p:pic>
      <p:sp>
        <p:nvSpPr>
          <p:cNvPr id="9" name="Text 6"/>
          <p:cNvSpPr/>
          <p:nvPr/>
        </p:nvSpPr>
        <p:spPr>
          <a:xfrm>
            <a:off x="1618488" y="1645920"/>
            <a:ext cx="2441448" cy="256032"/>
          </a:xfrm>
          <a:prstGeom prst="rect">
            <a:avLst/>
          </a:prstGeom>
          <a:noFill/>
          <a:ln/>
        </p:spPr>
        <p:txBody>
          <a:bodyPr wrap="square" lIns="0" tIns="0" rIns="0" bIns="0" rtlCol="0" anchor="ctr"/>
          <a:lstStyle/>
          <a:p>
            <a:pPr indent="0" marL="0">
              <a:buNone/>
            </a:pPr>
            <a:r>
              <a:rPr lang="en-US" sz="1550" b="1" dirty="0">
                <a:solidFill>
                  <a:srgbClr val="1F2937"/>
                </a:solidFill>
              </a:rPr>
              <a:t>Story 1</a:t>
            </a:r>
            <a:endParaRPr lang="en-US" sz="1550" dirty="0"/>
          </a:p>
        </p:txBody>
      </p:sp>
      <p:sp>
        <p:nvSpPr>
          <p:cNvPr id="10" name="Text 7"/>
          <p:cNvSpPr/>
          <p:nvPr/>
        </p:nvSpPr>
        <p:spPr>
          <a:xfrm>
            <a:off x="1618488" y="1984248"/>
            <a:ext cx="2441448" cy="3657600"/>
          </a:xfrm>
          <a:prstGeom prst="rect">
            <a:avLst/>
          </a:prstGeom>
          <a:noFill/>
          <a:ln/>
        </p:spPr>
        <p:txBody>
          <a:bodyPr wrap="square" lIns="127" tIns="127" rIns="127" bIns="127" rtlCol="0" anchor="t">
            <a:normAutofit/>
          </a:bodyPr>
          <a:lstStyle/>
          <a:p>
            <a:pPr indent="0" marL="0">
              <a:buNone/>
            </a:pPr>
            <a:r>
              <a:rPr lang="en-US" sz="1120" dirty="0">
                <a:solidFill>
                  <a:srgbClr val="6B7280"/>
                </a:solidFill>
              </a:rPr>
              <a:t>As admin staff, I want to register buyers with a budget and preferences so that their needs can be stored and searched.</a:t>
            </a:r>
            <a:endParaRPr lang="en-US" sz="1120" dirty="0"/>
          </a:p>
        </p:txBody>
      </p:sp>
      <p:sp>
        <p:nvSpPr>
          <p:cNvPr id="11" name="Shape 8"/>
          <p:cNvSpPr/>
          <p:nvPr/>
        </p:nvSpPr>
        <p:spPr>
          <a:xfrm>
            <a:off x="4352544" y="1417320"/>
            <a:ext cx="3493008" cy="4389120"/>
          </a:xfrm>
          <a:prstGeom prst="roundRect">
            <a:avLst>
              <a:gd name="adj" fmla="val 2094"/>
            </a:avLst>
          </a:prstGeom>
          <a:solidFill>
            <a:srgbClr val="FFFFFF"/>
          </a:solidFill>
          <a:ln w="12700">
            <a:solidFill>
              <a:srgbClr val="D8DEDF"/>
            </a:solidFill>
            <a:prstDash val="solid"/>
          </a:ln>
          <a:effectLst>
            <a:outerShdw sx="100000" sy="100000" kx="0" ky="0" algn="bl" rotWithShape="0" blurRad="19050" dist="50800" dir="2700000">
              <a:srgbClr val="C5CBCB">
                <a:alpha val="18000"/>
              </a:srgbClr>
            </a:outerShdw>
          </a:effectLst>
        </p:spPr>
      </p:sp>
      <p:sp>
        <p:nvSpPr>
          <p:cNvPr id="12" name="Shape 9"/>
          <p:cNvSpPr/>
          <p:nvPr/>
        </p:nvSpPr>
        <p:spPr>
          <a:xfrm>
            <a:off x="4553712" y="1618488"/>
            <a:ext cx="512064" cy="512064"/>
          </a:xfrm>
          <a:prstGeom prst="ellipse">
            <a:avLst/>
          </a:prstGeom>
          <a:solidFill>
            <a:srgbClr val="C96F47">
              <a:alpha val="12000"/>
            </a:srgbClr>
          </a:solidFill>
          <a:ln w="12700">
            <a:solidFill>
              <a:srgbClr val="C96F47">
                <a:alpha val="0"/>
              </a:srgbClr>
            </a:solidFill>
            <a:prstDash val="solid"/>
          </a:ln>
        </p:spPr>
      </p:sp>
      <p:pic>
        <p:nvPicPr>
          <p:cNvPr id="13"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672584" y="1737360"/>
            <a:ext cx="274320" cy="274320"/>
          </a:xfrm>
          <a:prstGeom prst="rect">
            <a:avLst/>
          </a:prstGeom>
        </p:spPr>
      </p:pic>
      <p:sp>
        <p:nvSpPr>
          <p:cNvPr id="14" name="Text 10"/>
          <p:cNvSpPr/>
          <p:nvPr/>
        </p:nvSpPr>
        <p:spPr>
          <a:xfrm>
            <a:off x="5193792" y="1645920"/>
            <a:ext cx="2441448" cy="256032"/>
          </a:xfrm>
          <a:prstGeom prst="rect">
            <a:avLst/>
          </a:prstGeom>
          <a:noFill/>
          <a:ln/>
        </p:spPr>
        <p:txBody>
          <a:bodyPr wrap="square" lIns="0" tIns="0" rIns="0" bIns="0" rtlCol="0" anchor="ctr"/>
          <a:lstStyle/>
          <a:p>
            <a:pPr indent="0" marL="0">
              <a:buNone/>
            </a:pPr>
            <a:r>
              <a:rPr lang="en-US" sz="1550" b="1" dirty="0">
                <a:solidFill>
                  <a:srgbClr val="1F2937"/>
                </a:solidFill>
              </a:rPr>
              <a:t>Story 2</a:t>
            </a:r>
            <a:endParaRPr lang="en-US" sz="1550" dirty="0"/>
          </a:p>
        </p:txBody>
      </p:sp>
      <p:sp>
        <p:nvSpPr>
          <p:cNvPr id="15" name="Text 11"/>
          <p:cNvSpPr/>
          <p:nvPr/>
        </p:nvSpPr>
        <p:spPr>
          <a:xfrm>
            <a:off x="5193792" y="1984248"/>
            <a:ext cx="2441448" cy="3657600"/>
          </a:xfrm>
          <a:prstGeom prst="rect">
            <a:avLst/>
          </a:prstGeom>
          <a:noFill/>
          <a:ln/>
        </p:spPr>
        <p:txBody>
          <a:bodyPr wrap="square" lIns="127" tIns="127" rIns="127" bIns="127" rtlCol="0" anchor="t">
            <a:normAutofit/>
          </a:bodyPr>
          <a:lstStyle/>
          <a:p>
            <a:pPr indent="0" marL="0">
              <a:buNone/>
            </a:pPr>
            <a:r>
              <a:rPr lang="en-US" sz="1120" dirty="0">
                <a:solidFill>
                  <a:srgbClr val="6B7280"/>
                </a:solidFill>
              </a:rPr>
              <a:t>As an agent, I want to filter properties by price, status and other useful details so that I can find suitable listings quickly.</a:t>
            </a:r>
            <a:endParaRPr lang="en-US" sz="1120" dirty="0"/>
          </a:p>
        </p:txBody>
      </p:sp>
      <p:sp>
        <p:nvSpPr>
          <p:cNvPr id="16" name="Shape 12"/>
          <p:cNvSpPr/>
          <p:nvPr/>
        </p:nvSpPr>
        <p:spPr>
          <a:xfrm>
            <a:off x="7927848" y="1417320"/>
            <a:ext cx="3493008" cy="4389120"/>
          </a:xfrm>
          <a:prstGeom prst="roundRect">
            <a:avLst>
              <a:gd name="adj" fmla="val 2094"/>
            </a:avLst>
          </a:prstGeom>
          <a:solidFill>
            <a:srgbClr val="FFFFFF"/>
          </a:solidFill>
          <a:ln w="12700">
            <a:solidFill>
              <a:srgbClr val="D8DEDF"/>
            </a:solidFill>
            <a:prstDash val="solid"/>
          </a:ln>
          <a:effectLst>
            <a:outerShdw sx="100000" sy="100000" kx="0" ky="0" algn="bl" rotWithShape="0" blurRad="19050" dist="50800" dir="2700000">
              <a:srgbClr val="C5CBCB">
                <a:alpha val="18000"/>
              </a:srgbClr>
            </a:outerShdw>
          </a:effectLst>
        </p:spPr>
      </p:sp>
      <p:sp>
        <p:nvSpPr>
          <p:cNvPr id="17" name="Shape 13"/>
          <p:cNvSpPr/>
          <p:nvPr/>
        </p:nvSpPr>
        <p:spPr>
          <a:xfrm>
            <a:off x="8129016" y="1618488"/>
            <a:ext cx="512064" cy="512064"/>
          </a:xfrm>
          <a:prstGeom prst="ellipse">
            <a:avLst/>
          </a:prstGeom>
          <a:solidFill>
            <a:srgbClr val="4B7A6A">
              <a:alpha val="12000"/>
            </a:srgbClr>
          </a:solidFill>
          <a:ln w="12700">
            <a:solidFill>
              <a:srgbClr val="4B7A6A">
                <a:alpha val="0"/>
              </a:srgbClr>
            </a:solidFill>
            <a:prstDash val="solid"/>
          </a:ln>
        </p:spPr>
      </p:sp>
      <p:pic>
        <p:nvPicPr>
          <p:cNvPr id="18"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247888" y="1737360"/>
            <a:ext cx="274320" cy="274320"/>
          </a:xfrm>
          <a:prstGeom prst="rect">
            <a:avLst/>
          </a:prstGeom>
        </p:spPr>
      </p:pic>
      <p:sp>
        <p:nvSpPr>
          <p:cNvPr id="19" name="Text 14"/>
          <p:cNvSpPr/>
          <p:nvPr/>
        </p:nvSpPr>
        <p:spPr>
          <a:xfrm>
            <a:off x="8769096" y="1645920"/>
            <a:ext cx="2441448" cy="256032"/>
          </a:xfrm>
          <a:prstGeom prst="rect">
            <a:avLst/>
          </a:prstGeom>
          <a:noFill/>
          <a:ln/>
        </p:spPr>
        <p:txBody>
          <a:bodyPr wrap="square" lIns="0" tIns="0" rIns="0" bIns="0" rtlCol="0" anchor="ctr"/>
          <a:lstStyle/>
          <a:p>
            <a:pPr indent="0" marL="0">
              <a:buNone/>
            </a:pPr>
            <a:r>
              <a:rPr lang="en-US" sz="1550" b="1" dirty="0">
                <a:solidFill>
                  <a:srgbClr val="1F2937"/>
                </a:solidFill>
              </a:rPr>
              <a:t>Story 3</a:t>
            </a:r>
            <a:endParaRPr lang="en-US" sz="1550" dirty="0"/>
          </a:p>
        </p:txBody>
      </p:sp>
      <p:sp>
        <p:nvSpPr>
          <p:cNvPr id="20" name="Text 15"/>
          <p:cNvSpPr/>
          <p:nvPr/>
        </p:nvSpPr>
        <p:spPr>
          <a:xfrm>
            <a:off x="8769096" y="1984248"/>
            <a:ext cx="2441448" cy="3657600"/>
          </a:xfrm>
          <a:prstGeom prst="rect">
            <a:avLst/>
          </a:prstGeom>
          <a:noFill/>
          <a:ln/>
        </p:spPr>
        <p:txBody>
          <a:bodyPr wrap="square" lIns="127" tIns="127" rIns="127" bIns="127" rtlCol="0" anchor="t">
            <a:normAutofit/>
          </a:bodyPr>
          <a:lstStyle/>
          <a:p>
            <a:pPr indent="0" marL="0">
              <a:buNone/>
            </a:pPr>
            <a:r>
              <a:rPr lang="en-US" sz="1120" dirty="0">
                <a:solidFill>
                  <a:srgbClr val="6B7280"/>
                </a:solidFill>
              </a:rPr>
              <a:t>As an agent, I want to compare buyer preferences with available properties so that I can create a useful shortlist.</a:t>
            </a:r>
            <a:endParaRPr lang="en-US" sz="1120" dirty="0"/>
          </a:p>
        </p:txBody>
      </p:sp>
      <p:sp>
        <p:nvSpPr>
          <p:cNvPr id="21" name="Shape 16"/>
          <p:cNvSpPr/>
          <p:nvPr/>
        </p:nvSpPr>
        <p:spPr>
          <a:xfrm>
            <a:off x="4462272" y="5897880"/>
            <a:ext cx="3291840" cy="329184"/>
          </a:xfrm>
          <a:prstGeom prst="roundRect">
            <a:avLst>
              <a:gd name="adj" fmla="val 19444"/>
            </a:avLst>
          </a:prstGeom>
          <a:solidFill>
            <a:srgbClr val="EEE2CD"/>
          </a:solidFill>
          <a:ln w="12700">
            <a:solidFill>
              <a:srgbClr val="EEE2CD"/>
            </a:solidFill>
            <a:prstDash val="solid"/>
          </a:ln>
        </p:spPr>
      </p:sp>
      <p:sp>
        <p:nvSpPr>
          <p:cNvPr id="22" name="Text 17"/>
          <p:cNvSpPr/>
          <p:nvPr/>
        </p:nvSpPr>
        <p:spPr>
          <a:xfrm>
            <a:off x="4535424" y="5971032"/>
            <a:ext cx="3145536" cy="146304"/>
          </a:xfrm>
          <a:prstGeom prst="rect">
            <a:avLst/>
          </a:prstGeom>
          <a:noFill/>
          <a:ln/>
        </p:spPr>
        <p:txBody>
          <a:bodyPr wrap="square" lIns="0" tIns="0" rIns="0" bIns="0" rtlCol="0" anchor="ctr"/>
          <a:lstStyle/>
          <a:p>
            <a:pPr algn="ctr" indent="0" marL="0">
              <a:buNone/>
            </a:pPr>
            <a:r>
              <a:rPr lang="en-US" sz="1050" b="1" dirty="0">
                <a:solidFill>
                  <a:srgbClr val="163A45"/>
                </a:solidFill>
              </a:rPr>
              <a:t>Tables: BUYER + PROPERTY</a:t>
            </a:r>
            <a:endParaRPr lang="en-US" sz="1050" dirty="0"/>
          </a:p>
        </p:txBody>
      </p:sp>
      <p:sp>
        <p:nvSpPr>
          <p:cNvPr id="25" name="Slide Number Placeholder 0"/>
          <p:cNvSpPr>
            <a:spLocks noGrp="1"/>
          </p:cNvSpPr>
          <p:nvPr>
            <p:ph type="sldNum" sz="quarter" idx="4294967295"/>
          </p:nvPr>
        </p:nvSpPr>
        <p:spPr>
          <a:xfrm>
            <a:off x="11750040" y="649224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latin typeface="Carlito"/>
                <a:ea typeface="Carlito"/>
                <a:cs typeface="Carlito"/>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40080" y="411480"/>
            <a:ext cx="10698480" cy="438912"/>
          </a:xfrm>
          <a:prstGeom prst="rect">
            <a:avLst/>
          </a:prstGeom>
          <a:noFill/>
          <a:ln/>
        </p:spPr>
        <p:txBody>
          <a:bodyPr wrap="square" lIns="0" tIns="0" rIns="0" bIns="0" rtlCol="0" anchor="ctr"/>
          <a:lstStyle/>
          <a:p>
            <a:pPr indent="0" marL="0">
              <a:buNone/>
            </a:pPr>
            <a:r>
              <a:rPr lang="en-US" sz="2500" b="1" dirty="0">
                <a:solidFill>
                  <a:srgbClr val="163A45"/>
                </a:solidFill>
                <a:latin typeface="Carlito" pitchFamily="34" charset="0"/>
                <a:ea typeface="Carlito" pitchFamily="34" charset="-122"/>
                <a:cs typeface="Carlito" pitchFamily="34" charset="-120"/>
              </a:rPr>
              <a:t>User Stories — Varish Makra</a:t>
            </a:r>
            <a:endParaRPr lang="en-US" sz="2500" dirty="0"/>
          </a:p>
        </p:txBody>
      </p:sp>
      <p:sp>
        <p:nvSpPr>
          <p:cNvPr id="3" name="Text 1"/>
          <p:cNvSpPr/>
          <p:nvPr/>
        </p:nvSpPr>
        <p:spPr>
          <a:xfrm>
            <a:off x="658368" y="877824"/>
            <a:ext cx="10789920" cy="310896"/>
          </a:xfrm>
          <a:prstGeom prst="rect">
            <a:avLst/>
          </a:prstGeom>
          <a:noFill/>
          <a:ln/>
        </p:spPr>
        <p:txBody>
          <a:bodyPr wrap="square" lIns="0" tIns="0" rIns="0" bIns="0" rtlCol="0" anchor="ctr"/>
          <a:lstStyle/>
          <a:p>
            <a:pPr indent="0" marL="0">
              <a:buNone/>
            </a:pPr>
            <a:r>
              <a:rPr lang="en-US" sz="1250" dirty="0">
                <a:solidFill>
                  <a:srgbClr val="6B7280"/>
                </a:solidFill>
                <a:latin typeface="Carlito" pitchFamily="34" charset="0"/>
                <a:ea typeface="Carlito" pitchFamily="34" charset="-122"/>
                <a:cs typeface="Carlito" pitchFamily="34" charset="-120"/>
              </a:rPr>
              <a:t>Individual contribution focus: Viewing, Offer &amp; Sale</a:t>
            </a:r>
            <a:endParaRPr lang="en-US" sz="1250" dirty="0"/>
          </a:p>
        </p:txBody>
      </p:sp>
      <p:sp>
        <p:nvSpPr>
          <p:cNvPr id="4" name="Shape 2"/>
          <p:cNvSpPr/>
          <p:nvPr/>
        </p:nvSpPr>
        <p:spPr>
          <a:xfrm>
            <a:off x="9674352" y="457200"/>
            <a:ext cx="1810512" cy="347472"/>
          </a:xfrm>
          <a:prstGeom prst="roundRect">
            <a:avLst>
              <a:gd name="adj" fmla="val 15789"/>
            </a:avLst>
          </a:prstGeom>
          <a:solidFill>
            <a:srgbClr val="EEE2CD"/>
          </a:solidFill>
          <a:ln w="12700">
            <a:solidFill>
              <a:srgbClr val="EEE2CD"/>
            </a:solidFill>
            <a:prstDash val="solid"/>
          </a:ln>
        </p:spPr>
      </p:sp>
      <p:sp>
        <p:nvSpPr>
          <p:cNvPr id="5" name="Text 3"/>
          <p:cNvSpPr/>
          <p:nvPr/>
        </p:nvSpPr>
        <p:spPr>
          <a:xfrm>
            <a:off x="9747504" y="548640"/>
            <a:ext cx="1664208" cy="137160"/>
          </a:xfrm>
          <a:prstGeom prst="rect">
            <a:avLst/>
          </a:prstGeom>
          <a:noFill/>
          <a:ln/>
        </p:spPr>
        <p:txBody>
          <a:bodyPr wrap="square" lIns="0" tIns="0" rIns="0" bIns="0" rtlCol="0" anchor="ctr"/>
          <a:lstStyle/>
          <a:p>
            <a:pPr algn="ctr" indent="0" marL="0">
              <a:buNone/>
            </a:pPr>
            <a:r>
              <a:rPr lang="en-US" sz="970" b="1" dirty="0">
                <a:solidFill>
                  <a:srgbClr val="163A45"/>
                </a:solidFill>
              </a:rPr>
              <a:t>Speaker: Varish</a:t>
            </a:r>
            <a:endParaRPr lang="en-US" sz="970" dirty="0"/>
          </a:p>
        </p:txBody>
      </p:sp>
      <p:sp>
        <p:nvSpPr>
          <p:cNvPr id="6" name="Shape 4"/>
          <p:cNvSpPr/>
          <p:nvPr/>
        </p:nvSpPr>
        <p:spPr>
          <a:xfrm>
            <a:off x="777240" y="1417320"/>
            <a:ext cx="3493008" cy="4389120"/>
          </a:xfrm>
          <a:prstGeom prst="roundRect">
            <a:avLst>
              <a:gd name="adj" fmla="val 2094"/>
            </a:avLst>
          </a:prstGeom>
          <a:solidFill>
            <a:srgbClr val="FFFFFF"/>
          </a:solidFill>
          <a:ln w="12700">
            <a:solidFill>
              <a:srgbClr val="D8DEDF"/>
            </a:solidFill>
            <a:prstDash val="solid"/>
          </a:ln>
          <a:effectLst>
            <a:outerShdw sx="100000" sy="100000" kx="0" ky="0" algn="bl" rotWithShape="0" blurRad="19050" dist="50800" dir="2700000">
              <a:srgbClr val="C5CBCB">
                <a:alpha val="18000"/>
              </a:srgbClr>
            </a:outerShdw>
          </a:effectLst>
        </p:spPr>
      </p:sp>
      <p:sp>
        <p:nvSpPr>
          <p:cNvPr id="7" name="Shape 5"/>
          <p:cNvSpPr/>
          <p:nvPr/>
        </p:nvSpPr>
        <p:spPr>
          <a:xfrm>
            <a:off x="978408" y="1618488"/>
            <a:ext cx="512064" cy="512064"/>
          </a:xfrm>
          <a:prstGeom prst="ellipse">
            <a:avLst/>
          </a:prstGeom>
          <a:solidFill>
            <a:srgbClr val="1F5A5A">
              <a:alpha val="12000"/>
            </a:srgbClr>
          </a:solidFill>
          <a:ln w="12700">
            <a:solidFill>
              <a:srgbClr val="1F5A5A">
                <a:alpha val="0"/>
              </a:srgbClr>
            </a:solidFill>
            <a:prstDash val="solid"/>
          </a:ln>
        </p:spPr>
      </p:sp>
      <p:pic>
        <p:nvPicPr>
          <p:cNvPr id="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97280" y="1737360"/>
            <a:ext cx="274320" cy="274320"/>
          </a:xfrm>
          <a:prstGeom prst="rect">
            <a:avLst/>
          </a:prstGeom>
        </p:spPr>
      </p:pic>
      <p:sp>
        <p:nvSpPr>
          <p:cNvPr id="9" name="Text 6"/>
          <p:cNvSpPr/>
          <p:nvPr/>
        </p:nvSpPr>
        <p:spPr>
          <a:xfrm>
            <a:off x="1618488" y="1645920"/>
            <a:ext cx="2441448" cy="256032"/>
          </a:xfrm>
          <a:prstGeom prst="rect">
            <a:avLst/>
          </a:prstGeom>
          <a:noFill/>
          <a:ln/>
        </p:spPr>
        <p:txBody>
          <a:bodyPr wrap="square" lIns="0" tIns="0" rIns="0" bIns="0" rtlCol="0" anchor="ctr"/>
          <a:lstStyle/>
          <a:p>
            <a:pPr indent="0" marL="0">
              <a:buNone/>
            </a:pPr>
            <a:r>
              <a:rPr lang="en-US" sz="1550" b="1" dirty="0">
                <a:solidFill>
                  <a:srgbClr val="1F2937"/>
                </a:solidFill>
              </a:rPr>
              <a:t>Story 1</a:t>
            </a:r>
            <a:endParaRPr lang="en-US" sz="1550" dirty="0"/>
          </a:p>
        </p:txBody>
      </p:sp>
      <p:sp>
        <p:nvSpPr>
          <p:cNvPr id="10" name="Text 7"/>
          <p:cNvSpPr/>
          <p:nvPr/>
        </p:nvSpPr>
        <p:spPr>
          <a:xfrm>
            <a:off x="1618488" y="1984248"/>
            <a:ext cx="2441448" cy="3657600"/>
          </a:xfrm>
          <a:prstGeom prst="rect">
            <a:avLst/>
          </a:prstGeom>
          <a:noFill/>
          <a:ln/>
        </p:spPr>
        <p:txBody>
          <a:bodyPr wrap="square" lIns="127" tIns="127" rIns="127" bIns="127" rtlCol="0" anchor="t">
            <a:normAutofit/>
          </a:bodyPr>
          <a:lstStyle/>
          <a:p>
            <a:pPr indent="0" marL="0">
              <a:buNone/>
            </a:pPr>
            <a:r>
              <a:rPr lang="en-US" sz="1120" dirty="0">
                <a:solidFill>
                  <a:srgbClr val="6B7280"/>
                </a:solidFill>
              </a:rPr>
              <a:t>As an agent, I want to book viewings and record buyer feedback so that the property history is easy to follow.</a:t>
            </a:r>
            <a:endParaRPr lang="en-US" sz="1120" dirty="0"/>
          </a:p>
        </p:txBody>
      </p:sp>
      <p:sp>
        <p:nvSpPr>
          <p:cNvPr id="11" name="Shape 8"/>
          <p:cNvSpPr/>
          <p:nvPr/>
        </p:nvSpPr>
        <p:spPr>
          <a:xfrm>
            <a:off x="4352544" y="1417320"/>
            <a:ext cx="3493008" cy="4389120"/>
          </a:xfrm>
          <a:prstGeom prst="roundRect">
            <a:avLst>
              <a:gd name="adj" fmla="val 2094"/>
            </a:avLst>
          </a:prstGeom>
          <a:solidFill>
            <a:srgbClr val="FFFFFF"/>
          </a:solidFill>
          <a:ln w="12700">
            <a:solidFill>
              <a:srgbClr val="D8DEDF"/>
            </a:solidFill>
            <a:prstDash val="solid"/>
          </a:ln>
          <a:effectLst>
            <a:outerShdw sx="100000" sy="100000" kx="0" ky="0" algn="bl" rotWithShape="0" blurRad="19050" dist="50800" dir="2700000">
              <a:srgbClr val="C5CBCB">
                <a:alpha val="18000"/>
              </a:srgbClr>
            </a:outerShdw>
          </a:effectLst>
        </p:spPr>
      </p:sp>
      <p:sp>
        <p:nvSpPr>
          <p:cNvPr id="12" name="Shape 9"/>
          <p:cNvSpPr/>
          <p:nvPr/>
        </p:nvSpPr>
        <p:spPr>
          <a:xfrm>
            <a:off x="4553712" y="1618488"/>
            <a:ext cx="512064" cy="512064"/>
          </a:xfrm>
          <a:prstGeom prst="ellipse">
            <a:avLst/>
          </a:prstGeom>
          <a:solidFill>
            <a:srgbClr val="C96F47">
              <a:alpha val="12000"/>
            </a:srgbClr>
          </a:solidFill>
          <a:ln w="12700">
            <a:solidFill>
              <a:srgbClr val="C96F47">
                <a:alpha val="0"/>
              </a:srgbClr>
            </a:solidFill>
            <a:prstDash val="solid"/>
          </a:ln>
        </p:spPr>
      </p:sp>
      <p:pic>
        <p:nvPicPr>
          <p:cNvPr id="13"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672584" y="1737360"/>
            <a:ext cx="274320" cy="274320"/>
          </a:xfrm>
          <a:prstGeom prst="rect">
            <a:avLst/>
          </a:prstGeom>
        </p:spPr>
      </p:pic>
      <p:sp>
        <p:nvSpPr>
          <p:cNvPr id="14" name="Text 10"/>
          <p:cNvSpPr/>
          <p:nvPr/>
        </p:nvSpPr>
        <p:spPr>
          <a:xfrm>
            <a:off x="5193792" y="1645920"/>
            <a:ext cx="2441448" cy="256032"/>
          </a:xfrm>
          <a:prstGeom prst="rect">
            <a:avLst/>
          </a:prstGeom>
          <a:noFill/>
          <a:ln/>
        </p:spPr>
        <p:txBody>
          <a:bodyPr wrap="square" lIns="0" tIns="0" rIns="0" bIns="0" rtlCol="0" anchor="ctr"/>
          <a:lstStyle/>
          <a:p>
            <a:pPr indent="0" marL="0">
              <a:buNone/>
            </a:pPr>
            <a:r>
              <a:rPr lang="en-US" sz="1550" b="1" dirty="0">
                <a:solidFill>
                  <a:srgbClr val="1F2937"/>
                </a:solidFill>
              </a:rPr>
              <a:t>Story 2</a:t>
            </a:r>
            <a:endParaRPr lang="en-US" sz="1550" dirty="0"/>
          </a:p>
        </p:txBody>
      </p:sp>
      <p:sp>
        <p:nvSpPr>
          <p:cNvPr id="15" name="Text 11"/>
          <p:cNvSpPr/>
          <p:nvPr/>
        </p:nvSpPr>
        <p:spPr>
          <a:xfrm>
            <a:off x="5193792" y="1984248"/>
            <a:ext cx="2441448" cy="3657600"/>
          </a:xfrm>
          <a:prstGeom prst="rect">
            <a:avLst/>
          </a:prstGeom>
          <a:noFill/>
          <a:ln/>
        </p:spPr>
        <p:txBody>
          <a:bodyPr wrap="square" lIns="127" tIns="127" rIns="127" bIns="127" rtlCol="0" anchor="t">
            <a:normAutofit/>
          </a:bodyPr>
          <a:lstStyle/>
          <a:p>
            <a:pPr indent="0" marL="0">
              <a:buNone/>
            </a:pPr>
            <a:r>
              <a:rPr lang="en-US" sz="1120" dirty="0">
                <a:solidFill>
                  <a:srgbClr val="6B7280"/>
                </a:solidFill>
              </a:rPr>
              <a:t>As an agent, I want to record offers and update their status so that the negotiation trail is kept in one place.</a:t>
            </a:r>
            <a:endParaRPr lang="en-US" sz="1120" dirty="0"/>
          </a:p>
        </p:txBody>
      </p:sp>
      <p:sp>
        <p:nvSpPr>
          <p:cNvPr id="16" name="Shape 12"/>
          <p:cNvSpPr/>
          <p:nvPr/>
        </p:nvSpPr>
        <p:spPr>
          <a:xfrm>
            <a:off x="7927848" y="1417320"/>
            <a:ext cx="3493008" cy="4389120"/>
          </a:xfrm>
          <a:prstGeom prst="roundRect">
            <a:avLst>
              <a:gd name="adj" fmla="val 2094"/>
            </a:avLst>
          </a:prstGeom>
          <a:solidFill>
            <a:srgbClr val="FFFFFF"/>
          </a:solidFill>
          <a:ln w="12700">
            <a:solidFill>
              <a:srgbClr val="D8DEDF"/>
            </a:solidFill>
            <a:prstDash val="solid"/>
          </a:ln>
          <a:effectLst>
            <a:outerShdw sx="100000" sy="100000" kx="0" ky="0" algn="bl" rotWithShape="0" blurRad="19050" dist="50800" dir="2700000">
              <a:srgbClr val="C5CBCB">
                <a:alpha val="18000"/>
              </a:srgbClr>
            </a:outerShdw>
          </a:effectLst>
        </p:spPr>
      </p:sp>
      <p:sp>
        <p:nvSpPr>
          <p:cNvPr id="17" name="Shape 13"/>
          <p:cNvSpPr/>
          <p:nvPr/>
        </p:nvSpPr>
        <p:spPr>
          <a:xfrm>
            <a:off x="8129016" y="1618488"/>
            <a:ext cx="512064" cy="512064"/>
          </a:xfrm>
          <a:prstGeom prst="ellipse">
            <a:avLst/>
          </a:prstGeom>
          <a:solidFill>
            <a:srgbClr val="4B7A6A">
              <a:alpha val="12000"/>
            </a:srgbClr>
          </a:solidFill>
          <a:ln w="12700">
            <a:solidFill>
              <a:srgbClr val="4B7A6A">
                <a:alpha val="0"/>
              </a:srgbClr>
            </a:solidFill>
            <a:prstDash val="solid"/>
          </a:ln>
        </p:spPr>
      </p:sp>
      <p:pic>
        <p:nvPicPr>
          <p:cNvPr id="18"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247888" y="1737360"/>
            <a:ext cx="274320" cy="274320"/>
          </a:xfrm>
          <a:prstGeom prst="rect">
            <a:avLst/>
          </a:prstGeom>
        </p:spPr>
      </p:pic>
      <p:sp>
        <p:nvSpPr>
          <p:cNvPr id="19" name="Text 14"/>
          <p:cNvSpPr/>
          <p:nvPr/>
        </p:nvSpPr>
        <p:spPr>
          <a:xfrm>
            <a:off x="8769096" y="1645920"/>
            <a:ext cx="2441448" cy="256032"/>
          </a:xfrm>
          <a:prstGeom prst="rect">
            <a:avLst/>
          </a:prstGeom>
          <a:noFill/>
          <a:ln/>
        </p:spPr>
        <p:txBody>
          <a:bodyPr wrap="square" lIns="0" tIns="0" rIns="0" bIns="0" rtlCol="0" anchor="ctr"/>
          <a:lstStyle/>
          <a:p>
            <a:pPr indent="0" marL="0">
              <a:buNone/>
            </a:pPr>
            <a:r>
              <a:rPr lang="en-US" sz="1550" b="1" dirty="0">
                <a:solidFill>
                  <a:srgbClr val="1F2937"/>
                </a:solidFill>
              </a:rPr>
              <a:t>Story 3</a:t>
            </a:r>
            <a:endParaRPr lang="en-US" sz="1550" dirty="0"/>
          </a:p>
        </p:txBody>
      </p:sp>
      <p:sp>
        <p:nvSpPr>
          <p:cNvPr id="20" name="Text 15"/>
          <p:cNvSpPr/>
          <p:nvPr/>
        </p:nvSpPr>
        <p:spPr>
          <a:xfrm>
            <a:off x="8769096" y="1984248"/>
            <a:ext cx="2441448" cy="3657600"/>
          </a:xfrm>
          <a:prstGeom prst="rect">
            <a:avLst/>
          </a:prstGeom>
          <a:noFill/>
          <a:ln/>
        </p:spPr>
        <p:txBody>
          <a:bodyPr wrap="square" lIns="127" tIns="127" rIns="127" bIns="127" rtlCol="0" anchor="t">
            <a:normAutofit/>
          </a:bodyPr>
          <a:lstStyle/>
          <a:p>
            <a:pPr indent="0" marL="0">
              <a:buNone/>
            </a:pPr>
            <a:r>
              <a:rPr lang="en-US" sz="1120" dirty="0">
                <a:solidFill>
                  <a:srgbClr val="6B7280"/>
                </a:solidFill>
              </a:rPr>
              <a:t>As a manager, I want an accepted offer linked to one sale so that a property cannot be double-sold and the final value is traceable.</a:t>
            </a:r>
            <a:endParaRPr lang="en-US" sz="1120" dirty="0"/>
          </a:p>
        </p:txBody>
      </p:sp>
      <p:sp>
        <p:nvSpPr>
          <p:cNvPr id="21" name="Shape 16"/>
          <p:cNvSpPr/>
          <p:nvPr/>
        </p:nvSpPr>
        <p:spPr>
          <a:xfrm>
            <a:off x="4114800" y="5897880"/>
            <a:ext cx="3977640" cy="329184"/>
          </a:xfrm>
          <a:prstGeom prst="roundRect">
            <a:avLst>
              <a:gd name="adj" fmla="val 19444"/>
            </a:avLst>
          </a:prstGeom>
          <a:solidFill>
            <a:srgbClr val="EEE2CD"/>
          </a:solidFill>
          <a:ln w="12700">
            <a:solidFill>
              <a:srgbClr val="EEE2CD"/>
            </a:solidFill>
            <a:prstDash val="solid"/>
          </a:ln>
        </p:spPr>
      </p:sp>
      <p:sp>
        <p:nvSpPr>
          <p:cNvPr id="22" name="Text 17"/>
          <p:cNvSpPr/>
          <p:nvPr/>
        </p:nvSpPr>
        <p:spPr>
          <a:xfrm>
            <a:off x="4187952" y="5971032"/>
            <a:ext cx="3831336" cy="146304"/>
          </a:xfrm>
          <a:prstGeom prst="rect">
            <a:avLst/>
          </a:prstGeom>
          <a:noFill/>
          <a:ln/>
        </p:spPr>
        <p:txBody>
          <a:bodyPr wrap="square" lIns="0" tIns="0" rIns="0" bIns="0" rtlCol="0" anchor="ctr"/>
          <a:lstStyle/>
          <a:p>
            <a:pPr algn="ctr" indent="0" marL="0">
              <a:buNone/>
            </a:pPr>
            <a:r>
              <a:rPr lang="en-US" sz="1050" b="1" dirty="0">
                <a:solidFill>
                  <a:srgbClr val="163A45"/>
                </a:solidFill>
              </a:rPr>
              <a:t>Tables: VIEWING + OFFER + SALE</a:t>
            </a:r>
            <a:endParaRPr lang="en-US" sz="1050" dirty="0"/>
          </a:p>
        </p:txBody>
      </p:sp>
      <p:sp>
        <p:nvSpPr>
          <p:cNvPr id="25" name="Slide Number Placeholder 0"/>
          <p:cNvSpPr>
            <a:spLocks noGrp="1"/>
          </p:cNvSpPr>
          <p:nvPr>
            <p:ph type="sldNum" sz="quarter" idx="4294967295"/>
          </p:nvPr>
        </p:nvSpPr>
        <p:spPr>
          <a:xfrm>
            <a:off x="11750040" y="649224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latin typeface="Carlito"/>
                <a:ea typeface="Carlito"/>
                <a:cs typeface="Carlito"/>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40080" y="411480"/>
            <a:ext cx="10698480" cy="438912"/>
          </a:xfrm>
          <a:prstGeom prst="rect">
            <a:avLst/>
          </a:prstGeom>
          <a:noFill/>
          <a:ln/>
        </p:spPr>
        <p:txBody>
          <a:bodyPr wrap="square" lIns="0" tIns="0" rIns="0" bIns="0" rtlCol="0" anchor="ctr"/>
          <a:lstStyle/>
          <a:p>
            <a:pPr indent="0" marL="0">
              <a:buNone/>
            </a:pPr>
            <a:r>
              <a:rPr lang="en-US" sz="2500" b="1" dirty="0">
                <a:solidFill>
                  <a:srgbClr val="163A45"/>
                </a:solidFill>
                <a:latin typeface="Carlito" pitchFamily="34" charset="0"/>
                <a:ea typeface="Carlito" pitchFamily="34" charset="-122"/>
                <a:cs typeface="Carlito" pitchFamily="34" charset="-120"/>
              </a:rPr>
              <a:t>Brief Explanation of Agile Practice</a:t>
            </a:r>
            <a:endParaRPr lang="en-US" sz="2500" dirty="0"/>
          </a:p>
        </p:txBody>
      </p:sp>
      <p:sp>
        <p:nvSpPr>
          <p:cNvPr id="3" name="Text 1"/>
          <p:cNvSpPr/>
          <p:nvPr/>
        </p:nvSpPr>
        <p:spPr>
          <a:xfrm>
            <a:off x="658368" y="877824"/>
            <a:ext cx="10789920" cy="310896"/>
          </a:xfrm>
          <a:prstGeom prst="rect">
            <a:avLst/>
          </a:prstGeom>
          <a:noFill/>
          <a:ln/>
        </p:spPr>
        <p:txBody>
          <a:bodyPr wrap="square" lIns="0" tIns="0" rIns="0" bIns="0" rtlCol="0" anchor="ctr"/>
          <a:lstStyle/>
          <a:p>
            <a:pPr indent="0" marL="0">
              <a:buNone/>
            </a:pPr>
            <a:r>
              <a:rPr lang="en-US" sz="1250" dirty="0">
                <a:solidFill>
                  <a:srgbClr val="6B7280"/>
                </a:solidFill>
                <a:latin typeface="Carlito" pitchFamily="34" charset="0"/>
                <a:ea typeface="Carlito" pitchFamily="34" charset="-122"/>
                <a:cs typeface="Carlito" pitchFamily="34" charset="-120"/>
              </a:rPr>
              <a:t>A lightweight iterative approach aligned with the Studio 1 weekly milestones</a:t>
            </a:r>
            <a:endParaRPr lang="en-US" sz="1250" dirty="0"/>
          </a:p>
        </p:txBody>
      </p:sp>
      <p:sp>
        <p:nvSpPr>
          <p:cNvPr id="4" name="Shape 2"/>
          <p:cNvSpPr/>
          <p:nvPr/>
        </p:nvSpPr>
        <p:spPr>
          <a:xfrm>
            <a:off x="9674352" y="457200"/>
            <a:ext cx="1810512" cy="347472"/>
          </a:xfrm>
          <a:prstGeom prst="roundRect">
            <a:avLst>
              <a:gd name="adj" fmla="val 15789"/>
            </a:avLst>
          </a:prstGeom>
          <a:solidFill>
            <a:srgbClr val="EEE2CD"/>
          </a:solidFill>
          <a:ln w="12700">
            <a:solidFill>
              <a:srgbClr val="EEE2CD"/>
            </a:solidFill>
            <a:prstDash val="solid"/>
          </a:ln>
        </p:spPr>
      </p:sp>
      <p:sp>
        <p:nvSpPr>
          <p:cNvPr id="5" name="Text 3"/>
          <p:cNvSpPr/>
          <p:nvPr/>
        </p:nvSpPr>
        <p:spPr>
          <a:xfrm>
            <a:off x="9747504" y="548640"/>
            <a:ext cx="1664208" cy="137160"/>
          </a:xfrm>
          <a:prstGeom prst="rect">
            <a:avLst/>
          </a:prstGeom>
          <a:noFill/>
          <a:ln/>
        </p:spPr>
        <p:txBody>
          <a:bodyPr wrap="square" lIns="0" tIns="0" rIns="0" bIns="0" rtlCol="0" anchor="ctr"/>
          <a:lstStyle/>
          <a:p>
            <a:pPr algn="ctr" indent="0" marL="0">
              <a:buNone/>
            </a:pPr>
            <a:r>
              <a:rPr lang="en-US" sz="970" b="1" dirty="0">
                <a:solidFill>
                  <a:srgbClr val="163A45"/>
                </a:solidFill>
              </a:rPr>
              <a:t>Speaker: Harshdeep</a:t>
            </a:r>
            <a:endParaRPr lang="en-US" sz="970" dirty="0"/>
          </a:p>
        </p:txBody>
      </p:sp>
      <p:sp>
        <p:nvSpPr>
          <p:cNvPr id="6" name="Shape 4"/>
          <p:cNvSpPr/>
          <p:nvPr/>
        </p:nvSpPr>
        <p:spPr>
          <a:xfrm>
            <a:off x="4572000" y="1463040"/>
            <a:ext cx="2971800" cy="2971800"/>
          </a:xfrm>
          <a:prstGeom prst="ellipse">
            <a:avLst/>
          </a:prstGeom>
          <a:solidFill>
            <a:srgbClr val="DCEBE4"/>
          </a:solidFill>
          <a:ln w="15240">
            <a:solidFill>
              <a:srgbClr val="1F5A5A"/>
            </a:solidFill>
            <a:prstDash val="solid"/>
          </a:ln>
        </p:spPr>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349240" y="2212848"/>
            <a:ext cx="1417320" cy="1417320"/>
          </a:xfrm>
          <a:prstGeom prst="rect">
            <a:avLst/>
          </a:prstGeom>
        </p:spPr>
      </p:pic>
      <p:sp>
        <p:nvSpPr>
          <p:cNvPr id="8" name="Text 5"/>
          <p:cNvSpPr/>
          <p:nvPr/>
        </p:nvSpPr>
        <p:spPr>
          <a:xfrm>
            <a:off x="4206240" y="3794760"/>
            <a:ext cx="3703320" cy="274320"/>
          </a:xfrm>
          <a:prstGeom prst="rect">
            <a:avLst/>
          </a:prstGeom>
          <a:noFill/>
          <a:ln/>
        </p:spPr>
        <p:txBody>
          <a:bodyPr wrap="square" lIns="0" tIns="0" rIns="0" bIns="0" rtlCol="0" anchor="ctr"/>
          <a:lstStyle/>
          <a:p>
            <a:pPr algn="ctr" indent="0" marL="0">
              <a:buNone/>
            </a:pPr>
            <a:r>
              <a:rPr lang="en-US" sz="1400" b="1" dirty="0">
                <a:solidFill>
                  <a:srgbClr val="163A45"/>
                </a:solidFill>
              </a:rPr>
              <a:t>PLAN → BUILD → TEST → REVIEW</a:t>
            </a:r>
            <a:endParaRPr lang="en-US" sz="1400" dirty="0"/>
          </a:p>
        </p:txBody>
      </p:sp>
      <p:sp>
        <p:nvSpPr>
          <p:cNvPr id="9" name="Shape 6"/>
          <p:cNvSpPr/>
          <p:nvPr/>
        </p:nvSpPr>
        <p:spPr>
          <a:xfrm>
            <a:off x="685800" y="1417320"/>
            <a:ext cx="2971800" cy="1874520"/>
          </a:xfrm>
          <a:prstGeom prst="roundRect">
            <a:avLst>
              <a:gd name="adj" fmla="val 3902"/>
            </a:avLst>
          </a:prstGeom>
          <a:solidFill>
            <a:srgbClr val="FFFFFF"/>
          </a:solidFill>
          <a:ln w="12700">
            <a:solidFill>
              <a:srgbClr val="D8DEDF"/>
            </a:solidFill>
            <a:prstDash val="solid"/>
          </a:ln>
          <a:effectLst>
            <a:outerShdw sx="100000" sy="100000" kx="0" ky="0" algn="bl" rotWithShape="0" blurRad="19050" dist="50800" dir="2700000">
              <a:srgbClr val="C5CBCB">
                <a:alpha val="18000"/>
              </a:srgbClr>
            </a:outerShdw>
          </a:effectLst>
        </p:spPr>
      </p:sp>
      <p:sp>
        <p:nvSpPr>
          <p:cNvPr id="10" name="Shape 7"/>
          <p:cNvSpPr/>
          <p:nvPr/>
        </p:nvSpPr>
        <p:spPr>
          <a:xfrm>
            <a:off x="886968" y="1618488"/>
            <a:ext cx="512064" cy="512064"/>
          </a:xfrm>
          <a:prstGeom prst="ellipse">
            <a:avLst/>
          </a:prstGeom>
          <a:solidFill>
            <a:srgbClr val="1F5A5A">
              <a:alpha val="12000"/>
            </a:srgbClr>
          </a:solidFill>
          <a:ln w="12700">
            <a:solidFill>
              <a:srgbClr val="1F5A5A">
                <a:alpha val="0"/>
              </a:srgbClr>
            </a:solidFill>
            <a:prstDash val="solid"/>
          </a:ln>
        </p:spPr>
      </p:sp>
      <p:pic>
        <p:nvPicPr>
          <p:cNvPr id="11"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05840" y="1737360"/>
            <a:ext cx="274320" cy="274320"/>
          </a:xfrm>
          <a:prstGeom prst="rect">
            <a:avLst/>
          </a:prstGeom>
        </p:spPr>
      </p:pic>
      <p:sp>
        <p:nvSpPr>
          <p:cNvPr id="12" name="Text 8"/>
          <p:cNvSpPr/>
          <p:nvPr/>
        </p:nvSpPr>
        <p:spPr>
          <a:xfrm>
            <a:off x="1527048" y="1645920"/>
            <a:ext cx="1920240" cy="256032"/>
          </a:xfrm>
          <a:prstGeom prst="rect">
            <a:avLst/>
          </a:prstGeom>
          <a:noFill/>
          <a:ln/>
        </p:spPr>
        <p:txBody>
          <a:bodyPr wrap="square" lIns="0" tIns="0" rIns="0" bIns="0" rtlCol="0" anchor="ctr"/>
          <a:lstStyle/>
          <a:p>
            <a:pPr indent="0" marL="0">
              <a:buNone/>
            </a:pPr>
            <a:r>
              <a:rPr lang="en-US" sz="1550" b="1" dirty="0">
                <a:solidFill>
                  <a:srgbClr val="1F2937"/>
                </a:solidFill>
              </a:rPr>
              <a:t>Week 5 — Analyse</a:t>
            </a:r>
            <a:endParaRPr lang="en-US" sz="1550" dirty="0"/>
          </a:p>
        </p:txBody>
      </p:sp>
      <p:sp>
        <p:nvSpPr>
          <p:cNvPr id="13" name="Text 9"/>
          <p:cNvSpPr/>
          <p:nvPr/>
        </p:nvSpPr>
        <p:spPr>
          <a:xfrm>
            <a:off x="1527048" y="1984248"/>
            <a:ext cx="1920240" cy="1143000"/>
          </a:xfrm>
          <a:prstGeom prst="rect">
            <a:avLst/>
          </a:prstGeom>
          <a:noFill/>
          <a:ln/>
        </p:spPr>
        <p:txBody>
          <a:bodyPr wrap="square" lIns="127" tIns="127" rIns="127" bIns="127" rtlCol="0" anchor="t">
            <a:normAutofit/>
          </a:bodyPr>
          <a:lstStyle/>
          <a:p>
            <a:pPr indent="0" marL="0">
              <a:buNone/>
            </a:pPr>
            <a:r>
              <a:rPr lang="en-US" sz="1120" dirty="0">
                <a:solidFill>
                  <a:srgbClr val="6B7280"/>
                </a:solidFill>
              </a:rPr>
              <a:t>Finalise scope and ERD</a:t>
            </a:r>
            <a:endParaRPr lang="en-US" sz="1120" dirty="0"/>
          </a:p>
        </p:txBody>
      </p:sp>
      <p:sp>
        <p:nvSpPr>
          <p:cNvPr id="14" name="Shape 10"/>
          <p:cNvSpPr/>
          <p:nvPr/>
        </p:nvSpPr>
        <p:spPr>
          <a:xfrm>
            <a:off x="685800" y="3977640"/>
            <a:ext cx="2971800" cy="1874520"/>
          </a:xfrm>
          <a:prstGeom prst="roundRect">
            <a:avLst>
              <a:gd name="adj" fmla="val 3902"/>
            </a:avLst>
          </a:prstGeom>
          <a:solidFill>
            <a:srgbClr val="FFFFFF"/>
          </a:solidFill>
          <a:ln w="12700">
            <a:solidFill>
              <a:srgbClr val="D8DEDF"/>
            </a:solidFill>
            <a:prstDash val="solid"/>
          </a:ln>
          <a:effectLst>
            <a:outerShdw sx="100000" sy="100000" kx="0" ky="0" algn="bl" rotWithShape="0" blurRad="19050" dist="50800" dir="2700000">
              <a:srgbClr val="C5CBCB">
                <a:alpha val="18000"/>
              </a:srgbClr>
            </a:outerShdw>
          </a:effectLst>
        </p:spPr>
      </p:sp>
      <p:sp>
        <p:nvSpPr>
          <p:cNvPr id="15" name="Shape 11"/>
          <p:cNvSpPr/>
          <p:nvPr/>
        </p:nvSpPr>
        <p:spPr>
          <a:xfrm>
            <a:off x="886968" y="4178808"/>
            <a:ext cx="512064" cy="512064"/>
          </a:xfrm>
          <a:prstGeom prst="ellipse">
            <a:avLst/>
          </a:prstGeom>
          <a:solidFill>
            <a:srgbClr val="C96F47">
              <a:alpha val="12000"/>
            </a:srgbClr>
          </a:solidFill>
          <a:ln w="12700">
            <a:solidFill>
              <a:srgbClr val="C96F47">
                <a:alpha val="0"/>
              </a:srgbClr>
            </a:solidFill>
            <a:prstDash val="solid"/>
          </a:ln>
        </p:spPr>
      </p:sp>
      <p:pic>
        <p:nvPicPr>
          <p:cNvPr id="16"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05840" y="4297680"/>
            <a:ext cx="274320" cy="274320"/>
          </a:xfrm>
          <a:prstGeom prst="rect">
            <a:avLst/>
          </a:prstGeom>
        </p:spPr>
      </p:pic>
      <p:sp>
        <p:nvSpPr>
          <p:cNvPr id="17" name="Text 12"/>
          <p:cNvSpPr/>
          <p:nvPr/>
        </p:nvSpPr>
        <p:spPr>
          <a:xfrm>
            <a:off x="1527048" y="4206240"/>
            <a:ext cx="1920240" cy="256032"/>
          </a:xfrm>
          <a:prstGeom prst="rect">
            <a:avLst/>
          </a:prstGeom>
          <a:noFill/>
          <a:ln/>
        </p:spPr>
        <p:txBody>
          <a:bodyPr wrap="square" lIns="0" tIns="0" rIns="0" bIns="0" rtlCol="0" anchor="ctr"/>
          <a:lstStyle/>
          <a:p>
            <a:pPr indent="0" marL="0">
              <a:buNone/>
            </a:pPr>
            <a:r>
              <a:rPr lang="en-US" sz="1550" b="1" dirty="0">
                <a:solidFill>
                  <a:srgbClr val="1F2937"/>
                </a:solidFill>
              </a:rPr>
              <a:t>Week 6 — Build</a:t>
            </a:r>
            <a:endParaRPr lang="en-US" sz="1550" dirty="0"/>
          </a:p>
        </p:txBody>
      </p:sp>
      <p:sp>
        <p:nvSpPr>
          <p:cNvPr id="18" name="Text 13"/>
          <p:cNvSpPr/>
          <p:nvPr/>
        </p:nvSpPr>
        <p:spPr>
          <a:xfrm>
            <a:off x="1527048" y="4544568"/>
            <a:ext cx="1920240" cy="1143000"/>
          </a:xfrm>
          <a:prstGeom prst="rect">
            <a:avLst/>
          </a:prstGeom>
          <a:noFill/>
          <a:ln/>
        </p:spPr>
        <p:txBody>
          <a:bodyPr wrap="square" lIns="127" tIns="127" rIns="127" bIns="127" rtlCol="0" anchor="t">
            <a:normAutofit/>
          </a:bodyPr>
          <a:lstStyle/>
          <a:p>
            <a:pPr indent="0" marL="0">
              <a:buNone/>
            </a:pPr>
            <a:r>
              <a:rPr lang="en-US" sz="1120" dirty="0">
                <a:solidFill>
                  <a:srgbClr val="6B7280"/>
                </a:solidFill>
              </a:rPr>
              <a:t>Data dictionary + core database</a:t>
            </a:r>
            <a:endParaRPr lang="en-US" sz="1120" dirty="0"/>
          </a:p>
        </p:txBody>
      </p:sp>
      <p:sp>
        <p:nvSpPr>
          <p:cNvPr id="19" name="Shape 14"/>
          <p:cNvSpPr/>
          <p:nvPr/>
        </p:nvSpPr>
        <p:spPr>
          <a:xfrm>
            <a:off x="8458200" y="1417320"/>
            <a:ext cx="2971800" cy="1874520"/>
          </a:xfrm>
          <a:prstGeom prst="roundRect">
            <a:avLst>
              <a:gd name="adj" fmla="val 3902"/>
            </a:avLst>
          </a:prstGeom>
          <a:solidFill>
            <a:srgbClr val="FFFFFF"/>
          </a:solidFill>
          <a:ln w="12700">
            <a:solidFill>
              <a:srgbClr val="D8DEDF"/>
            </a:solidFill>
            <a:prstDash val="solid"/>
          </a:ln>
          <a:effectLst>
            <a:outerShdw sx="100000" sy="100000" kx="0" ky="0" algn="bl" rotWithShape="0" blurRad="19050" dist="50800" dir="2700000">
              <a:srgbClr val="C5CBCB">
                <a:alpha val="18000"/>
              </a:srgbClr>
            </a:outerShdw>
          </a:effectLst>
        </p:spPr>
      </p:sp>
      <p:sp>
        <p:nvSpPr>
          <p:cNvPr id="20" name="Shape 15"/>
          <p:cNvSpPr/>
          <p:nvPr/>
        </p:nvSpPr>
        <p:spPr>
          <a:xfrm>
            <a:off x="8659368" y="1618488"/>
            <a:ext cx="512064" cy="512064"/>
          </a:xfrm>
          <a:prstGeom prst="ellipse">
            <a:avLst/>
          </a:prstGeom>
          <a:solidFill>
            <a:srgbClr val="4B7A6A">
              <a:alpha val="12000"/>
            </a:srgbClr>
          </a:solidFill>
          <a:ln w="12700">
            <a:solidFill>
              <a:srgbClr val="4B7A6A">
                <a:alpha val="0"/>
              </a:srgbClr>
            </a:solidFill>
            <a:prstDash val="solid"/>
          </a:ln>
        </p:spPr>
      </p:sp>
      <p:pic>
        <p:nvPicPr>
          <p:cNvPr id="21"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778240" y="1737360"/>
            <a:ext cx="274320" cy="274320"/>
          </a:xfrm>
          <a:prstGeom prst="rect">
            <a:avLst/>
          </a:prstGeom>
        </p:spPr>
      </p:pic>
      <p:sp>
        <p:nvSpPr>
          <p:cNvPr id="22" name="Text 16"/>
          <p:cNvSpPr/>
          <p:nvPr/>
        </p:nvSpPr>
        <p:spPr>
          <a:xfrm>
            <a:off x="9299448" y="1645920"/>
            <a:ext cx="1920240" cy="256032"/>
          </a:xfrm>
          <a:prstGeom prst="rect">
            <a:avLst/>
          </a:prstGeom>
          <a:noFill/>
          <a:ln/>
        </p:spPr>
        <p:txBody>
          <a:bodyPr wrap="square" lIns="0" tIns="0" rIns="0" bIns="0" rtlCol="0" anchor="ctr"/>
          <a:lstStyle/>
          <a:p>
            <a:pPr indent="0" marL="0">
              <a:buNone/>
            </a:pPr>
            <a:r>
              <a:rPr lang="en-US" sz="1550" b="1" dirty="0">
                <a:solidFill>
                  <a:srgbClr val="1F2937"/>
                </a:solidFill>
              </a:rPr>
              <a:t>Week 7 — Test</a:t>
            </a:r>
            <a:endParaRPr lang="en-US" sz="1550" dirty="0"/>
          </a:p>
        </p:txBody>
      </p:sp>
      <p:sp>
        <p:nvSpPr>
          <p:cNvPr id="23" name="Text 17"/>
          <p:cNvSpPr/>
          <p:nvPr/>
        </p:nvSpPr>
        <p:spPr>
          <a:xfrm>
            <a:off x="9299448" y="1984248"/>
            <a:ext cx="1920240" cy="1143000"/>
          </a:xfrm>
          <a:prstGeom prst="rect">
            <a:avLst/>
          </a:prstGeom>
          <a:noFill/>
          <a:ln/>
        </p:spPr>
        <p:txBody>
          <a:bodyPr wrap="square" lIns="127" tIns="127" rIns="127" bIns="127" rtlCol="0" anchor="t">
            <a:normAutofit/>
          </a:bodyPr>
          <a:lstStyle/>
          <a:p>
            <a:pPr indent="0" marL="0">
              <a:buNone/>
            </a:pPr>
            <a:r>
              <a:rPr lang="en-US" sz="1120" dirty="0">
                <a:solidFill>
                  <a:srgbClr val="6B7280"/>
                </a:solidFill>
              </a:rPr>
              <a:t>Queries, validation and fixes</a:t>
            </a:r>
            <a:endParaRPr lang="en-US" sz="1120" dirty="0"/>
          </a:p>
        </p:txBody>
      </p:sp>
      <p:sp>
        <p:nvSpPr>
          <p:cNvPr id="24" name="Shape 18"/>
          <p:cNvSpPr/>
          <p:nvPr/>
        </p:nvSpPr>
        <p:spPr>
          <a:xfrm>
            <a:off x="8458200" y="3977640"/>
            <a:ext cx="2971800" cy="1874520"/>
          </a:xfrm>
          <a:prstGeom prst="roundRect">
            <a:avLst>
              <a:gd name="adj" fmla="val 3902"/>
            </a:avLst>
          </a:prstGeom>
          <a:solidFill>
            <a:srgbClr val="FFFFFF"/>
          </a:solidFill>
          <a:ln w="12700">
            <a:solidFill>
              <a:srgbClr val="D8DEDF"/>
            </a:solidFill>
            <a:prstDash val="solid"/>
          </a:ln>
          <a:effectLst>
            <a:outerShdw sx="100000" sy="100000" kx="0" ky="0" algn="bl" rotWithShape="0" blurRad="19050" dist="50800" dir="2700000">
              <a:srgbClr val="C5CBCB">
                <a:alpha val="18000"/>
              </a:srgbClr>
            </a:outerShdw>
          </a:effectLst>
        </p:spPr>
      </p:sp>
      <p:sp>
        <p:nvSpPr>
          <p:cNvPr id="25" name="Shape 19"/>
          <p:cNvSpPr/>
          <p:nvPr/>
        </p:nvSpPr>
        <p:spPr>
          <a:xfrm>
            <a:off x="8659368" y="4178808"/>
            <a:ext cx="512064" cy="512064"/>
          </a:xfrm>
          <a:prstGeom prst="ellipse">
            <a:avLst/>
          </a:prstGeom>
          <a:solidFill>
            <a:srgbClr val="163A45">
              <a:alpha val="12000"/>
            </a:srgbClr>
          </a:solidFill>
          <a:ln w="12700">
            <a:solidFill>
              <a:srgbClr val="163A45">
                <a:alpha val="0"/>
              </a:srgbClr>
            </a:solidFill>
            <a:prstDash val="solid"/>
          </a:ln>
        </p:spPr>
      </p:sp>
      <p:pic>
        <p:nvPicPr>
          <p:cNvPr id="26"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778240" y="4297680"/>
            <a:ext cx="274320" cy="274320"/>
          </a:xfrm>
          <a:prstGeom prst="rect">
            <a:avLst/>
          </a:prstGeom>
        </p:spPr>
      </p:pic>
      <p:sp>
        <p:nvSpPr>
          <p:cNvPr id="27" name="Text 20"/>
          <p:cNvSpPr/>
          <p:nvPr/>
        </p:nvSpPr>
        <p:spPr>
          <a:xfrm>
            <a:off x="9299448" y="4206240"/>
            <a:ext cx="1920240" cy="256032"/>
          </a:xfrm>
          <a:prstGeom prst="rect">
            <a:avLst/>
          </a:prstGeom>
          <a:noFill/>
          <a:ln/>
        </p:spPr>
        <p:txBody>
          <a:bodyPr wrap="square" lIns="0" tIns="0" rIns="0" bIns="0" rtlCol="0" anchor="ctr"/>
          <a:lstStyle/>
          <a:p>
            <a:pPr indent="0" marL="0">
              <a:buNone/>
            </a:pPr>
            <a:r>
              <a:rPr lang="en-US" sz="1550" b="1" dirty="0">
                <a:solidFill>
                  <a:srgbClr val="1F2937"/>
                </a:solidFill>
              </a:rPr>
              <a:t>Week 8 — Review</a:t>
            </a:r>
            <a:endParaRPr lang="en-US" sz="1550" dirty="0"/>
          </a:p>
        </p:txBody>
      </p:sp>
      <p:sp>
        <p:nvSpPr>
          <p:cNvPr id="28" name="Text 21"/>
          <p:cNvSpPr/>
          <p:nvPr/>
        </p:nvSpPr>
        <p:spPr>
          <a:xfrm>
            <a:off x="9299448" y="4544568"/>
            <a:ext cx="1920240" cy="1143000"/>
          </a:xfrm>
          <a:prstGeom prst="rect">
            <a:avLst/>
          </a:prstGeom>
          <a:noFill/>
          <a:ln/>
        </p:spPr>
        <p:txBody>
          <a:bodyPr wrap="square" lIns="127" tIns="127" rIns="127" bIns="127" rtlCol="0" anchor="t">
            <a:normAutofit/>
          </a:bodyPr>
          <a:lstStyle/>
          <a:p>
            <a:pPr indent="0" marL="0">
              <a:buNone/>
            </a:pPr>
            <a:r>
              <a:rPr lang="en-US" sz="1120" dirty="0">
                <a:solidFill>
                  <a:srgbClr val="6B7280"/>
                </a:solidFill>
              </a:rPr>
              <a:t>PDR, feedback and final evaluation</a:t>
            </a:r>
            <a:endParaRPr lang="en-US" sz="1120" dirty="0"/>
          </a:p>
        </p:txBody>
      </p:sp>
      <p:sp>
        <p:nvSpPr>
          <p:cNvPr id="29" name="Text 22"/>
          <p:cNvSpPr/>
          <p:nvPr/>
        </p:nvSpPr>
        <p:spPr>
          <a:xfrm>
            <a:off x="3246120" y="5029200"/>
            <a:ext cx="5669280" cy="685800"/>
          </a:xfrm>
          <a:prstGeom prst="rect">
            <a:avLst/>
          </a:prstGeom>
          <a:noFill/>
          <a:ln/>
        </p:spPr>
        <p:txBody>
          <a:bodyPr wrap="square" lIns="0" tIns="0" rIns="0" bIns="0" rtlCol="0" anchor="ctr">
            <a:normAutofit/>
          </a:bodyPr>
          <a:lstStyle/>
          <a:p>
            <a:pPr algn="ctr" indent="0" marL="0">
              <a:buNone/>
            </a:pPr>
            <a:r>
              <a:rPr lang="en-US" sz="1600" b="1" dirty="0">
                <a:solidFill>
                  <a:srgbClr val="1F2937"/>
                </a:solidFill>
              </a:rPr>
              <a:t>Agile idea: deliver in small steps, review early, fix issues, and keep the shared work current.</a:t>
            </a:r>
            <a:endParaRPr lang="en-US" sz="1600" dirty="0"/>
          </a:p>
        </p:txBody>
      </p:sp>
      <p:sp>
        <p:nvSpPr>
          <p:cNvPr id="25" name="Slide Number Placeholder 0"/>
          <p:cNvSpPr>
            <a:spLocks noGrp="1"/>
          </p:cNvSpPr>
          <p:nvPr>
            <p:ph type="sldNum" sz="quarter" idx="4294967295"/>
          </p:nvPr>
        </p:nvSpPr>
        <p:spPr>
          <a:xfrm>
            <a:off x="11750040" y="649224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latin typeface="Carlito"/>
                <a:ea typeface="Carlito"/>
                <a:cs typeface="Carlito"/>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40080" y="411480"/>
            <a:ext cx="10698480" cy="438912"/>
          </a:xfrm>
          <a:prstGeom prst="rect">
            <a:avLst/>
          </a:prstGeom>
          <a:noFill/>
          <a:ln/>
        </p:spPr>
        <p:txBody>
          <a:bodyPr wrap="square" lIns="0" tIns="0" rIns="0" bIns="0" rtlCol="0" anchor="ctr"/>
          <a:lstStyle/>
          <a:p>
            <a:pPr indent="0" marL="0">
              <a:buNone/>
            </a:pPr>
            <a:r>
              <a:rPr lang="en-US" sz="2500" b="1" dirty="0">
                <a:solidFill>
                  <a:srgbClr val="163A45"/>
                </a:solidFill>
                <a:latin typeface="Carlito" pitchFamily="34" charset="0"/>
                <a:ea typeface="Carlito" pitchFamily="34" charset="-122"/>
                <a:cs typeface="Carlito" pitchFamily="34" charset="-120"/>
              </a:rPr>
              <a:t>Entity Relationship Diagram</a:t>
            </a:r>
            <a:endParaRPr lang="en-US" sz="2500" dirty="0"/>
          </a:p>
        </p:txBody>
      </p:sp>
      <p:sp>
        <p:nvSpPr>
          <p:cNvPr id="3" name="Text 1"/>
          <p:cNvSpPr/>
          <p:nvPr/>
        </p:nvSpPr>
        <p:spPr>
          <a:xfrm>
            <a:off x="658368" y="877824"/>
            <a:ext cx="10789920" cy="310896"/>
          </a:xfrm>
          <a:prstGeom prst="rect">
            <a:avLst/>
          </a:prstGeom>
          <a:noFill/>
          <a:ln/>
        </p:spPr>
        <p:txBody>
          <a:bodyPr wrap="square" lIns="0" tIns="0" rIns="0" bIns="0" rtlCol="0" anchor="ctr"/>
          <a:lstStyle/>
          <a:p>
            <a:pPr indent="0" marL="0">
              <a:buNone/>
            </a:pPr>
            <a:r>
              <a:rPr lang="en-US" sz="1250" dirty="0">
                <a:solidFill>
                  <a:srgbClr val="6B7280"/>
                </a:solidFill>
                <a:latin typeface="Carlito" pitchFamily="34" charset="0"/>
                <a:ea typeface="Carlito" pitchFamily="34" charset="-122"/>
                <a:cs typeface="Carlito" pitchFamily="34" charset="-120"/>
              </a:rPr>
              <a:t>Physical relational model — 7 entities with PK/FK links</a:t>
            </a:r>
            <a:endParaRPr lang="en-US" sz="1250" dirty="0"/>
          </a:p>
        </p:txBody>
      </p:sp>
      <p:sp>
        <p:nvSpPr>
          <p:cNvPr id="4" name="Shape 2"/>
          <p:cNvSpPr/>
          <p:nvPr/>
        </p:nvSpPr>
        <p:spPr>
          <a:xfrm>
            <a:off x="9674352" y="457200"/>
            <a:ext cx="1810512" cy="347472"/>
          </a:xfrm>
          <a:prstGeom prst="roundRect">
            <a:avLst>
              <a:gd name="adj" fmla="val 15789"/>
            </a:avLst>
          </a:prstGeom>
          <a:solidFill>
            <a:srgbClr val="EEE2CD"/>
          </a:solidFill>
          <a:ln w="12700">
            <a:solidFill>
              <a:srgbClr val="EEE2CD"/>
            </a:solidFill>
            <a:prstDash val="solid"/>
          </a:ln>
        </p:spPr>
      </p:sp>
      <p:sp>
        <p:nvSpPr>
          <p:cNvPr id="5" name="Text 3"/>
          <p:cNvSpPr/>
          <p:nvPr/>
        </p:nvSpPr>
        <p:spPr>
          <a:xfrm>
            <a:off x="9747504" y="548640"/>
            <a:ext cx="1664208" cy="137160"/>
          </a:xfrm>
          <a:prstGeom prst="rect">
            <a:avLst/>
          </a:prstGeom>
          <a:noFill/>
          <a:ln/>
        </p:spPr>
        <p:txBody>
          <a:bodyPr wrap="square" lIns="0" tIns="0" rIns="0" bIns="0" rtlCol="0" anchor="ctr"/>
          <a:lstStyle/>
          <a:p>
            <a:pPr algn="ctr" indent="0" marL="0">
              <a:buNone/>
            </a:pPr>
            <a:r>
              <a:rPr lang="en-US" sz="970" b="1" dirty="0">
                <a:solidFill>
                  <a:srgbClr val="163A45"/>
                </a:solidFill>
              </a:rPr>
              <a:t>Speaker: Varish</a:t>
            </a:r>
            <a:endParaRPr lang="en-US" sz="970" dirty="0"/>
          </a:p>
        </p:txBody>
      </p:sp>
      <p:sp>
        <p:nvSpPr>
          <p:cNvPr id="6" name="Shape 4"/>
          <p:cNvSpPr/>
          <p:nvPr/>
        </p:nvSpPr>
        <p:spPr>
          <a:xfrm>
            <a:off x="502920" y="1325880"/>
            <a:ext cx="1965960" cy="1234440"/>
          </a:xfrm>
          <a:prstGeom prst="roundRect">
            <a:avLst>
              <a:gd name="adj" fmla="val 2963"/>
            </a:avLst>
          </a:prstGeom>
          <a:solidFill>
            <a:srgbClr val="FFFFFF"/>
          </a:solidFill>
          <a:ln w="19050">
            <a:solidFill>
              <a:srgbClr val="1F5A5A"/>
            </a:solidFill>
            <a:prstDash val="solid"/>
          </a:ln>
        </p:spPr>
      </p:sp>
      <p:sp>
        <p:nvSpPr>
          <p:cNvPr id="7" name="Shape 5"/>
          <p:cNvSpPr/>
          <p:nvPr/>
        </p:nvSpPr>
        <p:spPr>
          <a:xfrm>
            <a:off x="502920" y="1325880"/>
            <a:ext cx="1965960" cy="310896"/>
          </a:xfrm>
          <a:prstGeom prst="rect">
            <a:avLst/>
          </a:prstGeom>
          <a:solidFill>
            <a:srgbClr val="1F5A5A"/>
          </a:solidFill>
          <a:ln w="12700">
            <a:solidFill>
              <a:srgbClr val="1F5A5A"/>
            </a:solidFill>
            <a:prstDash val="solid"/>
          </a:ln>
        </p:spPr>
      </p:sp>
      <p:sp>
        <p:nvSpPr>
          <p:cNvPr id="8" name="Text 6"/>
          <p:cNvSpPr/>
          <p:nvPr/>
        </p:nvSpPr>
        <p:spPr>
          <a:xfrm>
            <a:off x="576072" y="1408176"/>
            <a:ext cx="1819656" cy="118872"/>
          </a:xfrm>
          <a:prstGeom prst="rect">
            <a:avLst/>
          </a:prstGeom>
          <a:noFill/>
          <a:ln/>
        </p:spPr>
        <p:txBody>
          <a:bodyPr wrap="square" lIns="0" tIns="0" rIns="0" bIns="0" rtlCol="0" anchor="ctr"/>
          <a:lstStyle/>
          <a:p>
            <a:pPr algn="ctr" indent="0" marL="0">
              <a:buNone/>
            </a:pPr>
            <a:r>
              <a:rPr lang="en-US" sz="1050" b="1" dirty="0">
                <a:solidFill>
                  <a:srgbClr val="FFFFFF"/>
                </a:solidFill>
              </a:rPr>
              <a:t>AGENT</a:t>
            </a:r>
            <a:endParaRPr lang="en-US" sz="1050" dirty="0"/>
          </a:p>
        </p:txBody>
      </p:sp>
      <p:sp>
        <p:nvSpPr>
          <p:cNvPr id="9" name="Text 7"/>
          <p:cNvSpPr/>
          <p:nvPr/>
        </p:nvSpPr>
        <p:spPr>
          <a:xfrm>
            <a:off x="612648" y="1746504"/>
            <a:ext cx="1746504" cy="731520"/>
          </a:xfrm>
          <a:prstGeom prst="rect">
            <a:avLst/>
          </a:prstGeom>
          <a:noFill/>
          <a:ln/>
        </p:spPr>
        <p:txBody>
          <a:bodyPr wrap="square" lIns="0" tIns="0" rIns="0" bIns="0" rtlCol="0" anchor="t">
            <a:normAutofit/>
          </a:bodyPr>
          <a:lstStyle/>
          <a:p>
            <a:pPr indent="0" marL="0">
              <a:buNone/>
            </a:pPr>
            <a:r>
              <a:rPr lang="en-US" sz="870" dirty="0">
                <a:solidFill>
                  <a:srgbClr val="1F2937"/>
                </a:solidFill>
              </a:rPr>
              <a:t>PK agent_id</a:t>
            </a:r>
            <a:endParaRPr lang="en-US" sz="870" dirty="0"/>
          </a:p>
          <a:p>
            <a:pPr indent="0" marL="0">
              <a:buNone/>
            </a:pPr>
            <a:r>
              <a:rPr lang="en-US" sz="870" dirty="0">
                <a:solidFill>
                  <a:srgbClr val="1F2937"/>
                </a:solidFill>
              </a:rPr>
              <a:t>name</a:t>
            </a:r>
            <a:endParaRPr lang="en-US" sz="870" dirty="0"/>
          </a:p>
          <a:p>
            <a:pPr indent="0" marL="0">
              <a:buNone/>
            </a:pPr>
            <a:r>
              <a:rPr lang="en-US" sz="870" dirty="0">
                <a:solidFill>
                  <a:srgbClr val="1F2937"/>
                </a:solidFill>
              </a:rPr>
              <a:t>contact</a:t>
            </a:r>
            <a:endParaRPr lang="en-US" sz="870" dirty="0"/>
          </a:p>
          <a:p>
            <a:pPr indent="0" marL="0">
              <a:buNone/>
            </a:pPr>
            <a:r>
              <a:rPr lang="en-US" sz="870" dirty="0">
                <a:solidFill>
                  <a:srgbClr val="1F2937"/>
                </a:solidFill>
              </a:rPr>
              <a:t>commission_rate</a:t>
            </a:r>
            <a:endParaRPr lang="en-US" sz="870" dirty="0"/>
          </a:p>
        </p:txBody>
      </p:sp>
      <p:sp>
        <p:nvSpPr>
          <p:cNvPr id="10" name="Shape 8"/>
          <p:cNvSpPr/>
          <p:nvPr/>
        </p:nvSpPr>
        <p:spPr>
          <a:xfrm>
            <a:off x="502920" y="4251960"/>
            <a:ext cx="1965960" cy="1060704"/>
          </a:xfrm>
          <a:prstGeom prst="roundRect">
            <a:avLst>
              <a:gd name="adj" fmla="val 3448"/>
            </a:avLst>
          </a:prstGeom>
          <a:solidFill>
            <a:srgbClr val="FFFFFF"/>
          </a:solidFill>
          <a:ln w="19050">
            <a:solidFill>
              <a:srgbClr val="C96F47"/>
            </a:solidFill>
            <a:prstDash val="solid"/>
          </a:ln>
        </p:spPr>
      </p:sp>
      <p:sp>
        <p:nvSpPr>
          <p:cNvPr id="11" name="Shape 9"/>
          <p:cNvSpPr/>
          <p:nvPr/>
        </p:nvSpPr>
        <p:spPr>
          <a:xfrm>
            <a:off x="502920" y="4251960"/>
            <a:ext cx="1965960" cy="310896"/>
          </a:xfrm>
          <a:prstGeom prst="rect">
            <a:avLst/>
          </a:prstGeom>
          <a:solidFill>
            <a:srgbClr val="C96F47"/>
          </a:solidFill>
          <a:ln w="12700">
            <a:solidFill>
              <a:srgbClr val="C96F47"/>
            </a:solidFill>
            <a:prstDash val="solid"/>
          </a:ln>
        </p:spPr>
      </p:sp>
      <p:sp>
        <p:nvSpPr>
          <p:cNvPr id="12" name="Text 10"/>
          <p:cNvSpPr/>
          <p:nvPr/>
        </p:nvSpPr>
        <p:spPr>
          <a:xfrm>
            <a:off x="576072" y="4334256"/>
            <a:ext cx="1819656" cy="118872"/>
          </a:xfrm>
          <a:prstGeom prst="rect">
            <a:avLst/>
          </a:prstGeom>
          <a:noFill/>
          <a:ln/>
        </p:spPr>
        <p:txBody>
          <a:bodyPr wrap="square" lIns="0" tIns="0" rIns="0" bIns="0" rtlCol="0" anchor="ctr"/>
          <a:lstStyle/>
          <a:p>
            <a:pPr algn="ctr" indent="0" marL="0">
              <a:buNone/>
            </a:pPr>
            <a:r>
              <a:rPr lang="en-US" sz="1050" b="1" dirty="0">
                <a:solidFill>
                  <a:srgbClr val="FFFFFF"/>
                </a:solidFill>
              </a:rPr>
              <a:t>VENDOR</a:t>
            </a:r>
            <a:endParaRPr lang="en-US" sz="1050" dirty="0"/>
          </a:p>
        </p:txBody>
      </p:sp>
      <p:sp>
        <p:nvSpPr>
          <p:cNvPr id="13" name="Text 11"/>
          <p:cNvSpPr/>
          <p:nvPr/>
        </p:nvSpPr>
        <p:spPr>
          <a:xfrm>
            <a:off x="612648" y="4672584"/>
            <a:ext cx="1746504" cy="557784"/>
          </a:xfrm>
          <a:prstGeom prst="rect">
            <a:avLst/>
          </a:prstGeom>
          <a:noFill/>
          <a:ln/>
        </p:spPr>
        <p:txBody>
          <a:bodyPr wrap="square" lIns="0" tIns="0" rIns="0" bIns="0" rtlCol="0" anchor="t">
            <a:normAutofit/>
          </a:bodyPr>
          <a:lstStyle/>
          <a:p>
            <a:pPr indent="0" marL="0">
              <a:buNone/>
            </a:pPr>
            <a:r>
              <a:rPr lang="en-US" sz="870" dirty="0">
                <a:solidFill>
                  <a:srgbClr val="1F2937"/>
                </a:solidFill>
              </a:rPr>
              <a:t>PK vendor_id</a:t>
            </a:r>
            <a:endParaRPr lang="en-US" sz="870" dirty="0"/>
          </a:p>
          <a:p>
            <a:pPr indent="0" marL="0">
              <a:buNone/>
            </a:pPr>
            <a:r>
              <a:rPr lang="en-US" sz="870" dirty="0">
                <a:solidFill>
                  <a:srgbClr val="1F2937"/>
                </a:solidFill>
              </a:rPr>
              <a:t>name</a:t>
            </a:r>
            <a:endParaRPr lang="en-US" sz="870" dirty="0"/>
          </a:p>
          <a:p>
            <a:pPr indent="0" marL="0">
              <a:buNone/>
            </a:pPr>
            <a:r>
              <a:rPr lang="en-US" sz="870" dirty="0">
                <a:solidFill>
                  <a:srgbClr val="1F2937"/>
                </a:solidFill>
              </a:rPr>
              <a:t>contact</a:t>
            </a:r>
            <a:endParaRPr lang="en-US" sz="870" dirty="0"/>
          </a:p>
        </p:txBody>
      </p:sp>
      <p:sp>
        <p:nvSpPr>
          <p:cNvPr id="14" name="Shape 12"/>
          <p:cNvSpPr/>
          <p:nvPr/>
        </p:nvSpPr>
        <p:spPr>
          <a:xfrm>
            <a:off x="3035808" y="1965960"/>
            <a:ext cx="2240280" cy="1700784"/>
          </a:xfrm>
          <a:prstGeom prst="roundRect">
            <a:avLst>
              <a:gd name="adj" fmla="val 2151"/>
            </a:avLst>
          </a:prstGeom>
          <a:solidFill>
            <a:srgbClr val="FFFFFF"/>
          </a:solidFill>
          <a:ln w="19050">
            <a:solidFill>
              <a:srgbClr val="163A45"/>
            </a:solidFill>
            <a:prstDash val="solid"/>
          </a:ln>
        </p:spPr>
      </p:sp>
      <p:sp>
        <p:nvSpPr>
          <p:cNvPr id="15" name="Shape 13"/>
          <p:cNvSpPr/>
          <p:nvPr/>
        </p:nvSpPr>
        <p:spPr>
          <a:xfrm>
            <a:off x="3035808" y="1965960"/>
            <a:ext cx="2240280" cy="310896"/>
          </a:xfrm>
          <a:prstGeom prst="rect">
            <a:avLst/>
          </a:prstGeom>
          <a:solidFill>
            <a:srgbClr val="163A45"/>
          </a:solidFill>
          <a:ln w="12700">
            <a:solidFill>
              <a:srgbClr val="163A45"/>
            </a:solidFill>
            <a:prstDash val="solid"/>
          </a:ln>
        </p:spPr>
      </p:sp>
      <p:sp>
        <p:nvSpPr>
          <p:cNvPr id="16" name="Text 14"/>
          <p:cNvSpPr/>
          <p:nvPr/>
        </p:nvSpPr>
        <p:spPr>
          <a:xfrm>
            <a:off x="3108960" y="2048256"/>
            <a:ext cx="2093976" cy="118872"/>
          </a:xfrm>
          <a:prstGeom prst="rect">
            <a:avLst/>
          </a:prstGeom>
          <a:noFill/>
          <a:ln/>
        </p:spPr>
        <p:txBody>
          <a:bodyPr wrap="square" lIns="0" tIns="0" rIns="0" bIns="0" rtlCol="0" anchor="ctr"/>
          <a:lstStyle/>
          <a:p>
            <a:pPr algn="ctr" indent="0" marL="0">
              <a:buNone/>
            </a:pPr>
            <a:r>
              <a:rPr lang="en-US" sz="1050" b="1" dirty="0">
                <a:solidFill>
                  <a:srgbClr val="FFFFFF"/>
                </a:solidFill>
              </a:rPr>
              <a:t>PROPERTY</a:t>
            </a:r>
            <a:endParaRPr lang="en-US" sz="1050" dirty="0"/>
          </a:p>
        </p:txBody>
      </p:sp>
      <p:sp>
        <p:nvSpPr>
          <p:cNvPr id="17" name="Text 15"/>
          <p:cNvSpPr/>
          <p:nvPr/>
        </p:nvSpPr>
        <p:spPr>
          <a:xfrm>
            <a:off x="3145536" y="2386584"/>
            <a:ext cx="2020824" cy="1197864"/>
          </a:xfrm>
          <a:prstGeom prst="rect">
            <a:avLst/>
          </a:prstGeom>
          <a:noFill/>
          <a:ln/>
        </p:spPr>
        <p:txBody>
          <a:bodyPr wrap="square" lIns="0" tIns="0" rIns="0" bIns="0" rtlCol="0" anchor="t">
            <a:normAutofit/>
          </a:bodyPr>
          <a:lstStyle/>
          <a:p>
            <a:pPr indent="0" marL="0">
              <a:buNone/>
            </a:pPr>
            <a:r>
              <a:rPr lang="en-US" sz="870" dirty="0">
                <a:solidFill>
                  <a:srgbClr val="1F2937"/>
                </a:solidFill>
              </a:rPr>
              <a:t>PK property_id</a:t>
            </a:r>
            <a:endParaRPr lang="en-US" sz="870" dirty="0"/>
          </a:p>
          <a:p>
            <a:pPr indent="0" marL="0">
              <a:buNone/>
            </a:pPr>
            <a:r>
              <a:rPr lang="en-US" sz="870" dirty="0">
                <a:solidFill>
                  <a:srgbClr val="1F2937"/>
                </a:solidFill>
              </a:rPr>
              <a:t>address • price • bed_bath</a:t>
            </a:r>
            <a:endParaRPr lang="en-US" sz="870" dirty="0"/>
          </a:p>
          <a:p>
            <a:pPr indent="0" marL="0">
              <a:buNone/>
            </a:pPr>
            <a:r>
              <a:rPr lang="en-US" sz="870" dirty="0">
                <a:solidFill>
                  <a:srgbClr val="1F2937"/>
                </a:solidFill>
              </a:rPr>
              <a:t>land_size • status</a:t>
            </a:r>
            <a:endParaRPr lang="en-US" sz="870" dirty="0"/>
          </a:p>
          <a:p>
            <a:pPr indent="0" marL="0">
              <a:buNone/>
            </a:pPr>
            <a:r>
              <a:rPr lang="en-US" sz="870" dirty="0">
                <a:solidFill>
                  <a:srgbClr val="1F2937"/>
                </a:solidFill>
              </a:rPr>
              <a:t>FK vendor_id</a:t>
            </a:r>
            <a:endParaRPr lang="en-US" sz="870" dirty="0"/>
          </a:p>
          <a:p>
            <a:pPr indent="0" marL="0">
              <a:buNone/>
            </a:pPr>
            <a:r>
              <a:rPr lang="en-US" sz="870" dirty="0">
                <a:solidFill>
                  <a:srgbClr val="1F2937"/>
                </a:solidFill>
              </a:rPr>
              <a:t>FK agent_id</a:t>
            </a:r>
            <a:endParaRPr lang="en-US" sz="870" dirty="0"/>
          </a:p>
        </p:txBody>
      </p:sp>
      <p:sp>
        <p:nvSpPr>
          <p:cNvPr id="18" name="Shape 16"/>
          <p:cNvSpPr/>
          <p:nvPr/>
        </p:nvSpPr>
        <p:spPr>
          <a:xfrm>
            <a:off x="5623560" y="960120"/>
            <a:ext cx="2057400" cy="1536192"/>
          </a:xfrm>
          <a:prstGeom prst="roundRect">
            <a:avLst>
              <a:gd name="adj" fmla="val 2381"/>
            </a:avLst>
          </a:prstGeom>
          <a:solidFill>
            <a:srgbClr val="FFFFFF"/>
          </a:solidFill>
          <a:ln w="19050">
            <a:solidFill>
              <a:srgbClr val="4B7A6A"/>
            </a:solidFill>
            <a:prstDash val="solid"/>
          </a:ln>
        </p:spPr>
      </p:sp>
      <p:sp>
        <p:nvSpPr>
          <p:cNvPr id="19" name="Shape 17"/>
          <p:cNvSpPr/>
          <p:nvPr/>
        </p:nvSpPr>
        <p:spPr>
          <a:xfrm>
            <a:off x="5623560" y="960120"/>
            <a:ext cx="2057400" cy="310896"/>
          </a:xfrm>
          <a:prstGeom prst="rect">
            <a:avLst/>
          </a:prstGeom>
          <a:solidFill>
            <a:srgbClr val="4B7A6A"/>
          </a:solidFill>
          <a:ln w="12700">
            <a:solidFill>
              <a:srgbClr val="4B7A6A"/>
            </a:solidFill>
            <a:prstDash val="solid"/>
          </a:ln>
        </p:spPr>
      </p:sp>
      <p:sp>
        <p:nvSpPr>
          <p:cNvPr id="20" name="Text 18"/>
          <p:cNvSpPr/>
          <p:nvPr/>
        </p:nvSpPr>
        <p:spPr>
          <a:xfrm>
            <a:off x="5696712" y="1042416"/>
            <a:ext cx="1911096" cy="118872"/>
          </a:xfrm>
          <a:prstGeom prst="rect">
            <a:avLst/>
          </a:prstGeom>
          <a:noFill/>
          <a:ln/>
        </p:spPr>
        <p:txBody>
          <a:bodyPr wrap="square" lIns="0" tIns="0" rIns="0" bIns="0" rtlCol="0" anchor="ctr"/>
          <a:lstStyle/>
          <a:p>
            <a:pPr algn="ctr" indent="0" marL="0">
              <a:buNone/>
            </a:pPr>
            <a:r>
              <a:rPr lang="en-US" sz="1050" b="1" dirty="0">
                <a:solidFill>
                  <a:srgbClr val="FFFFFF"/>
                </a:solidFill>
              </a:rPr>
              <a:t>BUYER</a:t>
            </a:r>
            <a:endParaRPr lang="en-US" sz="1050" dirty="0"/>
          </a:p>
        </p:txBody>
      </p:sp>
      <p:sp>
        <p:nvSpPr>
          <p:cNvPr id="21" name="Text 19"/>
          <p:cNvSpPr/>
          <p:nvPr/>
        </p:nvSpPr>
        <p:spPr>
          <a:xfrm>
            <a:off x="5733288" y="1380744"/>
            <a:ext cx="1837944" cy="1033272"/>
          </a:xfrm>
          <a:prstGeom prst="rect">
            <a:avLst/>
          </a:prstGeom>
          <a:noFill/>
          <a:ln/>
        </p:spPr>
        <p:txBody>
          <a:bodyPr wrap="square" lIns="0" tIns="0" rIns="0" bIns="0" rtlCol="0" anchor="t">
            <a:normAutofit/>
          </a:bodyPr>
          <a:lstStyle/>
          <a:p>
            <a:pPr indent="0" marL="0">
              <a:buNone/>
            </a:pPr>
            <a:r>
              <a:rPr lang="en-US" sz="870" dirty="0">
                <a:solidFill>
                  <a:srgbClr val="1F2937"/>
                </a:solidFill>
              </a:rPr>
              <a:t>PK buyer_id</a:t>
            </a:r>
            <a:endParaRPr lang="en-US" sz="870" dirty="0"/>
          </a:p>
          <a:p>
            <a:pPr indent="0" marL="0">
              <a:buNone/>
            </a:pPr>
            <a:r>
              <a:rPr lang="en-US" sz="870" dirty="0">
                <a:solidFill>
                  <a:srgbClr val="1F2937"/>
                </a:solidFill>
              </a:rPr>
              <a:t>name • contact</a:t>
            </a:r>
            <a:endParaRPr lang="en-US" sz="870" dirty="0"/>
          </a:p>
          <a:p>
            <a:pPr indent="0" marL="0">
              <a:buNone/>
            </a:pPr>
            <a:r>
              <a:rPr lang="en-US" sz="870" dirty="0">
                <a:solidFill>
                  <a:srgbClr val="1F2937"/>
                </a:solidFill>
              </a:rPr>
              <a:t>budget • preferences</a:t>
            </a:r>
            <a:endParaRPr lang="en-US" sz="870" dirty="0"/>
          </a:p>
        </p:txBody>
      </p:sp>
      <p:sp>
        <p:nvSpPr>
          <p:cNvPr id="22" name="Shape 20"/>
          <p:cNvSpPr/>
          <p:nvPr/>
        </p:nvSpPr>
        <p:spPr>
          <a:xfrm>
            <a:off x="5623560" y="2862072"/>
            <a:ext cx="2057400" cy="1554480"/>
          </a:xfrm>
          <a:prstGeom prst="roundRect">
            <a:avLst>
              <a:gd name="adj" fmla="val 2353"/>
            </a:avLst>
          </a:prstGeom>
          <a:solidFill>
            <a:srgbClr val="FFFFFF"/>
          </a:solidFill>
          <a:ln w="19050">
            <a:solidFill>
              <a:srgbClr val="1F5A5A"/>
            </a:solidFill>
            <a:prstDash val="solid"/>
          </a:ln>
        </p:spPr>
      </p:sp>
      <p:sp>
        <p:nvSpPr>
          <p:cNvPr id="23" name="Shape 21"/>
          <p:cNvSpPr/>
          <p:nvPr/>
        </p:nvSpPr>
        <p:spPr>
          <a:xfrm>
            <a:off x="5623560" y="2862072"/>
            <a:ext cx="2057400" cy="310896"/>
          </a:xfrm>
          <a:prstGeom prst="rect">
            <a:avLst/>
          </a:prstGeom>
          <a:solidFill>
            <a:srgbClr val="1F5A5A"/>
          </a:solidFill>
          <a:ln w="12700">
            <a:solidFill>
              <a:srgbClr val="1F5A5A"/>
            </a:solidFill>
            <a:prstDash val="solid"/>
          </a:ln>
        </p:spPr>
      </p:sp>
      <p:sp>
        <p:nvSpPr>
          <p:cNvPr id="24" name="Text 22"/>
          <p:cNvSpPr/>
          <p:nvPr/>
        </p:nvSpPr>
        <p:spPr>
          <a:xfrm>
            <a:off x="5696712" y="2944368"/>
            <a:ext cx="1911096" cy="118872"/>
          </a:xfrm>
          <a:prstGeom prst="rect">
            <a:avLst/>
          </a:prstGeom>
          <a:noFill/>
          <a:ln/>
        </p:spPr>
        <p:txBody>
          <a:bodyPr wrap="square" lIns="0" tIns="0" rIns="0" bIns="0" rtlCol="0" anchor="ctr"/>
          <a:lstStyle/>
          <a:p>
            <a:pPr algn="ctr" indent="0" marL="0">
              <a:buNone/>
            </a:pPr>
            <a:r>
              <a:rPr lang="en-US" sz="1050" b="1" dirty="0">
                <a:solidFill>
                  <a:srgbClr val="FFFFFF"/>
                </a:solidFill>
              </a:rPr>
              <a:t>VIEWING</a:t>
            </a:r>
            <a:endParaRPr lang="en-US" sz="1050" dirty="0"/>
          </a:p>
        </p:txBody>
      </p:sp>
      <p:sp>
        <p:nvSpPr>
          <p:cNvPr id="25" name="Text 23"/>
          <p:cNvSpPr/>
          <p:nvPr/>
        </p:nvSpPr>
        <p:spPr>
          <a:xfrm>
            <a:off x="5733288" y="3282696"/>
            <a:ext cx="1837944" cy="1051560"/>
          </a:xfrm>
          <a:prstGeom prst="rect">
            <a:avLst/>
          </a:prstGeom>
          <a:noFill/>
          <a:ln/>
        </p:spPr>
        <p:txBody>
          <a:bodyPr wrap="square" lIns="0" tIns="0" rIns="0" bIns="0" rtlCol="0" anchor="t">
            <a:normAutofit/>
          </a:bodyPr>
          <a:lstStyle/>
          <a:p>
            <a:pPr indent="0" marL="0">
              <a:buNone/>
            </a:pPr>
            <a:r>
              <a:rPr lang="en-US" sz="870" dirty="0">
                <a:solidFill>
                  <a:srgbClr val="1F2937"/>
                </a:solidFill>
              </a:rPr>
              <a:t>PK viewing_id</a:t>
            </a:r>
            <a:endParaRPr lang="en-US" sz="870" dirty="0"/>
          </a:p>
          <a:p>
            <a:pPr indent="0" marL="0">
              <a:buNone/>
            </a:pPr>
            <a:r>
              <a:rPr lang="en-US" sz="870" dirty="0">
                <a:solidFill>
                  <a:srgbClr val="1F2937"/>
                </a:solidFill>
              </a:rPr>
              <a:t>FK property_id</a:t>
            </a:r>
            <a:endParaRPr lang="en-US" sz="870" dirty="0"/>
          </a:p>
          <a:p>
            <a:pPr indent="0" marL="0">
              <a:buNone/>
            </a:pPr>
            <a:r>
              <a:rPr lang="en-US" sz="870" dirty="0">
                <a:solidFill>
                  <a:srgbClr val="1F2937"/>
                </a:solidFill>
              </a:rPr>
              <a:t>FK buyer_id</a:t>
            </a:r>
            <a:endParaRPr lang="en-US" sz="870" dirty="0"/>
          </a:p>
          <a:p>
            <a:pPr indent="0" marL="0">
              <a:buNone/>
            </a:pPr>
            <a:r>
              <a:rPr lang="en-US" sz="870" dirty="0">
                <a:solidFill>
                  <a:srgbClr val="1F2937"/>
                </a:solidFill>
              </a:rPr>
              <a:t>date_time • feedback</a:t>
            </a:r>
            <a:endParaRPr lang="en-US" sz="870" dirty="0"/>
          </a:p>
        </p:txBody>
      </p:sp>
      <p:sp>
        <p:nvSpPr>
          <p:cNvPr id="26" name="Shape 24"/>
          <p:cNvSpPr/>
          <p:nvPr/>
        </p:nvSpPr>
        <p:spPr>
          <a:xfrm>
            <a:off x="8366760" y="2862072"/>
            <a:ext cx="1993392" cy="1554480"/>
          </a:xfrm>
          <a:prstGeom prst="roundRect">
            <a:avLst>
              <a:gd name="adj" fmla="val 2353"/>
            </a:avLst>
          </a:prstGeom>
          <a:solidFill>
            <a:srgbClr val="FFFFFF"/>
          </a:solidFill>
          <a:ln w="19050">
            <a:solidFill>
              <a:srgbClr val="C96F47"/>
            </a:solidFill>
            <a:prstDash val="solid"/>
          </a:ln>
        </p:spPr>
      </p:sp>
      <p:sp>
        <p:nvSpPr>
          <p:cNvPr id="27" name="Shape 25"/>
          <p:cNvSpPr/>
          <p:nvPr/>
        </p:nvSpPr>
        <p:spPr>
          <a:xfrm>
            <a:off x="8366760" y="2862072"/>
            <a:ext cx="1993392" cy="310896"/>
          </a:xfrm>
          <a:prstGeom prst="rect">
            <a:avLst/>
          </a:prstGeom>
          <a:solidFill>
            <a:srgbClr val="C96F47"/>
          </a:solidFill>
          <a:ln w="12700">
            <a:solidFill>
              <a:srgbClr val="C96F47"/>
            </a:solidFill>
            <a:prstDash val="solid"/>
          </a:ln>
        </p:spPr>
      </p:sp>
      <p:sp>
        <p:nvSpPr>
          <p:cNvPr id="28" name="Text 26"/>
          <p:cNvSpPr/>
          <p:nvPr/>
        </p:nvSpPr>
        <p:spPr>
          <a:xfrm>
            <a:off x="8439912" y="2944368"/>
            <a:ext cx="1847088" cy="118872"/>
          </a:xfrm>
          <a:prstGeom prst="rect">
            <a:avLst/>
          </a:prstGeom>
          <a:noFill/>
          <a:ln/>
        </p:spPr>
        <p:txBody>
          <a:bodyPr wrap="square" lIns="0" tIns="0" rIns="0" bIns="0" rtlCol="0" anchor="ctr"/>
          <a:lstStyle/>
          <a:p>
            <a:pPr algn="ctr" indent="0" marL="0">
              <a:buNone/>
            </a:pPr>
            <a:r>
              <a:rPr lang="en-US" sz="1050" b="1" dirty="0">
                <a:solidFill>
                  <a:srgbClr val="FFFFFF"/>
                </a:solidFill>
              </a:rPr>
              <a:t>OFFER</a:t>
            </a:r>
            <a:endParaRPr lang="en-US" sz="1050" dirty="0"/>
          </a:p>
        </p:txBody>
      </p:sp>
      <p:sp>
        <p:nvSpPr>
          <p:cNvPr id="29" name="Text 27"/>
          <p:cNvSpPr/>
          <p:nvPr/>
        </p:nvSpPr>
        <p:spPr>
          <a:xfrm>
            <a:off x="8476488" y="3282696"/>
            <a:ext cx="1773936" cy="1051560"/>
          </a:xfrm>
          <a:prstGeom prst="rect">
            <a:avLst/>
          </a:prstGeom>
          <a:noFill/>
          <a:ln/>
        </p:spPr>
        <p:txBody>
          <a:bodyPr wrap="square" lIns="0" tIns="0" rIns="0" bIns="0" rtlCol="0" anchor="t">
            <a:normAutofit/>
          </a:bodyPr>
          <a:lstStyle/>
          <a:p>
            <a:pPr indent="0" marL="0">
              <a:buNone/>
            </a:pPr>
            <a:r>
              <a:rPr lang="en-US" sz="870" dirty="0">
                <a:solidFill>
                  <a:srgbClr val="1F2937"/>
                </a:solidFill>
              </a:rPr>
              <a:t>PK offer_id</a:t>
            </a:r>
            <a:endParaRPr lang="en-US" sz="870" dirty="0"/>
          </a:p>
          <a:p>
            <a:pPr indent="0" marL="0">
              <a:buNone/>
            </a:pPr>
            <a:r>
              <a:rPr lang="en-US" sz="870" dirty="0">
                <a:solidFill>
                  <a:srgbClr val="1F2937"/>
                </a:solidFill>
              </a:rPr>
              <a:t>FK property_id</a:t>
            </a:r>
            <a:endParaRPr lang="en-US" sz="870" dirty="0"/>
          </a:p>
          <a:p>
            <a:pPr indent="0" marL="0">
              <a:buNone/>
            </a:pPr>
            <a:r>
              <a:rPr lang="en-US" sz="870" dirty="0">
                <a:solidFill>
                  <a:srgbClr val="1F2937"/>
                </a:solidFill>
              </a:rPr>
              <a:t>FK buyer_id</a:t>
            </a:r>
            <a:endParaRPr lang="en-US" sz="870" dirty="0"/>
          </a:p>
          <a:p>
            <a:pPr indent="0" marL="0">
              <a:buNone/>
            </a:pPr>
            <a:r>
              <a:rPr lang="en-US" sz="870" dirty="0">
                <a:solidFill>
                  <a:srgbClr val="1F2937"/>
                </a:solidFill>
              </a:rPr>
              <a:t>amount • date • status</a:t>
            </a:r>
            <a:endParaRPr lang="en-US" sz="870" dirty="0"/>
          </a:p>
        </p:txBody>
      </p:sp>
      <p:sp>
        <p:nvSpPr>
          <p:cNvPr id="30" name="Shape 28"/>
          <p:cNvSpPr/>
          <p:nvPr/>
        </p:nvSpPr>
        <p:spPr>
          <a:xfrm>
            <a:off x="8366760" y="4800600"/>
            <a:ext cx="1993392" cy="1261872"/>
          </a:xfrm>
          <a:prstGeom prst="roundRect">
            <a:avLst>
              <a:gd name="adj" fmla="val 2899"/>
            </a:avLst>
          </a:prstGeom>
          <a:solidFill>
            <a:srgbClr val="FFFFFF"/>
          </a:solidFill>
          <a:ln w="19050">
            <a:solidFill>
              <a:srgbClr val="163A45"/>
            </a:solidFill>
            <a:prstDash val="solid"/>
          </a:ln>
        </p:spPr>
      </p:sp>
      <p:sp>
        <p:nvSpPr>
          <p:cNvPr id="31" name="Shape 29"/>
          <p:cNvSpPr/>
          <p:nvPr/>
        </p:nvSpPr>
        <p:spPr>
          <a:xfrm>
            <a:off x="8366760" y="4800600"/>
            <a:ext cx="1993392" cy="310896"/>
          </a:xfrm>
          <a:prstGeom prst="rect">
            <a:avLst/>
          </a:prstGeom>
          <a:solidFill>
            <a:srgbClr val="163A45"/>
          </a:solidFill>
          <a:ln w="12700">
            <a:solidFill>
              <a:srgbClr val="163A45"/>
            </a:solidFill>
            <a:prstDash val="solid"/>
          </a:ln>
        </p:spPr>
      </p:sp>
      <p:sp>
        <p:nvSpPr>
          <p:cNvPr id="32" name="Text 30"/>
          <p:cNvSpPr/>
          <p:nvPr/>
        </p:nvSpPr>
        <p:spPr>
          <a:xfrm>
            <a:off x="8439912" y="4882896"/>
            <a:ext cx="1847088" cy="118872"/>
          </a:xfrm>
          <a:prstGeom prst="rect">
            <a:avLst/>
          </a:prstGeom>
          <a:noFill/>
          <a:ln/>
        </p:spPr>
        <p:txBody>
          <a:bodyPr wrap="square" lIns="0" tIns="0" rIns="0" bIns="0" rtlCol="0" anchor="ctr"/>
          <a:lstStyle/>
          <a:p>
            <a:pPr algn="ctr" indent="0" marL="0">
              <a:buNone/>
            </a:pPr>
            <a:r>
              <a:rPr lang="en-US" sz="1050" b="1" dirty="0">
                <a:solidFill>
                  <a:srgbClr val="FFFFFF"/>
                </a:solidFill>
              </a:rPr>
              <a:t>SALE</a:t>
            </a:r>
            <a:endParaRPr lang="en-US" sz="1050" dirty="0"/>
          </a:p>
        </p:txBody>
      </p:sp>
      <p:sp>
        <p:nvSpPr>
          <p:cNvPr id="33" name="Text 31"/>
          <p:cNvSpPr/>
          <p:nvPr/>
        </p:nvSpPr>
        <p:spPr>
          <a:xfrm>
            <a:off x="8476488" y="5221224"/>
            <a:ext cx="1773936" cy="758952"/>
          </a:xfrm>
          <a:prstGeom prst="rect">
            <a:avLst/>
          </a:prstGeom>
          <a:noFill/>
          <a:ln/>
        </p:spPr>
        <p:txBody>
          <a:bodyPr wrap="square" lIns="0" tIns="0" rIns="0" bIns="0" rtlCol="0" anchor="t">
            <a:normAutofit/>
          </a:bodyPr>
          <a:lstStyle/>
          <a:p>
            <a:pPr indent="0" marL="0">
              <a:buNone/>
            </a:pPr>
            <a:r>
              <a:rPr lang="en-US" sz="870" dirty="0">
                <a:solidFill>
                  <a:srgbClr val="1F2937"/>
                </a:solidFill>
              </a:rPr>
              <a:t>PK sale_id</a:t>
            </a:r>
            <a:endParaRPr lang="en-US" sz="870" dirty="0"/>
          </a:p>
          <a:p>
            <a:pPr indent="0" marL="0">
              <a:buNone/>
            </a:pPr>
            <a:r>
              <a:rPr lang="en-US" sz="870" dirty="0">
                <a:solidFill>
                  <a:srgbClr val="1F2937"/>
                </a:solidFill>
              </a:rPr>
              <a:t>UQ/FK offer_id</a:t>
            </a:r>
            <a:endParaRPr lang="en-US" sz="870" dirty="0"/>
          </a:p>
          <a:p>
            <a:pPr indent="0" marL="0">
              <a:buNone/>
            </a:pPr>
            <a:r>
              <a:rPr lang="en-US" sz="870" dirty="0">
                <a:solidFill>
                  <a:srgbClr val="1F2937"/>
                </a:solidFill>
              </a:rPr>
              <a:t>final_price • date</a:t>
            </a:r>
            <a:endParaRPr lang="en-US" sz="870" dirty="0"/>
          </a:p>
          <a:p>
            <a:pPr indent="0" marL="0">
              <a:buNone/>
            </a:pPr>
            <a:r>
              <a:rPr lang="en-US" sz="870" dirty="0">
                <a:solidFill>
                  <a:srgbClr val="1F2937"/>
                </a:solidFill>
              </a:rPr>
              <a:t>commission</a:t>
            </a:r>
            <a:endParaRPr lang="en-US" sz="870" dirty="0"/>
          </a:p>
        </p:txBody>
      </p:sp>
      <p:sp>
        <p:nvSpPr>
          <p:cNvPr id="34" name="Shape 32"/>
          <p:cNvSpPr/>
          <p:nvPr/>
        </p:nvSpPr>
        <p:spPr>
          <a:xfrm>
            <a:off x="2468880" y="1938528"/>
            <a:ext cx="566928" cy="548640"/>
          </a:xfrm>
          <a:prstGeom prst="line">
            <a:avLst/>
          </a:prstGeom>
          <a:noFill/>
          <a:ln w="16510">
            <a:solidFill>
              <a:srgbClr val="1F5A5A"/>
            </a:solidFill>
            <a:prstDash val="solid"/>
            <a:headEnd type="none"/>
            <a:tailEnd type="none"/>
          </a:ln>
        </p:spPr>
      </p:sp>
      <p:sp>
        <p:nvSpPr>
          <p:cNvPr id="35" name="Shape 33"/>
          <p:cNvSpPr/>
          <p:nvPr/>
        </p:nvSpPr>
        <p:spPr>
          <a:xfrm>
            <a:off x="2578608" y="1938528"/>
            <a:ext cx="0" cy="182880"/>
          </a:xfrm>
          <a:prstGeom prst="line">
            <a:avLst/>
          </a:prstGeom>
          <a:noFill/>
          <a:ln w="16510">
            <a:solidFill>
              <a:srgbClr val="1F5A5A"/>
            </a:solidFill>
            <a:prstDash val="solid"/>
            <a:headEnd type="none"/>
            <a:tailEnd type="none"/>
          </a:ln>
        </p:spPr>
      </p:sp>
      <p:sp>
        <p:nvSpPr>
          <p:cNvPr id="36" name="Shape 34"/>
          <p:cNvSpPr/>
          <p:nvPr/>
        </p:nvSpPr>
        <p:spPr>
          <a:xfrm>
            <a:off x="2999232" y="2441448"/>
            <a:ext cx="-109728" cy="0"/>
          </a:xfrm>
          <a:prstGeom prst="line">
            <a:avLst/>
          </a:prstGeom>
          <a:noFill/>
          <a:ln w="13970">
            <a:solidFill>
              <a:srgbClr val="1F5A5A"/>
            </a:solidFill>
            <a:prstDash val="solid"/>
            <a:headEnd type="none"/>
            <a:tailEnd type="none"/>
          </a:ln>
        </p:spPr>
      </p:sp>
      <p:sp>
        <p:nvSpPr>
          <p:cNvPr id="37" name="Shape 35"/>
          <p:cNvSpPr/>
          <p:nvPr/>
        </p:nvSpPr>
        <p:spPr>
          <a:xfrm>
            <a:off x="2999232" y="2441448"/>
            <a:ext cx="-109728" cy="-109728"/>
          </a:xfrm>
          <a:prstGeom prst="line">
            <a:avLst/>
          </a:prstGeom>
          <a:noFill/>
          <a:ln w="13970">
            <a:solidFill>
              <a:srgbClr val="1F5A5A"/>
            </a:solidFill>
            <a:prstDash val="solid"/>
            <a:headEnd type="none"/>
            <a:tailEnd type="none"/>
          </a:ln>
        </p:spPr>
      </p:sp>
      <p:sp>
        <p:nvSpPr>
          <p:cNvPr id="38" name="Shape 36"/>
          <p:cNvSpPr/>
          <p:nvPr/>
        </p:nvSpPr>
        <p:spPr>
          <a:xfrm>
            <a:off x="2999232" y="2441448"/>
            <a:ext cx="-109728" cy="109728"/>
          </a:xfrm>
          <a:prstGeom prst="line">
            <a:avLst/>
          </a:prstGeom>
          <a:noFill/>
          <a:ln w="13970">
            <a:solidFill>
              <a:srgbClr val="1F5A5A"/>
            </a:solidFill>
            <a:prstDash val="solid"/>
            <a:headEnd type="none"/>
            <a:tailEnd type="none"/>
          </a:ln>
        </p:spPr>
      </p:sp>
      <p:sp>
        <p:nvSpPr>
          <p:cNvPr id="39" name="Shape 37"/>
          <p:cNvSpPr/>
          <p:nvPr/>
        </p:nvSpPr>
        <p:spPr>
          <a:xfrm>
            <a:off x="2468880" y="4736592"/>
            <a:ext cx="566928" cy="-1581912"/>
          </a:xfrm>
          <a:prstGeom prst="line">
            <a:avLst/>
          </a:prstGeom>
          <a:noFill/>
          <a:ln w="16510">
            <a:solidFill>
              <a:srgbClr val="C96F47"/>
            </a:solidFill>
            <a:prstDash val="solid"/>
            <a:headEnd type="none"/>
            <a:tailEnd type="none"/>
          </a:ln>
        </p:spPr>
      </p:sp>
      <p:sp>
        <p:nvSpPr>
          <p:cNvPr id="40" name="Shape 38"/>
          <p:cNvSpPr/>
          <p:nvPr/>
        </p:nvSpPr>
        <p:spPr>
          <a:xfrm>
            <a:off x="2578608" y="4343400"/>
            <a:ext cx="0" cy="182880"/>
          </a:xfrm>
          <a:prstGeom prst="line">
            <a:avLst/>
          </a:prstGeom>
          <a:noFill/>
          <a:ln w="16510">
            <a:solidFill>
              <a:srgbClr val="C96F47"/>
            </a:solidFill>
            <a:prstDash val="solid"/>
            <a:headEnd type="none"/>
            <a:tailEnd type="none"/>
          </a:ln>
        </p:spPr>
      </p:sp>
      <p:sp>
        <p:nvSpPr>
          <p:cNvPr id="41" name="Shape 39"/>
          <p:cNvSpPr/>
          <p:nvPr/>
        </p:nvSpPr>
        <p:spPr>
          <a:xfrm>
            <a:off x="2999232" y="3246120"/>
            <a:ext cx="-109728" cy="0"/>
          </a:xfrm>
          <a:prstGeom prst="line">
            <a:avLst/>
          </a:prstGeom>
          <a:noFill/>
          <a:ln w="13970">
            <a:solidFill>
              <a:srgbClr val="C96F47"/>
            </a:solidFill>
            <a:prstDash val="solid"/>
            <a:headEnd type="none"/>
            <a:tailEnd type="none"/>
          </a:ln>
        </p:spPr>
      </p:sp>
      <p:sp>
        <p:nvSpPr>
          <p:cNvPr id="42" name="Shape 40"/>
          <p:cNvSpPr/>
          <p:nvPr/>
        </p:nvSpPr>
        <p:spPr>
          <a:xfrm>
            <a:off x="2999232" y="3246120"/>
            <a:ext cx="-109728" cy="-109728"/>
          </a:xfrm>
          <a:prstGeom prst="line">
            <a:avLst/>
          </a:prstGeom>
          <a:noFill/>
          <a:ln w="13970">
            <a:solidFill>
              <a:srgbClr val="C96F47"/>
            </a:solidFill>
            <a:prstDash val="solid"/>
            <a:headEnd type="none"/>
            <a:tailEnd type="none"/>
          </a:ln>
        </p:spPr>
      </p:sp>
      <p:sp>
        <p:nvSpPr>
          <p:cNvPr id="43" name="Shape 41"/>
          <p:cNvSpPr/>
          <p:nvPr/>
        </p:nvSpPr>
        <p:spPr>
          <a:xfrm>
            <a:off x="2999232" y="3246120"/>
            <a:ext cx="-109728" cy="109728"/>
          </a:xfrm>
          <a:prstGeom prst="line">
            <a:avLst/>
          </a:prstGeom>
          <a:noFill/>
          <a:ln w="13970">
            <a:solidFill>
              <a:srgbClr val="C96F47"/>
            </a:solidFill>
            <a:prstDash val="solid"/>
            <a:headEnd type="none"/>
            <a:tailEnd type="none"/>
          </a:ln>
        </p:spPr>
      </p:sp>
      <p:sp>
        <p:nvSpPr>
          <p:cNvPr id="44" name="Shape 42"/>
          <p:cNvSpPr/>
          <p:nvPr/>
        </p:nvSpPr>
        <p:spPr>
          <a:xfrm>
            <a:off x="5276088" y="2971800"/>
            <a:ext cx="347472" cy="484632"/>
          </a:xfrm>
          <a:prstGeom prst="line">
            <a:avLst/>
          </a:prstGeom>
          <a:noFill/>
          <a:ln w="16510">
            <a:solidFill>
              <a:srgbClr val="1F5A5A"/>
            </a:solidFill>
            <a:prstDash val="solid"/>
            <a:headEnd type="none"/>
            <a:tailEnd type="none"/>
          </a:ln>
        </p:spPr>
      </p:sp>
      <p:sp>
        <p:nvSpPr>
          <p:cNvPr id="45" name="Shape 43"/>
          <p:cNvSpPr/>
          <p:nvPr/>
        </p:nvSpPr>
        <p:spPr>
          <a:xfrm>
            <a:off x="5321808" y="2971800"/>
            <a:ext cx="0" cy="182880"/>
          </a:xfrm>
          <a:prstGeom prst="line">
            <a:avLst/>
          </a:prstGeom>
          <a:noFill/>
          <a:ln w="16510">
            <a:solidFill>
              <a:srgbClr val="1F5A5A"/>
            </a:solidFill>
            <a:prstDash val="solid"/>
            <a:headEnd type="none"/>
            <a:tailEnd type="none"/>
          </a:ln>
        </p:spPr>
      </p:sp>
      <p:sp>
        <p:nvSpPr>
          <p:cNvPr id="46" name="Shape 44"/>
          <p:cNvSpPr/>
          <p:nvPr/>
        </p:nvSpPr>
        <p:spPr>
          <a:xfrm>
            <a:off x="5596128" y="3419856"/>
            <a:ext cx="-109728" cy="0"/>
          </a:xfrm>
          <a:prstGeom prst="line">
            <a:avLst/>
          </a:prstGeom>
          <a:noFill/>
          <a:ln w="13970">
            <a:solidFill>
              <a:srgbClr val="1F5A5A"/>
            </a:solidFill>
            <a:prstDash val="solid"/>
            <a:headEnd type="none"/>
            <a:tailEnd type="none"/>
          </a:ln>
        </p:spPr>
      </p:sp>
      <p:sp>
        <p:nvSpPr>
          <p:cNvPr id="47" name="Shape 45"/>
          <p:cNvSpPr/>
          <p:nvPr/>
        </p:nvSpPr>
        <p:spPr>
          <a:xfrm>
            <a:off x="5596128" y="3419856"/>
            <a:ext cx="-109728" cy="-109728"/>
          </a:xfrm>
          <a:prstGeom prst="line">
            <a:avLst/>
          </a:prstGeom>
          <a:noFill/>
          <a:ln w="13970">
            <a:solidFill>
              <a:srgbClr val="1F5A5A"/>
            </a:solidFill>
            <a:prstDash val="solid"/>
            <a:headEnd type="none"/>
            <a:tailEnd type="none"/>
          </a:ln>
        </p:spPr>
      </p:sp>
      <p:sp>
        <p:nvSpPr>
          <p:cNvPr id="48" name="Shape 46"/>
          <p:cNvSpPr/>
          <p:nvPr/>
        </p:nvSpPr>
        <p:spPr>
          <a:xfrm>
            <a:off x="5596128" y="3419856"/>
            <a:ext cx="-109728" cy="109728"/>
          </a:xfrm>
          <a:prstGeom prst="line">
            <a:avLst/>
          </a:prstGeom>
          <a:noFill/>
          <a:ln w="13970">
            <a:solidFill>
              <a:srgbClr val="1F5A5A"/>
            </a:solidFill>
            <a:prstDash val="solid"/>
            <a:headEnd type="none"/>
            <a:tailEnd type="none"/>
          </a:ln>
        </p:spPr>
      </p:sp>
      <p:sp>
        <p:nvSpPr>
          <p:cNvPr id="49" name="Shape 47"/>
          <p:cNvSpPr/>
          <p:nvPr/>
        </p:nvSpPr>
        <p:spPr>
          <a:xfrm>
            <a:off x="6656832" y="2496312"/>
            <a:ext cx="0" cy="365760"/>
          </a:xfrm>
          <a:prstGeom prst="line">
            <a:avLst/>
          </a:prstGeom>
          <a:noFill/>
          <a:ln w="16510">
            <a:solidFill>
              <a:srgbClr val="4B7A6A"/>
            </a:solidFill>
            <a:prstDash val="solid"/>
            <a:headEnd type="none"/>
            <a:tailEnd type="none"/>
          </a:ln>
        </p:spPr>
      </p:sp>
      <p:sp>
        <p:nvSpPr>
          <p:cNvPr id="50" name="Shape 48"/>
          <p:cNvSpPr/>
          <p:nvPr/>
        </p:nvSpPr>
        <p:spPr>
          <a:xfrm>
            <a:off x="6565392" y="2578608"/>
            <a:ext cx="182880" cy="0"/>
          </a:xfrm>
          <a:prstGeom prst="line">
            <a:avLst/>
          </a:prstGeom>
          <a:noFill/>
          <a:ln w="16510">
            <a:solidFill>
              <a:srgbClr val="4B7A6A"/>
            </a:solidFill>
            <a:prstDash val="solid"/>
            <a:headEnd type="none"/>
            <a:tailEnd type="none"/>
          </a:ln>
        </p:spPr>
      </p:sp>
      <p:sp>
        <p:nvSpPr>
          <p:cNvPr id="51" name="Shape 49"/>
          <p:cNvSpPr/>
          <p:nvPr/>
        </p:nvSpPr>
        <p:spPr>
          <a:xfrm>
            <a:off x="6656832" y="2834640"/>
            <a:ext cx="0" cy="-109728"/>
          </a:xfrm>
          <a:prstGeom prst="line">
            <a:avLst/>
          </a:prstGeom>
          <a:noFill/>
          <a:ln w="13970">
            <a:solidFill>
              <a:srgbClr val="4B7A6A"/>
            </a:solidFill>
            <a:prstDash val="solid"/>
            <a:headEnd type="none"/>
            <a:tailEnd type="none"/>
          </a:ln>
        </p:spPr>
      </p:sp>
      <p:sp>
        <p:nvSpPr>
          <p:cNvPr id="52" name="Shape 50"/>
          <p:cNvSpPr/>
          <p:nvPr/>
        </p:nvSpPr>
        <p:spPr>
          <a:xfrm>
            <a:off x="6656832" y="2834640"/>
            <a:ext cx="-109728" cy="-109728"/>
          </a:xfrm>
          <a:prstGeom prst="line">
            <a:avLst/>
          </a:prstGeom>
          <a:noFill/>
          <a:ln w="13970">
            <a:solidFill>
              <a:srgbClr val="4B7A6A"/>
            </a:solidFill>
            <a:prstDash val="solid"/>
            <a:headEnd type="none"/>
            <a:tailEnd type="none"/>
          </a:ln>
        </p:spPr>
      </p:sp>
      <p:sp>
        <p:nvSpPr>
          <p:cNvPr id="53" name="Shape 51"/>
          <p:cNvSpPr/>
          <p:nvPr/>
        </p:nvSpPr>
        <p:spPr>
          <a:xfrm>
            <a:off x="6656832" y="2834640"/>
            <a:ext cx="109728" cy="-109728"/>
          </a:xfrm>
          <a:prstGeom prst="line">
            <a:avLst/>
          </a:prstGeom>
          <a:noFill/>
          <a:ln w="13970">
            <a:solidFill>
              <a:srgbClr val="4B7A6A"/>
            </a:solidFill>
            <a:prstDash val="solid"/>
            <a:headEnd type="none"/>
            <a:tailEnd type="none"/>
          </a:ln>
        </p:spPr>
      </p:sp>
      <p:sp>
        <p:nvSpPr>
          <p:cNvPr id="54" name="Shape 52"/>
          <p:cNvSpPr/>
          <p:nvPr/>
        </p:nvSpPr>
        <p:spPr>
          <a:xfrm>
            <a:off x="5276088" y="2761488"/>
            <a:ext cx="347472" cy="-182880"/>
          </a:xfrm>
          <a:prstGeom prst="line">
            <a:avLst/>
          </a:prstGeom>
          <a:noFill/>
          <a:ln w="16510">
            <a:solidFill>
              <a:srgbClr val="C96F47"/>
            </a:solidFill>
            <a:prstDash val="solid"/>
            <a:headEnd type="none"/>
            <a:tailEnd type="none"/>
          </a:ln>
        </p:spPr>
      </p:sp>
      <p:sp>
        <p:nvSpPr>
          <p:cNvPr id="55" name="Shape 53"/>
          <p:cNvSpPr/>
          <p:nvPr/>
        </p:nvSpPr>
        <p:spPr>
          <a:xfrm>
            <a:off x="5623560" y="2578608"/>
            <a:ext cx="2468880" cy="0"/>
          </a:xfrm>
          <a:prstGeom prst="line">
            <a:avLst/>
          </a:prstGeom>
          <a:noFill/>
          <a:ln w="16510">
            <a:solidFill>
              <a:srgbClr val="C96F47"/>
            </a:solidFill>
            <a:prstDash val="solid"/>
            <a:headEnd type="none"/>
            <a:tailEnd type="none"/>
          </a:ln>
        </p:spPr>
      </p:sp>
      <p:sp>
        <p:nvSpPr>
          <p:cNvPr id="56" name="Shape 54"/>
          <p:cNvSpPr/>
          <p:nvPr/>
        </p:nvSpPr>
        <p:spPr>
          <a:xfrm>
            <a:off x="8092440" y="2578608"/>
            <a:ext cx="274320" cy="667512"/>
          </a:xfrm>
          <a:prstGeom prst="line">
            <a:avLst/>
          </a:prstGeom>
          <a:noFill/>
          <a:ln w="16510">
            <a:solidFill>
              <a:srgbClr val="C96F47"/>
            </a:solidFill>
            <a:prstDash val="solid"/>
            <a:headEnd type="none"/>
            <a:tailEnd type="none"/>
          </a:ln>
        </p:spPr>
      </p:sp>
      <p:sp>
        <p:nvSpPr>
          <p:cNvPr id="57" name="Shape 55"/>
          <p:cNvSpPr/>
          <p:nvPr/>
        </p:nvSpPr>
        <p:spPr>
          <a:xfrm>
            <a:off x="5358384" y="2624328"/>
            <a:ext cx="0" cy="182880"/>
          </a:xfrm>
          <a:prstGeom prst="line">
            <a:avLst/>
          </a:prstGeom>
          <a:noFill/>
          <a:ln w="16510">
            <a:solidFill>
              <a:srgbClr val="C96F47"/>
            </a:solidFill>
            <a:prstDash val="solid"/>
            <a:headEnd type="none"/>
            <a:tailEnd type="none"/>
          </a:ln>
        </p:spPr>
      </p:sp>
      <p:sp>
        <p:nvSpPr>
          <p:cNvPr id="58" name="Shape 56"/>
          <p:cNvSpPr/>
          <p:nvPr/>
        </p:nvSpPr>
        <p:spPr>
          <a:xfrm>
            <a:off x="8321040" y="3200400"/>
            <a:ext cx="-109728" cy="0"/>
          </a:xfrm>
          <a:prstGeom prst="line">
            <a:avLst/>
          </a:prstGeom>
          <a:noFill/>
          <a:ln w="13970">
            <a:solidFill>
              <a:srgbClr val="C96F47"/>
            </a:solidFill>
            <a:prstDash val="solid"/>
            <a:headEnd type="none"/>
            <a:tailEnd type="none"/>
          </a:ln>
        </p:spPr>
      </p:sp>
      <p:sp>
        <p:nvSpPr>
          <p:cNvPr id="59" name="Shape 57"/>
          <p:cNvSpPr/>
          <p:nvPr/>
        </p:nvSpPr>
        <p:spPr>
          <a:xfrm>
            <a:off x="8321040" y="3200400"/>
            <a:ext cx="-109728" cy="-109728"/>
          </a:xfrm>
          <a:prstGeom prst="line">
            <a:avLst/>
          </a:prstGeom>
          <a:noFill/>
          <a:ln w="13970">
            <a:solidFill>
              <a:srgbClr val="C96F47"/>
            </a:solidFill>
            <a:prstDash val="solid"/>
            <a:headEnd type="none"/>
            <a:tailEnd type="none"/>
          </a:ln>
        </p:spPr>
      </p:sp>
      <p:sp>
        <p:nvSpPr>
          <p:cNvPr id="60" name="Shape 58"/>
          <p:cNvSpPr/>
          <p:nvPr/>
        </p:nvSpPr>
        <p:spPr>
          <a:xfrm>
            <a:off x="8321040" y="3200400"/>
            <a:ext cx="-109728" cy="109728"/>
          </a:xfrm>
          <a:prstGeom prst="line">
            <a:avLst/>
          </a:prstGeom>
          <a:noFill/>
          <a:ln w="13970">
            <a:solidFill>
              <a:srgbClr val="C96F47"/>
            </a:solidFill>
            <a:prstDash val="solid"/>
            <a:headEnd type="none"/>
            <a:tailEnd type="none"/>
          </a:ln>
        </p:spPr>
      </p:sp>
      <p:sp>
        <p:nvSpPr>
          <p:cNvPr id="61" name="Shape 59"/>
          <p:cNvSpPr/>
          <p:nvPr/>
        </p:nvSpPr>
        <p:spPr>
          <a:xfrm>
            <a:off x="7680960" y="1847088"/>
            <a:ext cx="1691640" cy="1014984"/>
          </a:xfrm>
          <a:prstGeom prst="line">
            <a:avLst/>
          </a:prstGeom>
          <a:noFill/>
          <a:ln w="16510">
            <a:solidFill>
              <a:srgbClr val="4B7A6A"/>
            </a:solidFill>
            <a:prstDash val="solid"/>
            <a:headEnd type="none"/>
            <a:tailEnd type="none"/>
          </a:ln>
        </p:spPr>
      </p:sp>
      <p:sp>
        <p:nvSpPr>
          <p:cNvPr id="62" name="Shape 60"/>
          <p:cNvSpPr/>
          <p:nvPr/>
        </p:nvSpPr>
        <p:spPr>
          <a:xfrm>
            <a:off x="7790688" y="1828800"/>
            <a:ext cx="0" cy="182880"/>
          </a:xfrm>
          <a:prstGeom prst="line">
            <a:avLst/>
          </a:prstGeom>
          <a:noFill/>
          <a:ln w="16510">
            <a:solidFill>
              <a:srgbClr val="4B7A6A"/>
            </a:solidFill>
            <a:prstDash val="solid"/>
            <a:headEnd type="none"/>
            <a:tailEnd type="none"/>
          </a:ln>
        </p:spPr>
      </p:sp>
      <p:sp>
        <p:nvSpPr>
          <p:cNvPr id="63" name="Shape 61"/>
          <p:cNvSpPr/>
          <p:nvPr/>
        </p:nvSpPr>
        <p:spPr>
          <a:xfrm>
            <a:off x="9281160" y="2816352"/>
            <a:ext cx="0" cy="-109728"/>
          </a:xfrm>
          <a:prstGeom prst="line">
            <a:avLst/>
          </a:prstGeom>
          <a:noFill/>
          <a:ln w="13970">
            <a:solidFill>
              <a:srgbClr val="4B7A6A"/>
            </a:solidFill>
            <a:prstDash val="solid"/>
            <a:headEnd type="none"/>
            <a:tailEnd type="none"/>
          </a:ln>
        </p:spPr>
      </p:sp>
      <p:sp>
        <p:nvSpPr>
          <p:cNvPr id="64" name="Shape 62"/>
          <p:cNvSpPr/>
          <p:nvPr/>
        </p:nvSpPr>
        <p:spPr>
          <a:xfrm>
            <a:off x="9281160" y="2816352"/>
            <a:ext cx="-109728" cy="-109728"/>
          </a:xfrm>
          <a:prstGeom prst="line">
            <a:avLst/>
          </a:prstGeom>
          <a:noFill/>
          <a:ln w="13970">
            <a:solidFill>
              <a:srgbClr val="4B7A6A"/>
            </a:solidFill>
            <a:prstDash val="solid"/>
            <a:headEnd type="none"/>
            <a:tailEnd type="none"/>
          </a:ln>
        </p:spPr>
      </p:sp>
      <p:sp>
        <p:nvSpPr>
          <p:cNvPr id="65" name="Shape 63"/>
          <p:cNvSpPr/>
          <p:nvPr/>
        </p:nvSpPr>
        <p:spPr>
          <a:xfrm>
            <a:off x="9281160" y="2816352"/>
            <a:ext cx="109728" cy="-109728"/>
          </a:xfrm>
          <a:prstGeom prst="line">
            <a:avLst/>
          </a:prstGeom>
          <a:noFill/>
          <a:ln w="13970">
            <a:solidFill>
              <a:srgbClr val="4B7A6A"/>
            </a:solidFill>
            <a:prstDash val="solid"/>
            <a:headEnd type="none"/>
            <a:tailEnd type="none"/>
          </a:ln>
        </p:spPr>
      </p:sp>
      <p:sp>
        <p:nvSpPr>
          <p:cNvPr id="66" name="Shape 64"/>
          <p:cNvSpPr/>
          <p:nvPr/>
        </p:nvSpPr>
        <p:spPr>
          <a:xfrm>
            <a:off x="9363456" y="4416552"/>
            <a:ext cx="0" cy="384048"/>
          </a:xfrm>
          <a:prstGeom prst="line">
            <a:avLst/>
          </a:prstGeom>
          <a:noFill/>
          <a:ln w="16510">
            <a:solidFill>
              <a:srgbClr val="163A45"/>
            </a:solidFill>
            <a:prstDash val="solid"/>
            <a:headEnd type="none"/>
            <a:tailEnd type="none"/>
          </a:ln>
        </p:spPr>
      </p:sp>
      <p:sp>
        <p:nvSpPr>
          <p:cNvPr id="67" name="Shape 65"/>
          <p:cNvSpPr/>
          <p:nvPr/>
        </p:nvSpPr>
        <p:spPr>
          <a:xfrm>
            <a:off x="9272016" y="4498848"/>
            <a:ext cx="182880" cy="0"/>
          </a:xfrm>
          <a:prstGeom prst="line">
            <a:avLst/>
          </a:prstGeom>
          <a:noFill/>
          <a:ln w="16510">
            <a:solidFill>
              <a:srgbClr val="163A45"/>
            </a:solidFill>
            <a:prstDash val="solid"/>
            <a:headEnd type="none"/>
            <a:tailEnd type="none"/>
          </a:ln>
        </p:spPr>
      </p:sp>
      <p:sp>
        <p:nvSpPr>
          <p:cNvPr id="68" name="Shape 66"/>
          <p:cNvSpPr/>
          <p:nvPr/>
        </p:nvSpPr>
        <p:spPr>
          <a:xfrm>
            <a:off x="9272016" y="4727448"/>
            <a:ext cx="182880" cy="0"/>
          </a:xfrm>
          <a:prstGeom prst="line">
            <a:avLst/>
          </a:prstGeom>
          <a:noFill/>
          <a:ln w="16510">
            <a:solidFill>
              <a:srgbClr val="163A45"/>
            </a:solidFill>
            <a:prstDash val="solid"/>
            <a:headEnd type="none"/>
            <a:tailEnd type="none"/>
          </a:ln>
        </p:spPr>
      </p:sp>
      <p:sp>
        <p:nvSpPr>
          <p:cNvPr id="69" name="Text 67"/>
          <p:cNvSpPr/>
          <p:nvPr/>
        </p:nvSpPr>
        <p:spPr>
          <a:xfrm rot="1320000">
            <a:off x="2331720" y="1664208"/>
            <a:ext cx="731520" cy="201168"/>
          </a:xfrm>
          <a:prstGeom prst="rect">
            <a:avLst/>
          </a:prstGeom>
          <a:noFill/>
          <a:ln/>
        </p:spPr>
        <p:txBody>
          <a:bodyPr wrap="square" lIns="0" tIns="0" rIns="0" bIns="0" rtlCol="0" anchor="ctr"/>
          <a:lstStyle/>
          <a:p>
            <a:pPr indent="0" marL="0">
              <a:buNone/>
            </a:pPr>
            <a:r>
              <a:rPr lang="en-US" sz="900" dirty="0">
                <a:solidFill>
                  <a:srgbClr val="6B7280"/>
                </a:solidFill>
              </a:rPr>
              <a:t>1 : many</a:t>
            </a:r>
            <a:endParaRPr lang="en-US" sz="900" dirty="0"/>
          </a:p>
        </p:txBody>
      </p:sp>
      <p:sp>
        <p:nvSpPr>
          <p:cNvPr id="70" name="Text 68"/>
          <p:cNvSpPr/>
          <p:nvPr/>
        </p:nvSpPr>
        <p:spPr>
          <a:xfrm>
            <a:off x="5276088" y="4434840"/>
            <a:ext cx="1463040" cy="228600"/>
          </a:xfrm>
          <a:prstGeom prst="rect">
            <a:avLst/>
          </a:prstGeom>
          <a:noFill/>
          <a:ln/>
        </p:spPr>
        <p:txBody>
          <a:bodyPr wrap="square" lIns="0" tIns="0" rIns="0" bIns="0" rtlCol="0" anchor="ctr"/>
          <a:lstStyle/>
          <a:p>
            <a:pPr indent="0" marL="0">
              <a:buNone/>
            </a:pPr>
            <a:r>
              <a:rPr lang="en-US" sz="1020" i="1" dirty="0">
                <a:solidFill>
                  <a:srgbClr val="6B7280"/>
                </a:solidFill>
              </a:rPr>
              <a:t>associative link</a:t>
            </a:r>
            <a:endParaRPr lang="en-US" sz="1020" dirty="0"/>
          </a:p>
        </p:txBody>
      </p:sp>
      <p:sp>
        <p:nvSpPr>
          <p:cNvPr id="71" name="Text 69"/>
          <p:cNvSpPr/>
          <p:nvPr/>
        </p:nvSpPr>
        <p:spPr>
          <a:xfrm>
            <a:off x="9555480" y="4498848"/>
            <a:ext cx="731520" cy="201168"/>
          </a:xfrm>
          <a:prstGeom prst="rect">
            <a:avLst/>
          </a:prstGeom>
          <a:noFill/>
          <a:ln/>
        </p:spPr>
        <p:txBody>
          <a:bodyPr wrap="square" lIns="0" tIns="0" rIns="0" bIns="0" rtlCol="0" anchor="ctr"/>
          <a:lstStyle/>
          <a:p>
            <a:pPr indent="0" marL="0">
              <a:buNone/>
            </a:pPr>
            <a:r>
              <a:rPr lang="en-US" sz="900" dirty="0">
                <a:solidFill>
                  <a:srgbClr val="6B7280"/>
                </a:solidFill>
              </a:rPr>
              <a:t>1 : 0..1</a:t>
            </a:r>
            <a:endParaRPr lang="en-US" sz="900" dirty="0"/>
          </a:p>
        </p:txBody>
      </p:sp>
      <p:sp>
        <p:nvSpPr>
          <p:cNvPr id="72" name="Shape 70"/>
          <p:cNvSpPr/>
          <p:nvPr/>
        </p:nvSpPr>
        <p:spPr>
          <a:xfrm>
            <a:off x="685800" y="5806440"/>
            <a:ext cx="4069080" cy="329184"/>
          </a:xfrm>
          <a:prstGeom prst="roundRect">
            <a:avLst>
              <a:gd name="adj" fmla="val 19444"/>
            </a:avLst>
          </a:prstGeom>
          <a:solidFill>
            <a:srgbClr val="DCE8EC"/>
          </a:solidFill>
          <a:ln w="12700">
            <a:solidFill>
              <a:srgbClr val="DCE8EC"/>
            </a:solidFill>
            <a:prstDash val="solid"/>
          </a:ln>
        </p:spPr>
      </p:sp>
      <p:sp>
        <p:nvSpPr>
          <p:cNvPr id="73" name="Text 71"/>
          <p:cNvSpPr/>
          <p:nvPr/>
        </p:nvSpPr>
        <p:spPr>
          <a:xfrm>
            <a:off x="758952" y="5879592"/>
            <a:ext cx="3922776" cy="146304"/>
          </a:xfrm>
          <a:prstGeom prst="rect">
            <a:avLst/>
          </a:prstGeom>
          <a:noFill/>
          <a:ln/>
        </p:spPr>
        <p:txBody>
          <a:bodyPr wrap="square" lIns="0" tIns="0" rIns="0" bIns="0" rtlCol="0" anchor="ctr"/>
          <a:lstStyle/>
          <a:p>
            <a:pPr algn="ctr" indent="0" marL="0">
              <a:buNone/>
            </a:pPr>
            <a:r>
              <a:rPr lang="en-US" sz="1050" b="1" dirty="0">
                <a:solidFill>
                  <a:srgbClr val="163A45"/>
                </a:solidFill>
              </a:rPr>
              <a:t>VIEWING resolves Buyer ↔ Property interaction</a:t>
            </a:r>
            <a:endParaRPr lang="en-US" sz="1050" dirty="0"/>
          </a:p>
        </p:txBody>
      </p:sp>
      <p:sp>
        <p:nvSpPr>
          <p:cNvPr id="74" name="Shape 72"/>
          <p:cNvSpPr/>
          <p:nvPr/>
        </p:nvSpPr>
        <p:spPr>
          <a:xfrm>
            <a:off x="7772400" y="5897880"/>
            <a:ext cx="2423160" cy="329184"/>
          </a:xfrm>
          <a:prstGeom prst="roundRect">
            <a:avLst>
              <a:gd name="adj" fmla="val 19444"/>
            </a:avLst>
          </a:prstGeom>
          <a:solidFill>
            <a:srgbClr val="F1DDD5"/>
          </a:solidFill>
          <a:ln w="12700">
            <a:solidFill>
              <a:srgbClr val="F1DDD5"/>
            </a:solidFill>
            <a:prstDash val="solid"/>
          </a:ln>
        </p:spPr>
      </p:sp>
      <p:sp>
        <p:nvSpPr>
          <p:cNvPr id="75" name="Text 73"/>
          <p:cNvSpPr/>
          <p:nvPr/>
        </p:nvSpPr>
        <p:spPr>
          <a:xfrm>
            <a:off x="7845552" y="5971032"/>
            <a:ext cx="2276856" cy="146304"/>
          </a:xfrm>
          <a:prstGeom prst="rect">
            <a:avLst/>
          </a:prstGeom>
          <a:noFill/>
          <a:ln/>
        </p:spPr>
        <p:txBody>
          <a:bodyPr wrap="square" lIns="0" tIns="0" rIns="0" bIns="0" rtlCol="0" anchor="ctr"/>
          <a:lstStyle/>
          <a:p>
            <a:pPr algn="ctr" indent="0" marL="0">
              <a:buNone/>
            </a:pPr>
            <a:r>
              <a:rPr lang="en-US" sz="1050" b="1" dirty="0">
                <a:solidFill>
                  <a:srgbClr val="C96F47"/>
                </a:solidFill>
              </a:rPr>
              <a:t>SALE.offer_id is UNIQUE</a:t>
            </a:r>
            <a:endParaRPr lang="en-US" sz="1050" dirty="0"/>
          </a:p>
        </p:txBody>
      </p:sp>
      <p:sp>
        <p:nvSpPr>
          <p:cNvPr id="25" name="Slide Number Placeholder 0"/>
          <p:cNvSpPr>
            <a:spLocks noGrp="1"/>
          </p:cNvSpPr>
          <p:nvPr>
            <p:ph type="sldNum" sz="quarter" idx="4294967295"/>
          </p:nvPr>
        </p:nvSpPr>
        <p:spPr>
          <a:xfrm>
            <a:off x="11750040" y="649224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latin typeface="Carlito"/>
                <a:ea typeface="Carlito"/>
                <a:cs typeface="Carlito"/>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40080" y="411480"/>
            <a:ext cx="10698480" cy="438912"/>
          </a:xfrm>
          <a:prstGeom prst="rect">
            <a:avLst/>
          </a:prstGeom>
          <a:noFill/>
          <a:ln/>
        </p:spPr>
        <p:txBody>
          <a:bodyPr wrap="square" lIns="0" tIns="0" rIns="0" bIns="0" rtlCol="0" anchor="ctr"/>
          <a:lstStyle/>
          <a:p>
            <a:pPr indent="0" marL="0">
              <a:buNone/>
            </a:pPr>
            <a:r>
              <a:rPr lang="en-US" sz="2500" b="1" dirty="0">
                <a:solidFill>
                  <a:srgbClr val="163A45"/>
                </a:solidFill>
                <a:latin typeface="Carlito" pitchFamily="34" charset="0"/>
                <a:ea typeface="Carlito" pitchFamily="34" charset="-122"/>
                <a:cs typeface="Carlito" pitchFamily="34" charset="-120"/>
              </a:rPr>
              <a:t>Data Dictionary — Prasamsha Dahal</a:t>
            </a:r>
            <a:endParaRPr lang="en-US" sz="2500" dirty="0"/>
          </a:p>
        </p:txBody>
      </p:sp>
      <p:sp>
        <p:nvSpPr>
          <p:cNvPr id="3" name="Text 1"/>
          <p:cNvSpPr/>
          <p:nvPr/>
        </p:nvSpPr>
        <p:spPr>
          <a:xfrm>
            <a:off x="658368" y="877824"/>
            <a:ext cx="10789920" cy="310896"/>
          </a:xfrm>
          <a:prstGeom prst="rect">
            <a:avLst/>
          </a:prstGeom>
          <a:noFill/>
          <a:ln/>
        </p:spPr>
        <p:txBody>
          <a:bodyPr wrap="square" lIns="0" tIns="0" rIns="0" bIns="0" rtlCol="0" anchor="ctr"/>
          <a:lstStyle/>
          <a:p>
            <a:pPr indent="0" marL="0">
              <a:buNone/>
            </a:pPr>
            <a:r>
              <a:rPr lang="en-US" sz="1250" dirty="0">
                <a:solidFill>
                  <a:srgbClr val="6B7280"/>
                </a:solidFill>
                <a:latin typeface="Carlito" pitchFamily="34" charset="0"/>
                <a:ea typeface="Carlito" pitchFamily="34" charset="-122"/>
                <a:cs typeface="Carlito" pitchFamily="34" charset="-120"/>
              </a:rPr>
              <a:t>Agent and Vendor entities</a:t>
            </a:r>
            <a:endParaRPr lang="en-US" sz="1250" dirty="0"/>
          </a:p>
        </p:txBody>
      </p:sp>
      <p:sp>
        <p:nvSpPr>
          <p:cNvPr id="4" name="Shape 2"/>
          <p:cNvSpPr/>
          <p:nvPr/>
        </p:nvSpPr>
        <p:spPr>
          <a:xfrm>
            <a:off x="9674352" y="457200"/>
            <a:ext cx="1810512" cy="347472"/>
          </a:xfrm>
          <a:prstGeom prst="roundRect">
            <a:avLst>
              <a:gd name="adj" fmla="val 15789"/>
            </a:avLst>
          </a:prstGeom>
          <a:solidFill>
            <a:srgbClr val="EEE2CD"/>
          </a:solidFill>
          <a:ln w="12700">
            <a:solidFill>
              <a:srgbClr val="EEE2CD"/>
            </a:solidFill>
            <a:prstDash val="solid"/>
          </a:ln>
        </p:spPr>
      </p:sp>
      <p:sp>
        <p:nvSpPr>
          <p:cNvPr id="5" name="Text 3"/>
          <p:cNvSpPr/>
          <p:nvPr/>
        </p:nvSpPr>
        <p:spPr>
          <a:xfrm>
            <a:off x="9747504" y="548640"/>
            <a:ext cx="1664208" cy="137160"/>
          </a:xfrm>
          <a:prstGeom prst="rect">
            <a:avLst/>
          </a:prstGeom>
          <a:noFill/>
          <a:ln/>
        </p:spPr>
        <p:txBody>
          <a:bodyPr wrap="square" lIns="0" tIns="0" rIns="0" bIns="0" rtlCol="0" anchor="ctr"/>
          <a:lstStyle/>
          <a:p>
            <a:pPr algn="ctr" indent="0" marL="0">
              <a:buNone/>
            </a:pPr>
            <a:r>
              <a:rPr lang="en-US" sz="970" b="1" dirty="0">
                <a:solidFill>
                  <a:srgbClr val="163A45"/>
                </a:solidFill>
              </a:rPr>
              <a:t>Speaker: Prasamsha</a:t>
            </a:r>
            <a:endParaRPr lang="en-US" sz="970" dirty="0"/>
          </a:p>
        </p:txBody>
      </p:sp>
      <p:sp>
        <p:nvSpPr>
          <p:cNvPr id="6" name="Text 4"/>
          <p:cNvSpPr/>
          <p:nvPr/>
        </p:nvSpPr>
        <p:spPr>
          <a:xfrm>
            <a:off x="777240" y="1325880"/>
            <a:ext cx="1828800" cy="274320"/>
          </a:xfrm>
          <a:prstGeom prst="rect">
            <a:avLst/>
          </a:prstGeom>
          <a:noFill/>
          <a:ln/>
        </p:spPr>
        <p:txBody>
          <a:bodyPr wrap="square" lIns="0" tIns="0" rIns="0" bIns="0" rtlCol="0" anchor="ctr"/>
          <a:lstStyle/>
          <a:p>
            <a:pPr indent="0" marL="0">
              <a:buNone/>
            </a:pPr>
            <a:r>
              <a:rPr lang="en-US" sz="1600" b="1" dirty="0">
                <a:solidFill>
                  <a:srgbClr val="1F5A5A"/>
                </a:solidFill>
              </a:rPr>
              <a:t>AGENT</a:t>
            </a:r>
            <a:endParaRPr lang="en-US" sz="1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777240" y="1673352"/>
          <a:ext cx="10652760" cy="1828800"/>
        </p:xfrm>
        <a:graphic>
          <a:graphicData uri="http://schemas.openxmlformats.org/drawingml/2006/table">
            <a:tbl>
              <a:tblPr/>
              <a:tblGrid>
                <a:gridCol w="1920240"/>
                <a:gridCol w="1417320"/>
                <a:gridCol w="2834640"/>
                <a:gridCol w="4480560"/>
              </a:tblGrid>
              <a:tr h="347472">
                <a:tc>
                  <a:txBody>
                    <a:bodyPr/>
                    <a:lstStyle/>
                    <a:p>
                      <a:pPr indent="0" marL="0">
                        <a:buNone/>
                      </a:pPr>
                      <a:r>
                        <a:rPr lang="en-US" sz="1100" b="1" dirty="0">
                          <a:solidFill>
                            <a:srgbClr val="FFFFFF"/>
                          </a:solidFill>
                          <a:latin typeface="Carlito" pitchFamily="34" charset="0"/>
                          <a:ea typeface="Carlito" pitchFamily="34" charset="-122"/>
                          <a:cs typeface="Carlito" pitchFamily="34" charset="-120"/>
                        </a:rPr>
                        <a:t>Field</a:t>
                      </a:r>
                      <a:endParaRPr lang="en-US" sz="1100" dirty="0">
                        <a:latin typeface="Carlito" charset="0"/>
                        <a:ea typeface="Carlito" charset="0"/>
                        <a:cs typeface="Carlito" charset="0"/>
                      </a:endParaRPr>
                    </a:p>
                  </a:txBody>
                  <a:tcPr marL="45720" marR="45720" marT="45720" marB="45720" anchor="mid">
                    <a:lnL w="12700" cap="flat" cmpd="sng" algn="ctr">
                      <a:solidFill>
                        <a:srgbClr val="C6CFD0"/>
                      </a:solidFill>
                      <a:prstDash val="solid"/>
                      <a:round/>
                      <a:headEnd type="none" w="med" len="med"/>
                      <a:tailEnd type="none" w="med" len="med"/>
                    </a:lnL>
                    <a:lnR w="12700" cap="flat" cmpd="sng" algn="ctr">
                      <a:solidFill>
                        <a:srgbClr val="C6CFD0"/>
                      </a:solidFill>
                      <a:prstDash val="solid"/>
                      <a:round/>
                      <a:headEnd type="none" w="med" len="med"/>
                      <a:tailEnd type="none" w="med" len="med"/>
                    </a:lnR>
                    <a:lnT w="12700" cap="flat" cmpd="sng" algn="ctr">
                      <a:solidFill>
                        <a:srgbClr val="C6CFD0"/>
                      </a:solidFill>
                      <a:prstDash val="solid"/>
                      <a:round/>
                      <a:headEnd type="none" w="med" len="med"/>
                      <a:tailEnd type="none" w="med" len="med"/>
                    </a:lnT>
                    <a:lnB w="12700" cap="flat" cmpd="sng" algn="ctr">
                      <a:solidFill>
                        <a:srgbClr val="C6CFD0"/>
                      </a:solidFill>
                      <a:prstDash val="solid"/>
                      <a:round/>
                      <a:headEnd type="none" w="med" len="med"/>
                      <a:tailEnd type="none" w="med" len="med"/>
                    </a:lnB>
                    <a:solidFill>
                      <a:srgbClr val="FFFFFF"/>
                    </a:solidFill>
                  </a:tcPr>
                </a:tc>
                <a:tc>
                  <a:txBody>
                    <a:bodyPr/>
                    <a:lstStyle/>
                    <a:p>
                      <a:pPr indent="0" marL="0">
                        <a:buNone/>
                      </a:pPr>
                      <a:r>
                        <a:rPr lang="en-US" sz="1100" b="1" dirty="0">
                          <a:solidFill>
                            <a:srgbClr val="FFFFFF"/>
                          </a:solidFill>
                          <a:latin typeface="Carlito" pitchFamily="34" charset="0"/>
                          <a:ea typeface="Carlito" pitchFamily="34" charset="-122"/>
                          <a:cs typeface="Carlito" pitchFamily="34" charset="-120"/>
                        </a:rPr>
                        <a:t>Type</a:t>
                      </a:r>
                      <a:endParaRPr lang="en-US" sz="1100" dirty="0">
                        <a:latin typeface="Carlito" charset="0"/>
                        <a:ea typeface="Carlito" charset="0"/>
                        <a:cs typeface="Carlito" charset="0"/>
                      </a:endParaRPr>
                    </a:p>
                  </a:txBody>
                  <a:tcPr marL="45720" marR="45720" marT="45720" marB="45720" anchor="mid">
                    <a:lnL w="12700" cap="flat" cmpd="sng" algn="ctr">
                      <a:solidFill>
                        <a:srgbClr val="C6CFD0"/>
                      </a:solidFill>
                      <a:prstDash val="solid"/>
                      <a:round/>
                      <a:headEnd type="none" w="med" len="med"/>
                      <a:tailEnd type="none" w="med" len="med"/>
                    </a:lnL>
                    <a:lnR w="12700" cap="flat" cmpd="sng" algn="ctr">
                      <a:solidFill>
                        <a:srgbClr val="C6CFD0"/>
                      </a:solidFill>
                      <a:prstDash val="solid"/>
                      <a:round/>
                      <a:headEnd type="none" w="med" len="med"/>
                      <a:tailEnd type="none" w="med" len="med"/>
                    </a:lnR>
                    <a:lnT w="12700" cap="flat" cmpd="sng" algn="ctr">
                      <a:solidFill>
                        <a:srgbClr val="C6CFD0"/>
                      </a:solidFill>
                      <a:prstDash val="solid"/>
                      <a:round/>
                      <a:headEnd type="none" w="med" len="med"/>
                      <a:tailEnd type="none" w="med" len="med"/>
                    </a:lnT>
                    <a:lnB w="12700" cap="flat" cmpd="sng" algn="ctr">
                      <a:solidFill>
                        <a:srgbClr val="C6CFD0"/>
                      </a:solidFill>
                      <a:prstDash val="solid"/>
                      <a:round/>
                      <a:headEnd type="none" w="med" len="med"/>
                      <a:tailEnd type="none" w="med" len="med"/>
                    </a:lnB>
                    <a:solidFill>
                      <a:srgbClr val="FFFFFF"/>
                    </a:solidFill>
                  </a:tcPr>
                </a:tc>
                <a:tc>
                  <a:txBody>
                    <a:bodyPr/>
                    <a:lstStyle/>
                    <a:p>
                      <a:pPr indent="0" marL="0">
                        <a:buNone/>
                      </a:pPr>
                      <a:r>
                        <a:rPr lang="en-US" sz="1100" b="1" dirty="0">
                          <a:solidFill>
                            <a:srgbClr val="FFFFFF"/>
                          </a:solidFill>
                          <a:latin typeface="Carlito" pitchFamily="34" charset="0"/>
                          <a:ea typeface="Carlito" pitchFamily="34" charset="-122"/>
                          <a:cs typeface="Carlito" pitchFamily="34" charset="-120"/>
                        </a:rPr>
                        <a:t>Key / Constraint</a:t>
                      </a:r>
                      <a:endParaRPr lang="en-US" sz="1100" dirty="0">
                        <a:latin typeface="Carlito" charset="0"/>
                        <a:ea typeface="Carlito" charset="0"/>
                        <a:cs typeface="Carlito" charset="0"/>
                      </a:endParaRPr>
                    </a:p>
                  </a:txBody>
                  <a:tcPr marL="45720" marR="45720" marT="45720" marB="45720" anchor="mid">
                    <a:lnL w="12700" cap="flat" cmpd="sng" algn="ctr">
                      <a:solidFill>
                        <a:srgbClr val="C6CFD0"/>
                      </a:solidFill>
                      <a:prstDash val="solid"/>
                      <a:round/>
                      <a:headEnd type="none" w="med" len="med"/>
                      <a:tailEnd type="none" w="med" len="med"/>
                    </a:lnL>
                    <a:lnR w="12700" cap="flat" cmpd="sng" algn="ctr">
                      <a:solidFill>
                        <a:srgbClr val="C6CFD0"/>
                      </a:solidFill>
                      <a:prstDash val="solid"/>
                      <a:round/>
                      <a:headEnd type="none" w="med" len="med"/>
                      <a:tailEnd type="none" w="med" len="med"/>
                    </a:lnR>
                    <a:lnT w="12700" cap="flat" cmpd="sng" algn="ctr">
                      <a:solidFill>
                        <a:srgbClr val="C6CFD0"/>
                      </a:solidFill>
                      <a:prstDash val="solid"/>
                      <a:round/>
                      <a:headEnd type="none" w="med" len="med"/>
                      <a:tailEnd type="none" w="med" len="med"/>
                    </a:lnT>
                    <a:lnB w="12700" cap="flat" cmpd="sng" algn="ctr">
                      <a:solidFill>
                        <a:srgbClr val="C6CFD0"/>
                      </a:solidFill>
                      <a:prstDash val="solid"/>
                      <a:round/>
                      <a:headEnd type="none" w="med" len="med"/>
                      <a:tailEnd type="none" w="med" len="med"/>
                    </a:lnB>
                    <a:solidFill>
                      <a:srgbClr val="FFFFFF"/>
                    </a:solidFill>
                  </a:tcPr>
                </a:tc>
                <a:tc>
                  <a:txBody>
                    <a:bodyPr/>
                    <a:lstStyle/>
                    <a:p>
                      <a:pPr indent="0" marL="0">
                        <a:buNone/>
                      </a:pPr>
                      <a:r>
                        <a:rPr lang="en-US" sz="1100" b="1" dirty="0">
                          <a:solidFill>
                            <a:srgbClr val="FFFFFF"/>
                          </a:solidFill>
                          <a:latin typeface="Carlito" pitchFamily="34" charset="0"/>
                          <a:ea typeface="Carlito" pitchFamily="34" charset="-122"/>
                          <a:cs typeface="Carlito" pitchFamily="34" charset="-120"/>
                        </a:rPr>
                        <a:t>Purpose</a:t>
                      </a:r>
                      <a:endParaRPr lang="en-US" sz="1100" dirty="0">
                        <a:latin typeface="Carlito" charset="0"/>
                        <a:ea typeface="Carlito" charset="0"/>
                        <a:cs typeface="Carlito" charset="0"/>
                      </a:endParaRPr>
                    </a:p>
                  </a:txBody>
                  <a:tcPr marL="45720" marR="45720" marT="45720" marB="45720" anchor="mid">
                    <a:lnL w="12700" cap="flat" cmpd="sng" algn="ctr">
                      <a:solidFill>
                        <a:srgbClr val="C6CFD0"/>
                      </a:solidFill>
                      <a:prstDash val="solid"/>
                      <a:round/>
                      <a:headEnd type="none" w="med" len="med"/>
                      <a:tailEnd type="none" w="med" len="med"/>
                    </a:lnL>
                    <a:lnR w="12700" cap="flat" cmpd="sng" algn="ctr">
                      <a:solidFill>
                        <a:srgbClr val="C6CFD0"/>
                      </a:solidFill>
                      <a:prstDash val="solid"/>
                      <a:round/>
                      <a:headEnd type="none" w="med" len="med"/>
                      <a:tailEnd type="none" w="med" len="med"/>
                    </a:lnR>
                    <a:lnT w="12700" cap="flat" cmpd="sng" algn="ctr">
                      <a:solidFill>
                        <a:srgbClr val="C6CFD0"/>
                      </a:solidFill>
                      <a:prstDash val="solid"/>
                      <a:round/>
                      <a:headEnd type="none" w="med" len="med"/>
                      <a:tailEnd type="none" w="med" len="med"/>
                    </a:lnT>
                    <a:lnB w="12700" cap="flat" cmpd="sng" algn="ctr">
                      <a:solidFill>
                        <a:srgbClr val="C6CFD0"/>
                      </a:solidFill>
                      <a:prstDash val="solid"/>
                      <a:round/>
                      <a:headEnd type="none" w="med" len="med"/>
                      <a:tailEnd type="none" w="med" len="med"/>
                    </a:lnB>
                    <a:solidFill>
                      <a:srgbClr val="FFFFFF"/>
                    </a:solidFill>
                  </a:tcPr>
                </a:tc>
              </a:tr>
              <a:tr h="347472">
                <a:tc>
                  <a:txBody>
                    <a:bodyPr/>
                    <a:lstStyle/>
                    <a:p>
                      <a:pPr indent="0" marL="0">
                        <a:buNone/>
                      </a:pPr>
                      <a:r>
                        <a:rPr lang="en-US" sz="1100" dirty="0">
                          <a:solidFill>
                            <a:srgbClr val="1F2937"/>
                          </a:solidFill>
                          <a:latin typeface="Carlito" pitchFamily="34" charset="0"/>
                          <a:ea typeface="Carlito" pitchFamily="34" charset="-122"/>
                          <a:cs typeface="Carlito" pitchFamily="34" charset="-120"/>
                        </a:rPr>
                        <a:t>agent_id</a:t>
                      </a:r>
                      <a:endParaRPr lang="en-US" sz="1100" dirty="0">
                        <a:latin typeface="Carlito" charset="0"/>
                        <a:ea typeface="Carlito" charset="0"/>
                        <a:cs typeface="Carlito" charset="0"/>
                      </a:endParaRPr>
                    </a:p>
                  </a:txBody>
                  <a:tcPr marL="45720" marR="45720" marT="45720" marB="45720" anchor="mid">
                    <a:lnL w="12700" cap="flat" cmpd="sng" algn="ctr">
                      <a:solidFill>
                        <a:srgbClr val="C6CFD0"/>
                      </a:solidFill>
                      <a:prstDash val="solid"/>
                      <a:round/>
                      <a:headEnd type="none" w="med" len="med"/>
                      <a:tailEnd type="none" w="med" len="med"/>
                    </a:lnL>
                    <a:lnR w="12700" cap="flat" cmpd="sng" algn="ctr">
                      <a:solidFill>
                        <a:srgbClr val="C6CFD0"/>
                      </a:solidFill>
                      <a:prstDash val="solid"/>
                      <a:round/>
                      <a:headEnd type="none" w="med" len="med"/>
                      <a:tailEnd type="none" w="med" len="med"/>
                    </a:lnR>
                    <a:lnT w="12700" cap="flat" cmpd="sng" algn="ctr">
                      <a:solidFill>
                        <a:srgbClr val="C6CFD0"/>
                      </a:solidFill>
                      <a:prstDash val="solid"/>
                      <a:round/>
                      <a:headEnd type="none" w="med" len="med"/>
                      <a:tailEnd type="none" w="med" len="med"/>
                    </a:lnT>
                    <a:lnB w="12700" cap="flat" cmpd="sng" algn="ctr">
                      <a:solidFill>
                        <a:srgbClr val="C6CFD0"/>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rlito" pitchFamily="34" charset="0"/>
                          <a:ea typeface="Carlito" pitchFamily="34" charset="-122"/>
                          <a:cs typeface="Carlito" pitchFamily="34" charset="-120"/>
                        </a:rPr>
                        <a:t>INTEGER</a:t>
                      </a:r>
                      <a:endParaRPr lang="en-US" sz="1100" dirty="0">
                        <a:latin typeface="Carlito" charset="0"/>
                        <a:ea typeface="Carlito" charset="0"/>
                        <a:cs typeface="Carlito" charset="0"/>
                      </a:endParaRPr>
                    </a:p>
                  </a:txBody>
                  <a:tcPr marL="45720" marR="45720" marT="45720" marB="45720" anchor="mid">
                    <a:lnL w="12700" cap="flat" cmpd="sng" algn="ctr">
                      <a:solidFill>
                        <a:srgbClr val="C6CFD0"/>
                      </a:solidFill>
                      <a:prstDash val="solid"/>
                      <a:round/>
                      <a:headEnd type="none" w="med" len="med"/>
                      <a:tailEnd type="none" w="med" len="med"/>
                    </a:lnL>
                    <a:lnR w="12700" cap="flat" cmpd="sng" algn="ctr">
                      <a:solidFill>
                        <a:srgbClr val="C6CFD0"/>
                      </a:solidFill>
                      <a:prstDash val="solid"/>
                      <a:round/>
                      <a:headEnd type="none" w="med" len="med"/>
                      <a:tailEnd type="none" w="med" len="med"/>
                    </a:lnR>
                    <a:lnT w="12700" cap="flat" cmpd="sng" algn="ctr">
                      <a:solidFill>
                        <a:srgbClr val="C6CFD0"/>
                      </a:solidFill>
                      <a:prstDash val="solid"/>
                      <a:round/>
                      <a:headEnd type="none" w="med" len="med"/>
                      <a:tailEnd type="none" w="med" len="med"/>
                    </a:lnT>
                    <a:lnB w="12700" cap="flat" cmpd="sng" algn="ctr">
                      <a:solidFill>
                        <a:srgbClr val="C6CFD0"/>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rlito" pitchFamily="34" charset="0"/>
                          <a:ea typeface="Carlito" pitchFamily="34" charset="-122"/>
                          <a:cs typeface="Carlito" pitchFamily="34" charset="-120"/>
                        </a:rPr>
                        <a:t>PK • AUTOINCREMENT</a:t>
                      </a:r>
                      <a:endParaRPr lang="en-US" sz="1100" dirty="0">
                        <a:latin typeface="Carlito" charset="0"/>
                        <a:ea typeface="Carlito" charset="0"/>
                        <a:cs typeface="Carlito" charset="0"/>
                      </a:endParaRPr>
                    </a:p>
                  </a:txBody>
                  <a:tcPr marL="45720" marR="45720" marT="45720" marB="45720" anchor="mid">
                    <a:lnL w="12700" cap="flat" cmpd="sng" algn="ctr">
                      <a:solidFill>
                        <a:srgbClr val="C6CFD0"/>
                      </a:solidFill>
                      <a:prstDash val="solid"/>
                      <a:round/>
                      <a:headEnd type="none" w="med" len="med"/>
                      <a:tailEnd type="none" w="med" len="med"/>
                    </a:lnL>
                    <a:lnR w="12700" cap="flat" cmpd="sng" algn="ctr">
                      <a:solidFill>
                        <a:srgbClr val="C6CFD0"/>
                      </a:solidFill>
                      <a:prstDash val="solid"/>
                      <a:round/>
                      <a:headEnd type="none" w="med" len="med"/>
                      <a:tailEnd type="none" w="med" len="med"/>
                    </a:lnR>
                    <a:lnT w="12700" cap="flat" cmpd="sng" algn="ctr">
                      <a:solidFill>
                        <a:srgbClr val="C6CFD0"/>
                      </a:solidFill>
                      <a:prstDash val="solid"/>
                      <a:round/>
                      <a:headEnd type="none" w="med" len="med"/>
                      <a:tailEnd type="none" w="med" len="med"/>
                    </a:lnT>
                    <a:lnB w="12700" cap="flat" cmpd="sng" algn="ctr">
                      <a:solidFill>
                        <a:srgbClr val="C6CFD0"/>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rlito" pitchFamily="34" charset="0"/>
                          <a:ea typeface="Carlito" pitchFamily="34" charset="-122"/>
                          <a:cs typeface="Carlito" pitchFamily="34" charset="-120"/>
                        </a:rPr>
                        <a:t>Unique agent ID</a:t>
                      </a:r>
                      <a:endParaRPr lang="en-US" sz="1100" dirty="0">
                        <a:latin typeface="Carlito" charset="0"/>
                        <a:ea typeface="Carlito" charset="0"/>
                        <a:cs typeface="Carlito" charset="0"/>
                      </a:endParaRPr>
                    </a:p>
                  </a:txBody>
                  <a:tcPr marL="45720" marR="45720" marT="45720" marB="45720" anchor="mid">
                    <a:lnL w="12700" cap="flat" cmpd="sng" algn="ctr">
                      <a:solidFill>
                        <a:srgbClr val="C6CFD0"/>
                      </a:solidFill>
                      <a:prstDash val="solid"/>
                      <a:round/>
                      <a:headEnd type="none" w="med" len="med"/>
                      <a:tailEnd type="none" w="med" len="med"/>
                    </a:lnL>
                    <a:lnR w="12700" cap="flat" cmpd="sng" algn="ctr">
                      <a:solidFill>
                        <a:srgbClr val="C6CFD0"/>
                      </a:solidFill>
                      <a:prstDash val="solid"/>
                      <a:round/>
                      <a:headEnd type="none" w="med" len="med"/>
                      <a:tailEnd type="none" w="med" len="med"/>
                    </a:lnR>
                    <a:lnT w="12700" cap="flat" cmpd="sng" algn="ctr">
                      <a:solidFill>
                        <a:srgbClr val="C6CFD0"/>
                      </a:solidFill>
                      <a:prstDash val="solid"/>
                      <a:round/>
                      <a:headEnd type="none" w="med" len="med"/>
                      <a:tailEnd type="none" w="med" len="med"/>
                    </a:lnT>
                    <a:lnB w="12700" cap="flat" cmpd="sng" algn="ctr">
                      <a:solidFill>
                        <a:srgbClr val="C6CFD0"/>
                      </a:solidFill>
                      <a:prstDash val="solid"/>
                      <a:round/>
                      <a:headEnd type="none" w="med" len="med"/>
                      <a:tailEnd type="none" w="med" len="med"/>
                    </a:lnB>
                    <a:solidFill>
                      <a:srgbClr val="FFFFFF"/>
                    </a:solidFill>
                  </a:tcPr>
                </a:tc>
              </a:tr>
              <a:tr h="347472">
                <a:tc>
                  <a:txBody>
                    <a:bodyPr/>
                    <a:lstStyle/>
                    <a:p>
                      <a:pPr indent="0" marL="0">
                        <a:buNone/>
                      </a:pPr>
                      <a:r>
                        <a:rPr lang="en-US" sz="1100" dirty="0">
                          <a:solidFill>
                            <a:srgbClr val="1F2937"/>
                          </a:solidFill>
                          <a:latin typeface="Carlito" pitchFamily="34" charset="0"/>
                          <a:ea typeface="Carlito" pitchFamily="34" charset="-122"/>
                          <a:cs typeface="Carlito" pitchFamily="34" charset="-120"/>
                        </a:rPr>
                        <a:t>name</a:t>
                      </a:r>
                      <a:endParaRPr lang="en-US" sz="1100" dirty="0">
                        <a:latin typeface="Carlito" charset="0"/>
                        <a:ea typeface="Carlito" charset="0"/>
                        <a:cs typeface="Carlito" charset="0"/>
                      </a:endParaRPr>
                    </a:p>
                  </a:txBody>
                  <a:tcPr marL="45720" marR="45720" marT="45720" marB="45720" anchor="mid">
                    <a:lnL w="12700" cap="flat" cmpd="sng" algn="ctr">
                      <a:solidFill>
                        <a:srgbClr val="C6CFD0"/>
                      </a:solidFill>
                      <a:prstDash val="solid"/>
                      <a:round/>
                      <a:headEnd type="none" w="med" len="med"/>
                      <a:tailEnd type="none" w="med" len="med"/>
                    </a:lnL>
                    <a:lnR w="12700" cap="flat" cmpd="sng" algn="ctr">
                      <a:solidFill>
                        <a:srgbClr val="C6CFD0"/>
                      </a:solidFill>
                      <a:prstDash val="solid"/>
                      <a:round/>
                      <a:headEnd type="none" w="med" len="med"/>
                      <a:tailEnd type="none" w="med" len="med"/>
                    </a:lnR>
                    <a:lnT w="12700" cap="flat" cmpd="sng" algn="ctr">
                      <a:solidFill>
                        <a:srgbClr val="C6CFD0"/>
                      </a:solidFill>
                      <a:prstDash val="solid"/>
                      <a:round/>
                      <a:headEnd type="none" w="med" len="med"/>
                      <a:tailEnd type="none" w="med" len="med"/>
                    </a:lnT>
                    <a:lnB w="12700" cap="flat" cmpd="sng" algn="ctr">
                      <a:solidFill>
                        <a:srgbClr val="C6CFD0"/>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rlito" pitchFamily="34" charset="0"/>
                          <a:ea typeface="Carlito" pitchFamily="34" charset="-122"/>
                          <a:cs typeface="Carlito" pitchFamily="34" charset="-120"/>
                        </a:rPr>
                        <a:t>TEXT</a:t>
                      </a:r>
                      <a:endParaRPr lang="en-US" sz="1100" dirty="0">
                        <a:latin typeface="Carlito" charset="0"/>
                        <a:ea typeface="Carlito" charset="0"/>
                        <a:cs typeface="Carlito" charset="0"/>
                      </a:endParaRPr>
                    </a:p>
                  </a:txBody>
                  <a:tcPr marL="45720" marR="45720" marT="45720" marB="45720" anchor="mid">
                    <a:lnL w="12700" cap="flat" cmpd="sng" algn="ctr">
                      <a:solidFill>
                        <a:srgbClr val="C6CFD0"/>
                      </a:solidFill>
                      <a:prstDash val="solid"/>
                      <a:round/>
                      <a:headEnd type="none" w="med" len="med"/>
                      <a:tailEnd type="none" w="med" len="med"/>
                    </a:lnL>
                    <a:lnR w="12700" cap="flat" cmpd="sng" algn="ctr">
                      <a:solidFill>
                        <a:srgbClr val="C6CFD0"/>
                      </a:solidFill>
                      <a:prstDash val="solid"/>
                      <a:round/>
                      <a:headEnd type="none" w="med" len="med"/>
                      <a:tailEnd type="none" w="med" len="med"/>
                    </a:lnR>
                    <a:lnT w="12700" cap="flat" cmpd="sng" algn="ctr">
                      <a:solidFill>
                        <a:srgbClr val="C6CFD0"/>
                      </a:solidFill>
                      <a:prstDash val="solid"/>
                      <a:round/>
                      <a:headEnd type="none" w="med" len="med"/>
                      <a:tailEnd type="none" w="med" len="med"/>
                    </a:lnT>
                    <a:lnB w="12700" cap="flat" cmpd="sng" algn="ctr">
                      <a:solidFill>
                        <a:srgbClr val="C6CFD0"/>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rlito" pitchFamily="34" charset="0"/>
                          <a:ea typeface="Carlito" pitchFamily="34" charset="-122"/>
                          <a:cs typeface="Carlito" pitchFamily="34" charset="-120"/>
                        </a:rPr>
                        <a:t>NOT NULL</a:t>
                      </a:r>
                      <a:endParaRPr lang="en-US" sz="1100" dirty="0">
                        <a:latin typeface="Carlito" charset="0"/>
                        <a:ea typeface="Carlito" charset="0"/>
                        <a:cs typeface="Carlito" charset="0"/>
                      </a:endParaRPr>
                    </a:p>
                  </a:txBody>
                  <a:tcPr marL="45720" marR="45720" marT="45720" marB="45720" anchor="mid">
                    <a:lnL w="12700" cap="flat" cmpd="sng" algn="ctr">
                      <a:solidFill>
                        <a:srgbClr val="C6CFD0"/>
                      </a:solidFill>
                      <a:prstDash val="solid"/>
                      <a:round/>
                      <a:headEnd type="none" w="med" len="med"/>
                      <a:tailEnd type="none" w="med" len="med"/>
                    </a:lnL>
                    <a:lnR w="12700" cap="flat" cmpd="sng" algn="ctr">
                      <a:solidFill>
                        <a:srgbClr val="C6CFD0"/>
                      </a:solidFill>
                      <a:prstDash val="solid"/>
                      <a:round/>
                      <a:headEnd type="none" w="med" len="med"/>
                      <a:tailEnd type="none" w="med" len="med"/>
                    </a:lnR>
                    <a:lnT w="12700" cap="flat" cmpd="sng" algn="ctr">
                      <a:solidFill>
                        <a:srgbClr val="C6CFD0"/>
                      </a:solidFill>
                      <a:prstDash val="solid"/>
                      <a:round/>
                      <a:headEnd type="none" w="med" len="med"/>
                      <a:tailEnd type="none" w="med" len="med"/>
                    </a:lnT>
                    <a:lnB w="12700" cap="flat" cmpd="sng" algn="ctr">
                      <a:solidFill>
                        <a:srgbClr val="C6CFD0"/>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rlito" pitchFamily="34" charset="0"/>
                          <a:ea typeface="Carlito" pitchFamily="34" charset="-122"/>
                          <a:cs typeface="Carlito" pitchFamily="34" charset="-120"/>
                        </a:rPr>
                        <a:t>Agent full name</a:t>
                      </a:r>
                      <a:endParaRPr lang="en-US" sz="1100" dirty="0">
                        <a:latin typeface="Carlito" charset="0"/>
                        <a:ea typeface="Carlito" charset="0"/>
                        <a:cs typeface="Carlito" charset="0"/>
                      </a:endParaRPr>
                    </a:p>
                  </a:txBody>
                  <a:tcPr marL="45720" marR="45720" marT="45720" marB="45720" anchor="mid">
                    <a:lnL w="12700" cap="flat" cmpd="sng" algn="ctr">
                      <a:solidFill>
                        <a:srgbClr val="C6CFD0"/>
                      </a:solidFill>
                      <a:prstDash val="solid"/>
                      <a:round/>
                      <a:headEnd type="none" w="med" len="med"/>
                      <a:tailEnd type="none" w="med" len="med"/>
                    </a:lnL>
                    <a:lnR w="12700" cap="flat" cmpd="sng" algn="ctr">
                      <a:solidFill>
                        <a:srgbClr val="C6CFD0"/>
                      </a:solidFill>
                      <a:prstDash val="solid"/>
                      <a:round/>
                      <a:headEnd type="none" w="med" len="med"/>
                      <a:tailEnd type="none" w="med" len="med"/>
                    </a:lnR>
                    <a:lnT w="12700" cap="flat" cmpd="sng" algn="ctr">
                      <a:solidFill>
                        <a:srgbClr val="C6CFD0"/>
                      </a:solidFill>
                      <a:prstDash val="solid"/>
                      <a:round/>
                      <a:headEnd type="none" w="med" len="med"/>
                      <a:tailEnd type="none" w="med" len="med"/>
                    </a:lnT>
                    <a:lnB w="12700" cap="flat" cmpd="sng" algn="ctr">
                      <a:solidFill>
                        <a:srgbClr val="C6CFD0"/>
                      </a:solidFill>
                      <a:prstDash val="solid"/>
                      <a:round/>
                      <a:headEnd type="none" w="med" len="med"/>
                      <a:tailEnd type="none" w="med" len="med"/>
                    </a:lnB>
                    <a:solidFill>
                      <a:srgbClr val="FFFFFF"/>
                    </a:solidFill>
                  </a:tcPr>
                </a:tc>
              </a:tr>
              <a:tr h="347472">
                <a:tc>
                  <a:txBody>
                    <a:bodyPr/>
                    <a:lstStyle/>
                    <a:p>
                      <a:pPr indent="0" marL="0">
                        <a:buNone/>
                      </a:pPr>
                      <a:r>
                        <a:rPr lang="en-US" sz="1100" dirty="0">
                          <a:solidFill>
                            <a:srgbClr val="1F2937"/>
                          </a:solidFill>
                          <a:latin typeface="Carlito" pitchFamily="34" charset="0"/>
                          <a:ea typeface="Carlito" pitchFamily="34" charset="-122"/>
                          <a:cs typeface="Carlito" pitchFamily="34" charset="-120"/>
                        </a:rPr>
                        <a:t>contact</a:t>
                      </a:r>
                      <a:endParaRPr lang="en-US" sz="1100" dirty="0">
                        <a:latin typeface="Carlito" charset="0"/>
                        <a:ea typeface="Carlito" charset="0"/>
                        <a:cs typeface="Carlito" charset="0"/>
                      </a:endParaRPr>
                    </a:p>
                  </a:txBody>
                  <a:tcPr marL="45720" marR="45720" marT="45720" marB="45720" anchor="mid">
                    <a:lnL w="12700" cap="flat" cmpd="sng" algn="ctr">
                      <a:solidFill>
                        <a:srgbClr val="C6CFD0"/>
                      </a:solidFill>
                      <a:prstDash val="solid"/>
                      <a:round/>
                      <a:headEnd type="none" w="med" len="med"/>
                      <a:tailEnd type="none" w="med" len="med"/>
                    </a:lnL>
                    <a:lnR w="12700" cap="flat" cmpd="sng" algn="ctr">
                      <a:solidFill>
                        <a:srgbClr val="C6CFD0"/>
                      </a:solidFill>
                      <a:prstDash val="solid"/>
                      <a:round/>
                      <a:headEnd type="none" w="med" len="med"/>
                      <a:tailEnd type="none" w="med" len="med"/>
                    </a:lnR>
                    <a:lnT w="12700" cap="flat" cmpd="sng" algn="ctr">
                      <a:solidFill>
                        <a:srgbClr val="C6CFD0"/>
                      </a:solidFill>
                      <a:prstDash val="solid"/>
                      <a:round/>
                      <a:headEnd type="none" w="med" len="med"/>
                      <a:tailEnd type="none" w="med" len="med"/>
                    </a:lnT>
                    <a:lnB w="12700" cap="flat" cmpd="sng" algn="ctr">
                      <a:solidFill>
                        <a:srgbClr val="C6CFD0"/>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rlito" pitchFamily="34" charset="0"/>
                          <a:ea typeface="Carlito" pitchFamily="34" charset="-122"/>
                          <a:cs typeface="Carlito" pitchFamily="34" charset="-120"/>
                        </a:rPr>
                        <a:t>TEXT</a:t>
                      </a:r>
                      <a:endParaRPr lang="en-US" sz="1100" dirty="0">
                        <a:latin typeface="Carlito" charset="0"/>
                        <a:ea typeface="Carlito" charset="0"/>
                        <a:cs typeface="Carlito" charset="0"/>
                      </a:endParaRPr>
                    </a:p>
                  </a:txBody>
                  <a:tcPr marL="45720" marR="45720" marT="45720" marB="45720" anchor="mid">
                    <a:lnL w="12700" cap="flat" cmpd="sng" algn="ctr">
                      <a:solidFill>
                        <a:srgbClr val="C6CFD0"/>
                      </a:solidFill>
                      <a:prstDash val="solid"/>
                      <a:round/>
                      <a:headEnd type="none" w="med" len="med"/>
                      <a:tailEnd type="none" w="med" len="med"/>
                    </a:lnL>
                    <a:lnR w="12700" cap="flat" cmpd="sng" algn="ctr">
                      <a:solidFill>
                        <a:srgbClr val="C6CFD0"/>
                      </a:solidFill>
                      <a:prstDash val="solid"/>
                      <a:round/>
                      <a:headEnd type="none" w="med" len="med"/>
                      <a:tailEnd type="none" w="med" len="med"/>
                    </a:lnR>
                    <a:lnT w="12700" cap="flat" cmpd="sng" algn="ctr">
                      <a:solidFill>
                        <a:srgbClr val="C6CFD0"/>
                      </a:solidFill>
                      <a:prstDash val="solid"/>
                      <a:round/>
                      <a:headEnd type="none" w="med" len="med"/>
                      <a:tailEnd type="none" w="med" len="med"/>
                    </a:lnT>
                    <a:lnB w="12700" cap="flat" cmpd="sng" algn="ctr">
                      <a:solidFill>
                        <a:srgbClr val="C6CFD0"/>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rlito" pitchFamily="34" charset="0"/>
                          <a:ea typeface="Carlito" pitchFamily="34" charset="-122"/>
                          <a:cs typeface="Carlito" pitchFamily="34" charset="-120"/>
                        </a:rPr>
                        <a:t>NOT NULL</a:t>
                      </a:r>
                      <a:endParaRPr lang="en-US" sz="1100" dirty="0">
                        <a:latin typeface="Carlito" charset="0"/>
                        <a:ea typeface="Carlito" charset="0"/>
                        <a:cs typeface="Carlito" charset="0"/>
                      </a:endParaRPr>
                    </a:p>
                  </a:txBody>
                  <a:tcPr marL="45720" marR="45720" marT="45720" marB="45720" anchor="mid">
                    <a:lnL w="12700" cap="flat" cmpd="sng" algn="ctr">
                      <a:solidFill>
                        <a:srgbClr val="C6CFD0"/>
                      </a:solidFill>
                      <a:prstDash val="solid"/>
                      <a:round/>
                      <a:headEnd type="none" w="med" len="med"/>
                      <a:tailEnd type="none" w="med" len="med"/>
                    </a:lnL>
                    <a:lnR w="12700" cap="flat" cmpd="sng" algn="ctr">
                      <a:solidFill>
                        <a:srgbClr val="C6CFD0"/>
                      </a:solidFill>
                      <a:prstDash val="solid"/>
                      <a:round/>
                      <a:headEnd type="none" w="med" len="med"/>
                      <a:tailEnd type="none" w="med" len="med"/>
                    </a:lnR>
                    <a:lnT w="12700" cap="flat" cmpd="sng" algn="ctr">
                      <a:solidFill>
                        <a:srgbClr val="C6CFD0"/>
                      </a:solidFill>
                      <a:prstDash val="solid"/>
                      <a:round/>
                      <a:headEnd type="none" w="med" len="med"/>
                      <a:tailEnd type="none" w="med" len="med"/>
                    </a:lnT>
                    <a:lnB w="12700" cap="flat" cmpd="sng" algn="ctr">
                      <a:solidFill>
                        <a:srgbClr val="C6CFD0"/>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rlito" pitchFamily="34" charset="0"/>
                          <a:ea typeface="Carlito" pitchFamily="34" charset="-122"/>
                          <a:cs typeface="Carlito" pitchFamily="34" charset="-120"/>
                        </a:rPr>
                        <a:t>Corporate contact</a:t>
                      </a:r>
                      <a:endParaRPr lang="en-US" sz="1100" dirty="0">
                        <a:latin typeface="Carlito" charset="0"/>
                        <a:ea typeface="Carlito" charset="0"/>
                        <a:cs typeface="Carlito" charset="0"/>
                      </a:endParaRPr>
                    </a:p>
                  </a:txBody>
                  <a:tcPr marL="45720" marR="45720" marT="45720" marB="45720" anchor="mid">
                    <a:lnL w="12700" cap="flat" cmpd="sng" algn="ctr">
                      <a:solidFill>
                        <a:srgbClr val="C6CFD0"/>
                      </a:solidFill>
                      <a:prstDash val="solid"/>
                      <a:round/>
                      <a:headEnd type="none" w="med" len="med"/>
                      <a:tailEnd type="none" w="med" len="med"/>
                    </a:lnL>
                    <a:lnR w="12700" cap="flat" cmpd="sng" algn="ctr">
                      <a:solidFill>
                        <a:srgbClr val="C6CFD0"/>
                      </a:solidFill>
                      <a:prstDash val="solid"/>
                      <a:round/>
                      <a:headEnd type="none" w="med" len="med"/>
                      <a:tailEnd type="none" w="med" len="med"/>
                    </a:lnR>
                    <a:lnT w="12700" cap="flat" cmpd="sng" algn="ctr">
                      <a:solidFill>
                        <a:srgbClr val="C6CFD0"/>
                      </a:solidFill>
                      <a:prstDash val="solid"/>
                      <a:round/>
                      <a:headEnd type="none" w="med" len="med"/>
                      <a:tailEnd type="none" w="med" len="med"/>
                    </a:lnT>
                    <a:lnB w="12700" cap="flat" cmpd="sng" algn="ctr">
                      <a:solidFill>
                        <a:srgbClr val="C6CFD0"/>
                      </a:solidFill>
                      <a:prstDash val="solid"/>
                      <a:round/>
                      <a:headEnd type="none" w="med" len="med"/>
                      <a:tailEnd type="none" w="med" len="med"/>
                    </a:lnB>
                    <a:solidFill>
                      <a:srgbClr val="FFFFFF"/>
                    </a:solidFill>
                  </a:tcPr>
                </a:tc>
              </a:tr>
              <a:tr h="347472">
                <a:tc>
                  <a:txBody>
                    <a:bodyPr/>
                    <a:lstStyle/>
                    <a:p>
                      <a:pPr indent="0" marL="0">
                        <a:buNone/>
                      </a:pPr>
                      <a:r>
                        <a:rPr lang="en-US" sz="1100" dirty="0">
                          <a:solidFill>
                            <a:srgbClr val="1F2937"/>
                          </a:solidFill>
                          <a:latin typeface="Carlito" pitchFamily="34" charset="0"/>
                          <a:ea typeface="Carlito" pitchFamily="34" charset="-122"/>
                          <a:cs typeface="Carlito" pitchFamily="34" charset="-120"/>
                        </a:rPr>
                        <a:t>commission_rate</a:t>
                      </a:r>
                      <a:endParaRPr lang="en-US" sz="1100" dirty="0">
                        <a:latin typeface="Carlito" charset="0"/>
                        <a:ea typeface="Carlito" charset="0"/>
                        <a:cs typeface="Carlito" charset="0"/>
                      </a:endParaRPr>
                    </a:p>
                  </a:txBody>
                  <a:tcPr marL="45720" marR="45720" marT="45720" marB="45720" anchor="mid">
                    <a:lnL w="12700" cap="flat" cmpd="sng" algn="ctr">
                      <a:solidFill>
                        <a:srgbClr val="C6CFD0"/>
                      </a:solidFill>
                      <a:prstDash val="solid"/>
                      <a:round/>
                      <a:headEnd type="none" w="med" len="med"/>
                      <a:tailEnd type="none" w="med" len="med"/>
                    </a:lnL>
                    <a:lnR w="12700" cap="flat" cmpd="sng" algn="ctr">
                      <a:solidFill>
                        <a:srgbClr val="C6CFD0"/>
                      </a:solidFill>
                      <a:prstDash val="solid"/>
                      <a:round/>
                      <a:headEnd type="none" w="med" len="med"/>
                      <a:tailEnd type="none" w="med" len="med"/>
                    </a:lnR>
                    <a:lnT w="12700" cap="flat" cmpd="sng" algn="ctr">
                      <a:solidFill>
                        <a:srgbClr val="C6CFD0"/>
                      </a:solidFill>
                      <a:prstDash val="solid"/>
                      <a:round/>
                      <a:headEnd type="none" w="med" len="med"/>
                      <a:tailEnd type="none" w="med" len="med"/>
                    </a:lnT>
                    <a:lnB w="12700" cap="flat" cmpd="sng" algn="ctr">
                      <a:solidFill>
                        <a:srgbClr val="C6CFD0"/>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rlito" pitchFamily="34" charset="0"/>
                          <a:ea typeface="Carlito" pitchFamily="34" charset="-122"/>
                          <a:cs typeface="Carlito" pitchFamily="34" charset="-120"/>
                        </a:rPr>
                        <a:t>REAL</a:t>
                      </a:r>
                      <a:endParaRPr lang="en-US" sz="1100" dirty="0">
                        <a:latin typeface="Carlito" charset="0"/>
                        <a:ea typeface="Carlito" charset="0"/>
                        <a:cs typeface="Carlito" charset="0"/>
                      </a:endParaRPr>
                    </a:p>
                  </a:txBody>
                  <a:tcPr marL="45720" marR="45720" marT="45720" marB="45720" anchor="mid">
                    <a:lnL w="12700" cap="flat" cmpd="sng" algn="ctr">
                      <a:solidFill>
                        <a:srgbClr val="C6CFD0"/>
                      </a:solidFill>
                      <a:prstDash val="solid"/>
                      <a:round/>
                      <a:headEnd type="none" w="med" len="med"/>
                      <a:tailEnd type="none" w="med" len="med"/>
                    </a:lnL>
                    <a:lnR w="12700" cap="flat" cmpd="sng" algn="ctr">
                      <a:solidFill>
                        <a:srgbClr val="C6CFD0"/>
                      </a:solidFill>
                      <a:prstDash val="solid"/>
                      <a:round/>
                      <a:headEnd type="none" w="med" len="med"/>
                      <a:tailEnd type="none" w="med" len="med"/>
                    </a:lnR>
                    <a:lnT w="12700" cap="flat" cmpd="sng" algn="ctr">
                      <a:solidFill>
                        <a:srgbClr val="C6CFD0"/>
                      </a:solidFill>
                      <a:prstDash val="solid"/>
                      <a:round/>
                      <a:headEnd type="none" w="med" len="med"/>
                      <a:tailEnd type="none" w="med" len="med"/>
                    </a:lnT>
                    <a:lnB w="12700" cap="flat" cmpd="sng" algn="ctr">
                      <a:solidFill>
                        <a:srgbClr val="C6CFD0"/>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rlito" pitchFamily="34" charset="0"/>
                          <a:ea typeface="Carlito" pitchFamily="34" charset="-122"/>
                          <a:cs typeface="Carlito" pitchFamily="34" charset="-120"/>
                        </a:rPr>
                        <a:t>NOT NULL • CHECK &lt;= 10</a:t>
                      </a:r>
                      <a:endParaRPr lang="en-US" sz="1100" dirty="0">
                        <a:latin typeface="Carlito" charset="0"/>
                        <a:ea typeface="Carlito" charset="0"/>
                        <a:cs typeface="Carlito" charset="0"/>
                      </a:endParaRPr>
                    </a:p>
                  </a:txBody>
                  <a:tcPr marL="45720" marR="45720" marT="45720" marB="45720" anchor="mid">
                    <a:lnL w="12700" cap="flat" cmpd="sng" algn="ctr">
                      <a:solidFill>
                        <a:srgbClr val="C6CFD0"/>
                      </a:solidFill>
                      <a:prstDash val="solid"/>
                      <a:round/>
                      <a:headEnd type="none" w="med" len="med"/>
                      <a:tailEnd type="none" w="med" len="med"/>
                    </a:lnL>
                    <a:lnR w="12700" cap="flat" cmpd="sng" algn="ctr">
                      <a:solidFill>
                        <a:srgbClr val="C6CFD0"/>
                      </a:solidFill>
                      <a:prstDash val="solid"/>
                      <a:round/>
                      <a:headEnd type="none" w="med" len="med"/>
                      <a:tailEnd type="none" w="med" len="med"/>
                    </a:lnR>
                    <a:lnT w="12700" cap="flat" cmpd="sng" algn="ctr">
                      <a:solidFill>
                        <a:srgbClr val="C6CFD0"/>
                      </a:solidFill>
                      <a:prstDash val="solid"/>
                      <a:round/>
                      <a:headEnd type="none" w="med" len="med"/>
                      <a:tailEnd type="none" w="med" len="med"/>
                    </a:lnT>
                    <a:lnB w="12700" cap="flat" cmpd="sng" algn="ctr">
                      <a:solidFill>
                        <a:srgbClr val="C6CFD0"/>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rlito" pitchFamily="34" charset="0"/>
                          <a:ea typeface="Carlito" pitchFamily="34" charset="-122"/>
                          <a:cs typeface="Carlito" pitchFamily="34" charset="-120"/>
                        </a:rPr>
                        <a:t>Commission percentage</a:t>
                      </a:r>
                      <a:endParaRPr lang="en-US" sz="1100" dirty="0">
                        <a:latin typeface="Carlito" charset="0"/>
                        <a:ea typeface="Carlito" charset="0"/>
                        <a:cs typeface="Carlito" charset="0"/>
                      </a:endParaRPr>
                    </a:p>
                  </a:txBody>
                  <a:tcPr marL="45720" marR="45720" marT="45720" marB="45720" anchor="mid">
                    <a:lnL w="12700" cap="flat" cmpd="sng" algn="ctr">
                      <a:solidFill>
                        <a:srgbClr val="C6CFD0"/>
                      </a:solidFill>
                      <a:prstDash val="solid"/>
                      <a:round/>
                      <a:headEnd type="none" w="med" len="med"/>
                      <a:tailEnd type="none" w="med" len="med"/>
                    </a:lnL>
                    <a:lnR w="12700" cap="flat" cmpd="sng" algn="ctr">
                      <a:solidFill>
                        <a:srgbClr val="C6CFD0"/>
                      </a:solidFill>
                      <a:prstDash val="solid"/>
                      <a:round/>
                      <a:headEnd type="none" w="med" len="med"/>
                      <a:tailEnd type="none" w="med" len="med"/>
                    </a:lnR>
                    <a:lnT w="12700" cap="flat" cmpd="sng" algn="ctr">
                      <a:solidFill>
                        <a:srgbClr val="C6CFD0"/>
                      </a:solidFill>
                      <a:prstDash val="solid"/>
                      <a:round/>
                      <a:headEnd type="none" w="med" len="med"/>
                      <a:tailEnd type="none" w="med" len="med"/>
                    </a:lnT>
                    <a:lnB w="12700" cap="flat" cmpd="sng" algn="ctr">
                      <a:solidFill>
                        <a:srgbClr val="C6CFD0"/>
                      </a:solidFill>
                      <a:prstDash val="solid"/>
                      <a:round/>
                      <a:headEnd type="none" w="med" len="med"/>
                      <a:tailEnd type="none" w="med" len="med"/>
                    </a:lnB>
                    <a:solidFill>
                      <a:srgbClr val="FFFFFF"/>
                    </a:solidFill>
                  </a:tcPr>
                </a:tc>
              </a:tr>
            </a:tbl>
          </a:graphicData>
        </a:graphic>
      </p:graphicFrame>
      <p:sp>
        <p:nvSpPr>
          <p:cNvPr id="8" name="Shape 5"/>
          <p:cNvSpPr/>
          <p:nvPr/>
        </p:nvSpPr>
        <p:spPr>
          <a:xfrm>
            <a:off x="777240" y="1673352"/>
            <a:ext cx="10652760" cy="347472"/>
          </a:xfrm>
          <a:prstGeom prst="rect">
            <a:avLst/>
          </a:prstGeom>
          <a:solidFill>
            <a:srgbClr val="1F5A5A"/>
          </a:solidFill>
          <a:ln w="12700">
            <a:solidFill>
              <a:srgbClr val="1F5A5A"/>
            </a:solidFill>
            <a:prstDash val="solid"/>
          </a:ln>
        </p:spPr>
      </p:sp>
      <p:sp>
        <p:nvSpPr>
          <p:cNvPr id="9" name="Text 6"/>
          <p:cNvSpPr/>
          <p:nvPr/>
        </p:nvSpPr>
        <p:spPr>
          <a:xfrm>
            <a:off x="868680" y="1773936"/>
            <a:ext cx="1645920" cy="128016"/>
          </a:xfrm>
          <a:prstGeom prst="rect">
            <a:avLst/>
          </a:prstGeom>
          <a:noFill/>
          <a:ln/>
        </p:spPr>
        <p:txBody>
          <a:bodyPr wrap="square" lIns="0" tIns="0" rIns="0" bIns="0" rtlCol="0" anchor="ctr"/>
          <a:lstStyle/>
          <a:p>
            <a:pPr indent="0" marL="0">
              <a:buNone/>
            </a:pPr>
            <a:r>
              <a:rPr lang="en-US" sz="1080" b="1" dirty="0">
                <a:solidFill>
                  <a:srgbClr val="FFFFFF"/>
                </a:solidFill>
              </a:rPr>
              <a:t>Field</a:t>
            </a:r>
            <a:endParaRPr lang="en-US" sz="1080" dirty="0"/>
          </a:p>
        </p:txBody>
      </p:sp>
      <p:sp>
        <p:nvSpPr>
          <p:cNvPr id="10" name="Text 7"/>
          <p:cNvSpPr/>
          <p:nvPr/>
        </p:nvSpPr>
        <p:spPr>
          <a:xfrm>
            <a:off x="2788920" y="1773936"/>
            <a:ext cx="1097280" cy="128016"/>
          </a:xfrm>
          <a:prstGeom prst="rect">
            <a:avLst/>
          </a:prstGeom>
          <a:noFill/>
          <a:ln/>
        </p:spPr>
        <p:txBody>
          <a:bodyPr wrap="square" lIns="0" tIns="0" rIns="0" bIns="0" rtlCol="0" anchor="ctr"/>
          <a:lstStyle/>
          <a:p>
            <a:pPr indent="0" marL="0">
              <a:buNone/>
            </a:pPr>
            <a:r>
              <a:rPr lang="en-US" sz="1080" b="1" dirty="0">
                <a:solidFill>
                  <a:srgbClr val="FFFFFF"/>
                </a:solidFill>
              </a:rPr>
              <a:t>Type</a:t>
            </a:r>
            <a:endParaRPr lang="en-US" sz="1080" dirty="0"/>
          </a:p>
        </p:txBody>
      </p:sp>
      <p:sp>
        <p:nvSpPr>
          <p:cNvPr id="11" name="Text 8"/>
          <p:cNvSpPr/>
          <p:nvPr/>
        </p:nvSpPr>
        <p:spPr>
          <a:xfrm>
            <a:off x="4206240" y="1773936"/>
            <a:ext cx="2377440" cy="128016"/>
          </a:xfrm>
          <a:prstGeom prst="rect">
            <a:avLst/>
          </a:prstGeom>
          <a:noFill/>
          <a:ln/>
        </p:spPr>
        <p:txBody>
          <a:bodyPr wrap="square" lIns="0" tIns="0" rIns="0" bIns="0" rtlCol="0" anchor="ctr"/>
          <a:lstStyle/>
          <a:p>
            <a:pPr indent="0" marL="0">
              <a:buNone/>
            </a:pPr>
            <a:r>
              <a:rPr lang="en-US" sz="1080" b="1" dirty="0">
                <a:solidFill>
                  <a:srgbClr val="FFFFFF"/>
                </a:solidFill>
              </a:rPr>
              <a:t>Key / Constraint</a:t>
            </a:r>
            <a:endParaRPr lang="en-US" sz="1080" dirty="0"/>
          </a:p>
        </p:txBody>
      </p:sp>
      <p:sp>
        <p:nvSpPr>
          <p:cNvPr id="12" name="Text 9"/>
          <p:cNvSpPr/>
          <p:nvPr/>
        </p:nvSpPr>
        <p:spPr>
          <a:xfrm>
            <a:off x="7059168" y="1773936"/>
            <a:ext cx="1828800" cy="128016"/>
          </a:xfrm>
          <a:prstGeom prst="rect">
            <a:avLst/>
          </a:prstGeom>
          <a:noFill/>
          <a:ln/>
        </p:spPr>
        <p:txBody>
          <a:bodyPr wrap="square" lIns="0" tIns="0" rIns="0" bIns="0" rtlCol="0" anchor="ctr"/>
          <a:lstStyle/>
          <a:p>
            <a:pPr indent="0" marL="0">
              <a:buNone/>
            </a:pPr>
            <a:r>
              <a:rPr lang="en-US" sz="1080" b="1" dirty="0">
                <a:solidFill>
                  <a:srgbClr val="FFFFFF"/>
                </a:solidFill>
              </a:rPr>
              <a:t>Purpose</a:t>
            </a:r>
            <a:endParaRPr lang="en-US" sz="1080" dirty="0"/>
          </a:p>
        </p:txBody>
      </p:sp>
      <p:sp>
        <p:nvSpPr>
          <p:cNvPr id="13" name="Text 10"/>
          <p:cNvSpPr/>
          <p:nvPr/>
        </p:nvSpPr>
        <p:spPr>
          <a:xfrm>
            <a:off x="777240" y="3813048"/>
            <a:ext cx="1828800" cy="274320"/>
          </a:xfrm>
          <a:prstGeom prst="rect">
            <a:avLst/>
          </a:prstGeom>
          <a:noFill/>
          <a:ln/>
        </p:spPr>
        <p:txBody>
          <a:bodyPr wrap="square" lIns="0" tIns="0" rIns="0" bIns="0" rtlCol="0" anchor="ctr"/>
          <a:lstStyle/>
          <a:p>
            <a:pPr indent="0" marL="0">
              <a:buNone/>
            </a:pPr>
            <a:r>
              <a:rPr lang="en-US" sz="1600" b="1" dirty="0">
                <a:solidFill>
                  <a:srgbClr val="C96F47"/>
                </a:solidFill>
              </a:rPr>
              <a:t>VENDOR</a:t>
            </a:r>
            <a:endParaRPr lang="en-US" sz="1600" dirty="0"/>
          </a:p>
        </p:txBody>
      </p:sp>
      <p:graphicFrame>
        <p:nvGraphicFramePr>
          <p:cNvPr id="21" name="Table 1"/>
          <p:cNvGraphicFramePr>
            <a:graphicFrameLocks noGrp="1"/>
          </p:cNvGraphicFramePr>
          <p:nvPr>
            <p:extLst>
              <p:ext uri="{D42A27DB-BD31-4B8C-83A1-F6EECF244321}">
                <p14:modId xmlns:p14="http://schemas.microsoft.com/office/powerpoint/2010/main" val="1579011935"/>
              </p:ext>
            </p:extLst>
          </p:nvPr>
        </p:nvGraphicFramePr>
        <p:xfrm>
          <a:off x="777240" y="4160520"/>
          <a:ext cx="10652760" cy="1371600"/>
        </p:xfrm>
        <a:graphic>
          <a:graphicData uri="http://schemas.openxmlformats.org/drawingml/2006/table">
            <a:tbl>
              <a:tblPr/>
              <a:tblGrid>
                <a:gridCol w="1920240"/>
                <a:gridCol w="1417320"/>
                <a:gridCol w="2834640"/>
                <a:gridCol w="4480560"/>
              </a:tblGrid>
              <a:tr h="347472">
                <a:tc>
                  <a:txBody>
                    <a:bodyPr/>
                    <a:lstStyle/>
                    <a:p>
                      <a:pPr indent="0" marL="0">
                        <a:buNone/>
                      </a:pPr>
                      <a:r>
                        <a:rPr lang="en-US" sz="1100" b="1" dirty="0">
                          <a:solidFill>
                            <a:srgbClr val="FFFFFF"/>
                          </a:solidFill>
                          <a:latin typeface="Carlito" pitchFamily="34" charset="0"/>
                          <a:ea typeface="Carlito" pitchFamily="34" charset="-122"/>
                          <a:cs typeface="Carlito" pitchFamily="34" charset="-120"/>
                        </a:rPr>
                        <a:t>Field</a:t>
                      </a:r>
                      <a:endParaRPr lang="en-US" sz="1100" dirty="0">
                        <a:latin typeface="Carlito" charset="0"/>
                        <a:ea typeface="Carlito" charset="0"/>
                        <a:cs typeface="Carlito" charset="0"/>
                      </a:endParaRPr>
                    </a:p>
                  </a:txBody>
                  <a:tcPr marL="45720" marR="45720" marT="45720" marB="45720" anchor="mid">
                    <a:lnL w="12700" cap="flat" cmpd="sng" algn="ctr">
                      <a:solidFill>
                        <a:srgbClr val="C6CFD0"/>
                      </a:solidFill>
                      <a:prstDash val="solid"/>
                      <a:round/>
                      <a:headEnd type="none" w="med" len="med"/>
                      <a:tailEnd type="none" w="med" len="med"/>
                    </a:lnL>
                    <a:lnR w="12700" cap="flat" cmpd="sng" algn="ctr">
                      <a:solidFill>
                        <a:srgbClr val="C6CFD0"/>
                      </a:solidFill>
                      <a:prstDash val="solid"/>
                      <a:round/>
                      <a:headEnd type="none" w="med" len="med"/>
                      <a:tailEnd type="none" w="med" len="med"/>
                    </a:lnR>
                    <a:lnT w="12700" cap="flat" cmpd="sng" algn="ctr">
                      <a:solidFill>
                        <a:srgbClr val="C6CFD0"/>
                      </a:solidFill>
                      <a:prstDash val="solid"/>
                      <a:round/>
                      <a:headEnd type="none" w="med" len="med"/>
                      <a:tailEnd type="none" w="med" len="med"/>
                    </a:lnT>
                    <a:lnB w="12700" cap="flat" cmpd="sng" algn="ctr">
                      <a:solidFill>
                        <a:srgbClr val="C6CFD0"/>
                      </a:solidFill>
                      <a:prstDash val="solid"/>
                      <a:round/>
                      <a:headEnd type="none" w="med" len="med"/>
                      <a:tailEnd type="none" w="med" len="med"/>
                    </a:lnB>
                  </a:tcPr>
                </a:tc>
                <a:tc>
                  <a:txBody>
                    <a:bodyPr/>
                    <a:lstStyle/>
                    <a:p>
                      <a:pPr indent="0" marL="0">
                        <a:buNone/>
                      </a:pPr>
                      <a:r>
                        <a:rPr lang="en-US" sz="1100" b="1" dirty="0">
                          <a:solidFill>
                            <a:srgbClr val="FFFFFF"/>
                          </a:solidFill>
                          <a:latin typeface="Carlito" pitchFamily="34" charset="0"/>
                          <a:ea typeface="Carlito" pitchFamily="34" charset="-122"/>
                          <a:cs typeface="Carlito" pitchFamily="34" charset="-120"/>
                        </a:rPr>
                        <a:t>Type</a:t>
                      </a:r>
                      <a:endParaRPr lang="en-US" sz="1100" dirty="0">
                        <a:latin typeface="Carlito" charset="0"/>
                        <a:ea typeface="Carlito" charset="0"/>
                        <a:cs typeface="Carlito" charset="0"/>
                      </a:endParaRPr>
                    </a:p>
                  </a:txBody>
                  <a:tcPr marL="45720" marR="45720" marT="45720" marB="45720" anchor="mid">
                    <a:lnL w="12700" cap="flat" cmpd="sng" algn="ctr">
                      <a:solidFill>
                        <a:srgbClr val="C6CFD0"/>
                      </a:solidFill>
                      <a:prstDash val="solid"/>
                      <a:round/>
                      <a:headEnd type="none" w="med" len="med"/>
                      <a:tailEnd type="none" w="med" len="med"/>
                    </a:lnL>
                    <a:lnR w="12700" cap="flat" cmpd="sng" algn="ctr">
                      <a:solidFill>
                        <a:srgbClr val="C6CFD0"/>
                      </a:solidFill>
                      <a:prstDash val="solid"/>
                      <a:round/>
                      <a:headEnd type="none" w="med" len="med"/>
                      <a:tailEnd type="none" w="med" len="med"/>
                    </a:lnR>
                    <a:lnT w="12700" cap="flat" cmpd="sng" algn="ctr">
                      <a:solidFill>
                        <a:srgbClr val="C6CFD0"/>
                      </a:solidFill>
                      <a:prstDash val="solid"/>
                      <a:round/>
                      <a:headEnd type="none" w="med" len="med"/>
                      <a:tailEnd type="none" w="med" len="med"/>
                    </a:lnT>
                    <a:lnB w="12700" cap="flat" cmpd="sng" algn="ctr">
                      <a:solidFill>
                        <a:srgbClr val="C6CFD0"/>
                      </a:solidFill>
                      <a:prstDash val="solid"/>
                      <a:round/>
                      <a:headEnd type="none" w="med" len="med"/>
                      <a:tailEnd type="none" w="med" len="med"/>
                    </a:lnB>
                  </a:tcPr>
                </a:tc>
                <a:tc>
                  <a:txBody>
                    <a:bodyPr/>
                    <a:lstStyle/>
                    <a:p>
                      <a:pPr indent="0" marL="0">
                        <a:buNone/>
                      </a:pPr>
                      <a:r>
                        <a:rPr lang="en-US" sz="1100" b="1" dirty="0">
                          <a:solidFill>
                            <a:srgbClr val="FFFFFF"/>
                          </a:solidFill>
                          <a:latin typeface="Carlito" pitchFamily="34" charset="0"/>
                          <a:ea typeface="Carlito" pitchFamily="34" charset="-122"/>
                          <a:cs typeface="Carlito" pitchFamily="34" charset="-120"/>
                        </a:rPr>
                        <a:t>Key / Constraint</a:t>
                      </a:r>
                      <a:endParaRPr lang="en-US" sz="1100" dirty="0">
                        <a:latin typeface="Carlito" charset="0"/>
                        <a:ea typeface="Carlito" charset="0"/>
                        <a:cs typeface="Carlito" charset="0"/>
                      </a:endParaRPr>
                    </a:p>
                  </a:txBody>
                  <a:tcPr marL="45720" marR="45720" marT="45720" marB="45720" anchor="mid">
                    <a:lnL w="12700" cap="flat" cmpd="sng" algn="ctr">
                      <a:solidFill>
                        <a:srgbClr val="C6CFD0"/>
                      </a:solidFill>
                      <a:prstDash val="solid"/>
                      <a:round/>
                      <a:headEnd type="none" w="med" len="med"/>
                      <a:tailEnd type="none" w="med" len="med"/>
                    </a:lnL>
                    <a:lnR w="12700" cap="flat" cmpd="sng" algn="ctr">
                      <a:solidFill>
                        <a:srgbClr val="C6CFD0"/>
                      </a:solidFill>
                      <a:prstDash val="solid"/>
                      <a:round/>
                      <a:headEnd type="none" w="med" len="med"/>
                      <a:tailEnd type="none" w="med" len="med"/>
                    </a:lnR>
                    <a:lnT w="12700" cap="flat" cmpd="sng" algn="ctr">
                      <a:solidFill>
                        <a:srgbClr val="C6CFD0"/>
                      </a:solidFill>
                      <a:prstDash val="solid"/>
                      <a:round/>
                      <a:headEnd type="none" w="med" len="med"/>
                      <a:tailEnd type="none" w="med" len="med"/>
                    </a:lnT>
                    <a:lnB w="12700" cap="flat" cmpd="sng" algn="ctr">
                      <a:solidFill>
                        <a:srgbClr val="C6CFD0"/>
                      </a:solidFill>
                      <a:prstDash val="solid"/>
                      <a:round/>
                      <a:headEnd type="none" w="med" len="med"/>
                      <a:tailEnd type="none" w="med" len="med"/>
                    </a:lnB>
                  </a:tcPr>
                </a:tc>
                <a:tc>
                  <a:txBody>
                    <a:bodyPr/>
                    <a:lstStyle/>
                    <a:p>
                      <a:pPr indent="0" marL="0">
                        <a:buNone/>
                      </a:pPr>
                      <a:r>
                        <a:rPr lang="en-US" sz="1100" b="1" dirty="0">
                          <a:solidFill>
                            <a:srgbClr val="FFFFFF"/>
                          </a:solidFill>
                          <a:latin typeface="Carlito" pitchFamily="34" charset="0"/>
                          <a:ea typeface="Carlito" pitchFamily="34" charset="-122"/>
                          <a:cs typeface="Carlito" pitchFamily="34" charset="-120"/>
                        </a:rPr>
                        <a:t>Purpose</a:t>
                      </a:r>
                      <a:endParaRPr lang="en-US" sz="1100" dirty="0">
                        <a:latin typeface="Carlito" charset="0"/>
                        <a:ea typeface="Carlito" charset="0"/>
                        <a:cs typeface="Carlito" charset="0"/>
                      </a:endParaRPr>
                    </a:p>
                  </a:txBody>
                  <a:tcPr marL="45720" marR="45720" marT="45720" marB="45720" anchor="mid">
                    <a:lnL w="12700" cap="flat" cmpd="sng" algn="ctr">
                      <a:solidFill>
                        <a:srgbClr val="C6CFD0"/>
                      </a:solidFill>
                      <a:prstDash val="solid"/>
                      <a:round/>
                      <a:headEnd type="none" w="med" len="med"/>
                      <a:tailEnd type="none" w="med" len="med"/>
                    </a:lnL>
                    <a:lnR w="12700" cap="flat" cmpd="sng" algn="ctr">
                      <a:solidFill>
                        <a:srgbClr val="C6CFD0"/>
                      </a:solidFill>
                      <a:prstDash val="solid"/>
                      <a:round/>
                      <a:headEnd type="none" w="med" len="med"/>
                      <a:tailEnd type="none" w="med" len="med"/>
                    </a:lnR>
                    <a:lnT w="12700" cap="flat" cmpd="sng" algn="ctr">
                      <a:solidFill>
                        <a:srgbClr val="C6CFD0"/>
                      </a:solidFill>
                      <a:prstDash val="solid"/>
                      <a:round/>
                      <a:headEnd type="none" w="med" len="med"/>
                      <a:tailEnd type="none" w="med" len="med"/>
                    </a:lnT>
                    <a:lnB w="12700" cap="flat" cmpd="sng" algn="ctr">
                      <a:solidFill>
                        <a:srgbClr val="C6CFD0"/>
                      </a:solidFill>
                      <a:prstDash val="solid"/>
                      <a:round/>
                      <a:headEnd type="none" w="med" len="med"/>
                      <a:tailEnd type="none" w="med" len="med"/>
                    </a:lnB>
                  </a:tcPr>
                </a:tc>
              </a:tr>
              <a:tr h="347472">
                <a:tc>
                  <a:txBody>
                    <a:bodyPr/>
                    <a:lstStyle/>
                    <a:p>
                      <a:pPr indent="0" marL="0">
                        <a:buNone/>
                      </a:pPr>
                      <a:r>
                        <a:rPr lang="en-US" sz="1100" dirty="0">
                          <a:solidFill>
                            <a:srgbClr val="1F2937"/>
                          </a:solidFill>
                          <a:latin typeface="Carlito" pitchFamily="34" charset="0"/>
                          <a:ea typeface="Carlito" pitchFamily="34" charset="-122"/>
                          <a:cs typeface="Carlito" pitchFamily="34" charset="-120"/>
                        </a:rPr>
                        <a:t>vendor_id</a:t>
                      </a:r>
                      <a:endParaRPr lang="en-US" sz="1100" dirty="0">
                        <a:latin typeface="Carlito" charset="0"/>
                        <a:ea typeface="Carlito" charset="0"/>
                        <a:cs typeface="Carlito" charset="0"/>
                      </a:endParaRPr>
                    </a:p>
                  </a:txBody>
                  <a:tcPr marL="45720" marR="45720" marT="45720" marB="45720" anchor="mid">
                    <a:lnL w="12700" cap="flat" cmpd="sng" algn="ctr">
                      <a:solidFill>
                        <a:srgbClr val="C6CFD0"/>
                      </a:solidFill>
                      <a:prstDash val="solid"/>
                      <a:round/>
                      <a:headEnd type="none" w="med" len="med"/>
                      <a:tailEnd type="none" w="med" len="med"/>
                    </a:lnL>
                    <a:lnR w="12700" cap="flat" cmpd="sng" algn="ctr">
                      <a:solidFill>
                        <a:srgbClr val="C6CFD0"/>
                      </a:solidFill>
                      <a:prstDash val="solid"/>
                      <a:round/>
                      <a:headEnd type="none" w="med" len="med"/>
                      <a:tailEnd type="none" w="med" len="med"/>
                    </a:lnR>
                    <a:lnT w="12700" cap="flat" cmpd="sng" algn="ctr">
                      <a:solidFill>
                        <a:srgbClr val="C6CFD0"/>
                      </a:solidFill>
                      <a:prstDash val="solid"/>
                      <a:round/>
                      <a:headEnd type="none" w="med" len="med"/>
                      <a:tailEnd type="none" w="med" len="med"/>
                    </a:lnT>
                    <a:lnB w="12700" cap="flat" cmpd="sng" algn="ctr">
                      <a:solidFill>
                        <a:srgbClr val="C6CFD0"/>
                      </a:solidFill>
                      <a:prstDash val="solid"/>
                      <a:round/>
                      <a:headEnd type="none" w="med" len="med"/>
                      <a:tailEnd type="none" w="med" len="med"/>
                    </a:lnB>
                  </a:tcPr>
                </a:tc>
                <a:tc>
                  <a:txBody>
                    <a:bodyPr/>
                    <a:lstStyle/>
                    <a:p>
                      <a:pPr indent="0" marL="0">
                        <a:buNone/>
                      </a:pPr>
                      <a:r>
                        <a:rPr lang="en-US" sz="1100" dirty="0">
                          <a:solidFill>
                            <a:srgbClr val="1F2937"/>
                          </a:solidFill>
                          <a:latin typeface="Carlito" pitchFamily="34" charset="0"/>
                          <a:ea typeface="Carlito" pitchFamily="34" charset="-122"/>
                          <a:cs typeface="Carlito" pitchFamily="34" charset="-120"/>
                        </a:rPr>
                        <a:t>INTEGER</a:t>
                      </a:r>
                      <a:endParaRPr lang="en-US" sz="1100" dirty="0">
                        <a:latin typeface="Carlito" charset="0"/>
                        <a:ea typeface="Carlito" charset="0"/>
                        <a:cs typeface="Carlito" charset="0"/>
                      </a:endParaRPr>
                    </a:p>
                  </a:txBody>
                  <a:tcPr marL="45720" marR="45720" marT="45720" marB="45720" anchor="mid">
                    <a:lnL w="12700" cap="flat" cmpd="sng" algn="ctr">
                      <a:solidFill>
                        <a:srgbClr val="C6CFD0"/>
                      </a:solidFill>
                      <a:prstDash val="solid"/>
                      <a:round/>
                      <a:headEnd type="none" w="med" len="med"/>
                      <a:tailEnd type="none" w="med" len="med"/>
                    </a:lnL>
                    <a:lnR w="12700" cap="flat" cmpd="sng" algn="ctr">
                      <a:solidFill>
                        <a:srgbClr val="C6CFD0"/>
                      </a:solidFill>
                      <a:prstDash val="solid"/>
                      <a:round/>
                      <a:headEnd type="none" w="med" len="med"/>
                      <a:tailEnd type="none" w="med" len="med"/>
                    </a:lnR>
                    <a:lnT w="12700" cap="flat" cmpd="sng" algn="ctr">
                      <a:solidFill>
                        <a:srgbClr val="C6CFD0"/>
                      </a:solidFill>
                      <a:prstDash val="solid"/>
                      <a:round/>
                      <a:headEnd type="none" w="med" len="med"/>
                      <a:tailEnd type="none" w="med" len="med"/>
                    </a:lnT>
                    <a:lnB w="12700" cap="flat" cmpd="sng" algn="ctr">
                      <a:solidFill>
                        <a:srgbClr val="C6CFD0"/>
                      </a:solidFill>
                      <a:prstDash val="solid"/>
                      <a:round/>
                      <a:headEnd type="none" w="med" len="med"/>
                      <a:tailEnd type="none" w="med" len="med"/>
                    </a:lnB>
                  </a:tcPr>
                </a:tc>
                <a:tc>
                  <a:txBody>
                    <a:bodyPr/>
                    <a:lstStyle/>
                    <a:p>
                      <a:pPr indent="0" marL="0">
                        <a:buNone/>
                      </a:pPr>
                      <a:r>
                        <a:rPr lang="en-US" sz="1100" dirty="0">
                          <a:solidFill>
                            <a:srgbClr val="1F2937"/>
                          </a:solidFill>
                          <a:latin typeface="Carlito" pitchFamily="34" charset="0"/>
                          <a:ea typeface="Carlito" pitchFamily="34" charset="-122"/>
                          <a:cs typeface="Carlito" pitchFamily="34" charset="-120"/>
                        </a:rPr>
                        <a:t>PK • AUTOINCREMENT</a:t>
                      </a:r>
                      <a:endParaRPr lang="en-US" sz="1100" dirty="0">
                        <a:latin typeface="Carlito" charset="0"/>
                        <a:ea typeface="Carlito" charset="0"/>
                        <a:cs typeface="Carlito" charset="0"/>
                      </a:endParaRPr>
                    </a:p>
                  </a:txBody>
                  <a:tcPr marL="45720" marR="45720" marT="45720" marB="45720" anchor="mid">
                    <a:lnL w="12700" cap="flat" cmpd="sng" algn="ctr">
                      <a:solidFill>
                        <a:srgbClr val="C6CFD0"/>
                      </a:solidFill>
                      <a:prstDash val="solid"/>
                      <a:round/>
                      <a:headEnd type="none" w="med" len="med"/>
                      <a:tailEnd type="none" w="med" len="med"/>
                    </a:lnL>
                    <a:lnR w="12700" cap="flat" cmpd="sng" algn="ctr">
                      <a:solidFill>
                        <a:srgbClr val="C6CFD0"/>
                      </a:solidFill>
                      <a:prstDash val="solid"/>
                      <a:round/>
                      <a:headEnd type="none" w="med" len="med"/>
                      <a:tailEnd type="none" w="med" len="med"/>
                    </a:lnR>
                    <a:lnT w="12700" cap="flat" cmpd="sng" algn="ctr">
                      <a:solidFill>
                        <a:srgbClr val="C6CFD0"/>
                      </a:solidFill>
                      <a:prstDash val="solid"/>
                      <a:round/>
                      <a:headEnd type="none" w="med" len="med"/>
                      <a:tailEnd type="none" w="med" len="med"/>
                    </a:lnT>
                    <a:lnB w="12700" cap="flat" cmpd="sng" algn="ctr">
                      <a:solidFill>
                        <a:srgbClr val="C6CFD0"/>
                      </a:solidFill>
                      <a:prstDash val="solid"/>
                      <a:round/>
                      <a:headEnd type="none" w="med" len="med"/>
                      <a:tailEnd type="none" w="med" len="med"/>
                    </a:lnB>
                  </a:tcPr>
                </a:tc>
                <a:tc>
                  <a:txBody>
                    <a:bodyPr/>
                    <a:lstStyle/>
                    <a:p>
                      <a:pPr indent="0" marL="0">
                        <a:buNone/>
                      </a:pPr>
                      <a:r>
                        <a:rPr lang="en-US" sz="1100" dirty="0">
                          <a:solidFill>
                            <a:srgbClr val="1F2937"/>
                          </a:solidFill>
                          <a:latin typeface="Carlito" pitchFamily="34" charset="0"/>
                          <a:ea typeface="Carlito" pitchFamily="34" charset="-122"/>
                          <a:cs typeface="Carlito" pitchFamily="34" charset="-120"/>
                        </a:rPr>
                        <a:t>Unique vendor ID</a:t>
                      </a:r>
                      <a:endParaRPr lang="en-US" sz="1100" dirty="0">
                        <a:latin typeface="Carlito" charset="0"/>
                        <a:ea typeface="Carlito" charset="0"/>
                        <a:cs typeface="Carlito" charset="0"/>
                      </a:endParaRPr>
                    </a:p>
                  </a:txBody>
                  <a:tcPr marL="45720" marR="45720" marT="45720" marB="45720" anchor="mid">
                    <a:lnL w="12700" cap="flat" cmpd="sng" algn="ctr">
                      <a:solidFill>
                        <a:srgbClr val="C6CFD0"/>
                      </a:solidFill>
                      <a:prstDash val="solid"/>
                      <a:round/>
                      <a:headEnd type="none" w="med" len="med"/>
                      <a:tailEnd type="none" w="med" len="med"/>
                    </a:lnL>
                    <a:lnR w="12700" cap="flat" cmpd="sng" algn="ctr">
                      <a:solidFill>
                        <a:srgbClr val="C6CFD0"/>
                      </a:solidFill>
                      <a:prstDash val="solid"/>
                      <a:round/>
                      <a:headEnd type="none" w="med" len="med"/>
                      <a:tailEnd type="none" w="med" len="med"/>
                    </a:lnR>
                    <a:lnT w="12700" cap="flat" cmpd="sng" algn="ctr">
                      <a:solidFill>
                        <a:srgbClr val="C6CFD0"/>
                      </a:solidFill>
                      <a:prstDash val="solid"/>
                      <a:round/>
                      <a:headEnd type="none" w="med" len="med"/>
                      <a:tailEnd type="none" w="med" len="med"/>
                    </a:lnT>
                    <a:lnB w="12700" cap="flat" cmpd="sng" algn="ctr">
                      <a:solidFill>
                        <a:srgbClr val="C6CFD0"/>
                      </a:solidFill>
                      <a:prstDash val="solid"/>
                      <a:round/>
                      <a:headEnd type="none" w="med" len="med"/>
                      <a:tailEnd type="none" w="med" len="med"/>
                    </a:lnB>
                  </a:tcPr>
                </a:tc>
              </a:tr>
              <a:tr h="347472">
                <a:tc>
                  <a:txBody>
                    <a:bodyPr/>
                    <a:lstStyle/>
                    <a:p>
                      <a:pPr indent="0" marL="0">
                        <a:buNone/>
                      </a:pPr>
                      <a:r>
                        <a:rPr lang="en-US" sz="1100" dirty="0">
                          <a:solidFill>
                            <a:srgbClr val="1F2937"/>
                          </a:solidFill>
                          <a:latin typeface="Carlito" pitchFamily="34" charset="0"/>
                          <a:ea typeface="Carlito" pitchFamily="34" charset="-122"/>
                          <a:cs typeface="Carlito" pitchFamily="34" charset="-120"/>
                        </a:rPr>
                        <a:t>name</a:t>
                      </a:r>
                      <a:endParaRPr lang="en-US" sz="1100" dirty="0">
                        <a:latin typeface="Carlito" charset="0"/>
                        <a:ea typeface="Carlito" charset="0"/>
                        <a:cs typeface="Carlito" charset="0"/>
                      </a:endParaRPr>
                    </a:p>
                  </a:txBody>
                  <a:tcPr marL="45720" marR="45720" marT="45720" marB="45720" anchor="mid">
                    <a:lnL w="12700" cap="flat" cmpd="sng" algn="ctr">
                      <a:solidFill>
                        <a:srgbClr val="C6CFD0"/>
                      </a:solidFill>
                      <a:prstDash val="solid"/>
                      <a:round/>
                      <a:headEnd type="none" w="med" len="med"/>
                      <a:tailEnd type="none" w="med" len="med"/>
                    </a:lnL>
                    <a:lnR w="12700" cap="flat" cmpd="sng" algn="ctr">
                      <a:solidFill>
                        <a:srgbClr val="C6CFD0"/>
                      </a:solidFill>
                      <a:prstDash val="solid"/>
                      <a:round/>
                      <a:headEnd type="none" w="med" len="med"/>
                      <a:tailEnd type="none" w="med" len="med"/>
                    </a:lnR>
                    <a:lnT w="12700" cap="flat" cmpd="sng" algn="ctr">
                      <a:solidFill>
                        <a:srgbClr val="C6CFD0"/>
                      </a:solidFill>
                      <a:prstDash val="solid"/>
                      <a:round/>
                      <a:headEnd type="none" w="med" len="med"/>
                      <a:tailEnd type="none" w="med" len="med"/>
                    </a:lnT>
                    <a:lnB w="12700" cap="flat" cmpd="sng" algn="ctr">
                      <a:solidFill>
                        <a:srgbClr val="C6CFD0"/>
                      </a:solidFill>
                      <a:prstDash val="solid"/>
                      <a:round/>
                      <a:headEnd type="none" w="med" len="med"/>
                      <a:tailEnd type="none" w="med" len="med"/>
                    </a:lnB>
                  </a:tcPr>
                </a:tc>
                <a:tc>
                  <a:txBody>
                    <a:bodyPr/>
                    <a:lstStyle/>
                    <a:p>
                      <a:pPr indent="0" marL="0">
                        <a:buNone/>
                      </a:pPr>
                      <a:r>
                        <a:rPr lang="en-US" sz="1100" dirty="0">
                          <a:solidFill>
                            <a:srgbClr val="1F2937"/>
                          </a:solidFill>
                          <a:latin typeface="Carlito" pitchFamily="34" charset="0"/>
                          <a:ea typeface="Carlito" pitchFamily="34" charset="-122"/>
                          <a:cs typeface="Carlito" pitchFamily="34" charset="-120"/>
                        </a:rPr>
                        <a:t>TEXT</a:t>
                      </a:r>
                      <a:endParaRPr lang="en-US" sz="1100" dirty="0">
                        <a:latin typeface="Carlito" charset="0"/>
                        <a:ea typeface="Carlito" charset="0"/>
                        <a:cs typeface="Carlito" charset="0"/>
                      </a:endParaRPr>
                    </a:p>
                  </a:txBody>
                  <a:tcPr marL="45720" marR="45720" marT="45720" marB="45720" anchor="mid">
                    <a:lnL w="12700" cap="flat" cmpd="sng" algn="ctr">
                      <a:solidFill>
                        <a:srgbClr val="C6CFD0"/>
                      </a:solidFill>
                      <a:prstDash val="solid"/>
                      <a:round/>
                      <a:headEnd type="none" w="med" len="med"/>
                      <a:tailEnd type="none" w="med" len="med"/>
                    </a:lnL>
                    <a:lnR w="12700" cap="flat" cmpd="sng" algn="ctr">
                      <a:solidFill>
                        <a:srgbClr val="C6CFD0"/>
                      </a:solidFill>
                      <a:prstDash val="solid"/>
                      <a:round/>
                      <a:headEnd type="none" w="med" len="med"/>
                      <a:tailEnd type="none" w="med" len="med"/>
                    </a:lnR>
                    <a:lnT w="12700" cap="flat" cmpd="sng" algn="ctr">
                      <a:solidFill>
                        <a:srgbClr val="C6CFD0"/>
                      </a:solidFill>
                      <a:prstDash val="solid"/>
                      <a:round/>
                      <a:headEnd type="none" w="med" len="med"/>
                      <a:tailEnd type="none" w="med" len="med"/>
                    </a:lnT>
                    <a:lnB w="12700" cap="flat" cmpd="sng" algn="ctr">
                      <a:solidFill>
                        <a:srgbClr val="C6CFD0"/>
                      </a:solidFill>
                      <a:prstDash val="solid"/>
                      <a:round/>
                      <a:headEnd type="none" w="med" len="med"/>
                      <a:tailEnd type="none" w="med" len="med"/>
                    </a:lnB>
                  </a:tcPr>
                </a:tc>
                <a:tc>
                  <a:txBody>
                    <a:bodyPr/>
                    <a:lstStyle/>
                    <a:p>
                      <a:pPr indent="0" marL="0">
                        <a:buNone/>
                      </a:pPr>
                      <a:r>
                        <a:rPr lang="en-US" sz="1100" dirty="0">
                          <a:solidFill>
                            <a:srgbClr val="1F2937"/>
                          </a:solidFill>
                          <a:latin typeface="Carlito" pitchFamily="34" charset="0"/>
                          <a:ea typeface="Carlito" pitchFamily="34" charset="-122"/>
                          <a:cs typeface="Carlito" pitchFamily="34" charset="-120"/>
                        </a:rPr>
                        <a:t>NOT NULL</a:t>
                      </a:r>
                      <a:endParaRPr lang="en-US" sz="1100" dirty="0">
                        <a:latin typeface="Carlito" charset="0"/>
                        <a:ea typeface="Carlito" charset="0"/>
                        <a:cs typeface="Carlito" charset="0"/>
                      </a:endParaRPr>
                    </a:p>
                  </a:txBody>
                  <a:tcPr marL="45720" marR="45720" marT="45720" marB="45720" anchor="mid">
                    <a:lnL w="12700" cap="flat" cmpd="sng" algn="ctr">
                      <a:solidFill>
                        <a:srgbClr val="C6CFD0"/>
                      </a:solidFill>
                      <a:prstDash val="solid"/>
                      <a:round/>
                      <a:headEnd type="none" w="med" len="med"/>
                      <a:tailEnd type="none" w="med" len="med"/>
                    </a:lnL>
                    <a:lnR w="12700" cap="flat" cmpd="sng" algn="ctr">
                      <a:solidFill>
                        <a:srgbClr val="C6CFD0"/>
                      </a:solidFill>
                      <a:prstDash val="solid"/>
                      <a:round/>
                      <a:headEnd type="none" w="med" len="med"/>
                      <a:tailEnd type="none" w="med" len="med"/>
                    </a:lnR>
                    <a:lnT w="12700" cap="flat" cmpd="sng" algn="ctr">
                      <a:solidFill>
                        <a:srgbClr val="C6CFD0"/>
                      </a:solidFill>
                      <a:prstDash val="solid"/>
                      <a:round/>
                      <a:headEnd type="none" w="med" len="med"/>
                      <a:tailEnd type="none" w="med" len="med"/>
                    </a:lnT>
                    <a:lnB w="12700" cap="flat" cmpd="sng" algn="ctr">
                      <a:solidFill>
                        <a:srgbClr val="C6CFD0"/>
                      </a:solidFill>
                      <a:prstDash val="solid"/>
                      <a:round/>
                      <a:headEnd type="none" w="med" len="med"/>
                      <a:tailEnd type="none" w="med" len="med"/>
                    </a:lnB>
                  </a:tcPr>
                </a:tc>
                <a:tc>
                  <a:txBody>
                    <a:bodyPr/>
                    <a:lstStyle/>
                    <a:p>
                      <a:pPr indent="0" marL="0">
                        <a:buNone/>
                      </a:pPr>
                      <a:r>
                        <a:rPr lang="en-US" sz="1100" dirty="0">
                          <a:solidFill>
                            <a:srgbClr val="1F2937"/>
                          </a:solidFill>
                          <a:latin typeface="Carlito" pitchFamily="34" charset="0"/>
                          <a:ea typeface="Carlito" pitchFamily="34" charset="-122"/>
                          <a:cs typeface="Carlito" pitchFamily="34" charset="-120"/>
                        </a:rPr>
                        <a:t>Seller full name</a:t>
                      </a:r>
                      <a:endParaRPr lang="en-US" sz="1100" dirty="0">
                        <a:latin typeface="Carlito" charset="0"/>
                        <a:ea typeface="Carlito" charset="0"/>
                        <a:cs typeface="Carlito" charset="0"/>
                      </a:endParaRPr>
                    </a:p>
                  </a:txBody>
                  <a:tcPr marL="45720" marR="45720" marT="45720" marB="45720" anchor="mid">
                    <a:lnL w="12700" cap="flat" cmpd="sng" algn="ctr">
                      <a:solidFill>
                        <a:srgbClr val="C6CFD0"/>
                      </a:solidFill>
                      <a:prstDash val="solid"/>
                      <a:round/>
                      <a:headEnd type="none" w="med" len="med"/>
                      <a:tailEnd type="none" w="med" len="med"/>
                    </a:lnL>
                    <a:lnR w="12700" cap="flat" cmpd="sng" algn="ctr">
                      <a:solidFill>
                        <a:srgbClr val="C6CFD0"/>
                      </a:solidFill>
                      <a:prstDash val="solid"/>
                      <a:round/>
                      <a:headEnd type="none" w="med" len="med"/>
                      <a:tailEnd type="none" w="med" len="med"/>
                    </a:lnR>
                    <a:lnT w="12700" cap="flat" cmpd="sng" algn="ctr">
                      <a:solidFill>
                        <a:srgbClr val="C6CFD0"/>
                      </a:solidFill>
                      <a:prstDash val="solid"/>
                      <a:round/>
                      <a:headEnd type="none" w="med" len="med"/>
                      <a:tailEnd type="none" w="med" len="med"/>
                    </a:lnT>
                    <a:lnB w="12700" cap="flat" cmpd="sng" algn="ctr">
                      <a:solidFill>
                        <a:srgbClr val="C6CFD0"/>
                      </a:solidFill>
                      <a:prstDash val="solid"/>
                      <a:round/>
                      <a:headEnd type="none" w="med" len="med"/>
                      <a:tailEnd type="none" w="med" len="med"/>
                    </a:lnB>
                  </a:tcPr>
                </a:tc>
              </a:tr>
              <a:tr h="347472">
                <a:tc>
                  <a:txBody>
                    <a:bodyPr/>
                    <a:lstStyle/>
                    <a:p>
                      <a:pPr indent="0" marL="0">
                        <a:buNone/>
                      </a:pPr>
                      <a:r>
                        <a:rPr lang="en-US" sz="1100" dirty="0">
                          <a:solidFill>
                            <a:srgbClr val="1F2937"/>
                          </a:solidFill>
                          <a:latin typeface="Carlito" pitchFamily="34" charset="0"/>
                          <a:ea typeface="Carlito" pitchFamily="34" charset="-122"/>
                          <a:cs typeface="Carlito" pitchFamily="34" charset="-120"/>
                        </a:rPr>
                        <a:t>contact</a:t>
                      </a:r>
                      <a:endParaRPr lang="en-US" sz="1100" dirty="0">
                        <a:latin typeface="Carlito" charset="0"/>
                        <a:ea typeface="Carlito" charset="0"/>
                        <a:cs typeface="Carlito" charset="0"/>
                      </a:endParaRPr>
                    </a:p>
                  </a:txBody>
                  <a:tcPr marL="45720" marR="45720" marT="45720" marB="45720" anchor="mid">
                    <a:lnL w="12700" cap="flat" cmpd="sng" algn="ctr">
                      <a:solidFill>
                        <a:srgbClr val="C6CFD0"/>
                      </a:solidFill>
                      <a:prstDash val="solid"/>
                      <a:round/>
                      <a:headEnd type="none" w="med" len="med"/>
                      <a:tailEnd type="none" w="med" len="med"/>
                    </a:lnL>
                    <a:lnR w="12700" cap="flat" cmpd="sng" algn="ctr">
                      <a:solidFill>
                        <a:srgbClr val="C6CFD0"/>
                      </a:solidFill>
                      <a:prstDash val="solid"/>
                      <a:round/>
                      <a:headEnd type="none" w="med" len="med"/>
                      <a:tailEnd type="none" w="med" len="med"/>
                    </a:lnR>
                    <a:lnT w="12700" cap="flat" cmpd="sng" algn="ctr">
                      <a:solidFill>
                        <a:srgbClr val="C6CFD0"/>
                      </a:solidFill>
                      <a:prstDash val="solid"/>
                      <a:round/>
                      <a:headEnd type="none" w="med" len="med"/>
                      <a:tailEnd type="none" w="med" len="med"/>
                    </a:lnT>
                    <a:lnB w="12700" cap="flat" cmpd="sng" algn="ctr">
                      <a:solidFill>
                        <a:srgbClr val="C6CFD0"/>
                      </a:solidFill>
                      <a:prstDash val="solid"/>
                      <a:round/>
                      <a:headEnd type="none" w="med" len="med"/>
                      <a:tailEnd type="none" w="med" len="med"/>
                    </a:lnB>
                  </a:tcPr>
                </a:tc>
                <a:tc>
                  <a:txBody>
                    <a:bodyPr/>
                    <a:lstStyle/>
                    <a:p>
                      <a:pPr indent="0" marL="0">
                        <a:buNone/>
                      </a:pPr>
                      <a:r>
                        <a:rPr lang="en-US" sz="1100" dirty="0">
                          <a:solidFill>
                            <a:srgbClr val="1F2937"/>
                          </a:solidFill>
                          <a:latin typeface="Carlito" pitchFamily="34" charset="0"/>
                          <a:ea typeface="Carlito" pitchFamily="34" charset="-122"/>
                          <a:cs typeface="Carlito" pitchFamily="34" charset="-120"/>
                        </a:rPr>
                        <a:t>TEXT</a:t>
                      </a:r>
                      <a:endParaRPr lang="en-US" sz="1100" dirty="0">
                        <a:latin typeface="Carlito" charset="0"/>
                        <a:ea typeface="Carlito" charset="0"/>
                        <a:cs typeface="Carlito" charset="0"/>
                      </a:endParaRPr>
                    </a:p>
                  </a:txBody>
                  <a:tcPr marL="45720" marR="45720" marT="45720" marB="45720" anchor="mid">
                    <a:lnL w="12700" cap="flat" cmpd="sng" algn="ctr">
                      <a:solidFill>
                        <a:srgbClr val="C6CFD0"/>
                      </a:solidFill>
                      <a:prstDash val="solid"/>
                      <a:round/>
                      <a:headEnd type="none" w="med" len="med"/>
                      <a:tailEnd type="none" w="med" len="med"/>
                    </a:lnL>
                    <a:lnR w="12700" cap="flat" cmpd="sng" algn="ctr">
                      <a:solidFill>
                        <a:srgbClr val="C6CFD0"/>
                      </a:solidFill>
                      <a:prstDash val="solid"/>
                      <a:round/>
                      <a:headEnd type="none" w="med" len="med"/>
                      <a:tailEnd type="none" w="med" len="med"/>
                    </a:lnR>
                    <a:lnT w="12700" cap="flat" cmpd="sng" algn="ctr">
                      <a:solidFill>
                        <a:srgbClr val="C6CFD0"/>
                      </a:solidFill>
                      <a:prstDash val="solid"/>
                      <a:round/>
                      <a:headEnd type="none" w="med" len="med"/>
                      <a:tailEnd type="none" w="med" len="med"/>
                    </a:lnT>
                    <a:lnB w="12700" cap="flat" cmpd="sng" algn="ctr">
                      <a:solidFill>
                        <a:srgbClr val="C6CFD0"/>
                      </a:solidFill>
                      <a:prstDash val="solid"/>
                      <a:round/>
                      <a:headEnd type="none" w="med" len="med"/>
                      <a:tailEnd type="none" w="med" len="med"/>
                    </a:lnB>
                  </a:tcPr>
                </a:tc>
                <a:tc>
                  <a:txBody>
                    <a:bodyPr/>
                    <a:lstStyle/>
                    <a:p>
                      <a:pPr indent="0" marL="0">
                        <a:buNone/>
                      </a:pPr>
                      <a:r>
                        <a:rPr lang="en-US" sz="1100" dirty="0">
                          <a:solidFill>
                            <a:srgbClr val="1F2937"/>
                          </a:solidFill>
                          <a:latin typeface="Carlito" pitchFamily="34" charset="0"/>
                          <a:ea typeface="Carlito" pitchFamily="34" charset="-122"/>
                          <a:cs typeface="Carlito" pitchFamily="34" charset="-120"/>
                        </a:rPr>
                        <a:t>NOT NULL</a:t>
                      </a:r>
                      <a:endParaRPr lang="en-US" sz="1100" dirty="0">
                        <a:latin typeface="Carlito" charset="0"/>
                        <a:ea typeface="Carlito" charset="0"/>
                        <a:cs typeface="Carlito" charset="0"/>
                      </a:endParaRPr>
                    </a:p>
                  </a:txBody>
                  <a:tcPr marL="45720" marR="45720" marT="45720" marB="45720" anchor="mid">
                    <a:lnL w="12700" cap="flat" cmpd="sng" algn="ctr">
                      <a:solidFill>
                        <a:srgbClr val="C6CFD0"/>
                      </a:solidFill>
                      <a:prstDash val="solid"/>
                      <a:round/>
                      <a:headEnd type="none" w="med" len="med"/>
                      <a:tailEnd type="none" w="med" len="med"/>
                    </a:lnL>
                    <a:lnR w="12700" cap="flat" cmpd="sng" algn="ctr">
                      <a:solidFill>
                        <a:srgbClr val="C6CFD0"/>
                      </a:solidFill>
                      <a:prstDash val="solid"/>
                      <a:round/>
                      <a:headEnd type="none" w="med" len="med"/>
                      <a:tailEnd type="none" w="med" len="med"/>
                    </a:lnR>
                    <a:lnT w="12700" cap="flat" cmpd="sng" algn="ctr">
                      <a:solidFill>
                        <a:srgbClr val="C6CFD0"/>
                      </a:solidFill>
                      <a:prstDash val="solid"/>
                      <a:round/>
                      <a:headEnd type="none" w="med" len="med"/>
                      <a:tailEnd type="none" w="med" len="med"/>
                    </a:lnT>
                    <a:lnB w="12700" cap="flat" cmpd="sng" algn="ctr">
                      <a:solidFill>
                        <a:srgbClr val="C6CFD0"/>
                      </a:solidFill>
                      <a:prstDash val="solid"/>
                      <a:round/>
                      <a:headEnd type="none" w="med" len="med"/>
                      <a:tailEnd type="none" w="med" len="med"/>
                    </a:lnB>
                  </a:tcPr>
                </a:tc>
                <a:tc>
                  <a:txBody>
                    <a:bodyPr/>
                    <a:lstStyle/>
                    <a:p>
                      <a:pPr indent="0" marL="0">
                        <a:buNone/>
                      </a:pPr>
                      <a:r>
                        <a:rPr lang="en-US" sz="1100" dirty="0">
                          <a:solidFill>
                            <a:srgbClr val="1F2937"/>
                          </a:solidFill>
                          <a:latin typeface="Carlito" pitchFamily="34" charset="0"/>
                          <a:ea typeface="Carlito" pitchFamily="34" charset="-122"/>
                          <a:cs typeface="Carlito" pitchFamily="34" charset="-120"/>
                        </a:rPr>
                        <a:t>Primary phone/contact</a:t>
                      </a:r>
                      <a:endParaRPr lang="en-US" sz="1100" dirty="0">
                        <a:latin typeface="Carlito" charset="0"/>
                        <a:ea typeface="Carlito" charset="0"/>
                        <a:cs typeface="Carlito" charset="0"/>
                      </a:endParaRPr>
                    </a:p>
                  </a:txBody>
                  <a:tcPr marL="45720" marR="45720" marT="45720" marB="45720" anchor="mid">
                    <a:lnL w="12700" cap="flat" cmpd="sng" algn="ctr">
                      <a:solidFill>
                        <a:srgbClr val="C6CFD0"/>
                      </a:solidFill>
                      <a:prstDash val="solid"/>
                      <a:round/>
                      <a:headEnd type="none" w="med" len="med"/>
                      <a:tailEnd type="none" w="med" len="med"/>
                    </a:lnL>
                    <a:lnR w="12700" cap="flat" cmpd="sng" algn="ctr">
                      <a:solidFill>
                        <a:srgbClr val="C6CFD0"/>
                      </a:solidFill>
                      <a:prstDash val="solid"/>
                      <a:round/>
                      <a:headEnd type="none" w="med" len="med"/>
                      <a:tailEnd type="none" w="med" len="med"/>
                    </a:lnR>
                    <a:lnT w="12700" cap="flat" cmpd="sng" algn="ctr">
                      <a:solidFill>
                        <a:srgbClr val="C6CFD0"/>
                      </a:solidFill>
                      <a:prstDash val="solid"/>
                      <a:round/>
                      <a:headEnd type="none" w="med" len="med"/>
                      <a:tailEnd type="none" w="med" len="med"/>
                    </a:lnT>
                    <a:lnB w="12700" cap="flat" cmpd="sng" algn="ctr">
                      <a:solidFill>
                        <a:srgbClr val="C6CFD0"/>
                      </a:solidFill>
                      <a:prstDash val="solid"/>
                      <a:round/>
                      <a:headEnd type="none" w="med" len="med"/>
                      <a:tailEnd type="none" w="med" len="med"/>
                    </a:lnB>
                  </a:tcPr>
                </a:tc>
              </a:tr>
            </a:tbl>
          </a:graphicData>
        </a:graphic>
      </p:graphicFrame>
      <p:sp>
        <p:nvSpPr>
          <p:cNvPr id="15" name="Shape 11"/>
          <p:cNvSpPr/>
          <p:nvPr/>
        </p:nvSpPr>
        <p:spPr>
          <a:xfrm>
            <a:off x="777240" y="4160520"/>
            <a:ext cx="10652760" cy="347472"/>
          </a:xfrm>
          <a:prstGeom prst="rect">
            <a:avLst/>
          </a:prstGeom>
          <a:solidFill>
            <a:srgbClr val="C96F47"/>
          </a:solidFill>
          <a:ln w="12700">
            <a:solidFill>
              <a:srgbClr val="C96F47"/>
            </a:solidFill>
            <a:prstDash val="solid"/>
          </a:ln>
        </p:spPr>
      </p:sp>
      <p:sp>
        <p:nvSpPr>
          <p:cNvPr id="16" name="Text 12"/>
          <p:cNvSpPr/>
          <p:nvPr/>
        </p:nvSpPr>
        <p:spPr>
          <a:xfrm>
            <a:off x="868680" y="4261104"/>
            <a:ext cx="1645920" cy="128016"/>
          </a:xfrm>
          <a:prstGeom prst="rect">
            <a:avLst/>
          </a:prstGeom>
          <a:noFill/>
          <a:ln/>
        </p:spPr>
        <p:txBody>
          <a:bodyPr wrap="square" lIns="0" tIns="0" rIns="0" bIns="0" rtlCol="0" anchor="ctr"/>
          <a:lstStyle/>
          <a:p>
            <a:pPr indent="0" marL="0">
              <a:buNone/>
            </a:pPr>
            <a:r>
              <a:rPr lang="en-US" sz="1080" b="1" dirty="0">
                <a:solidFill>
                  <a:srgbClr val="FFFFFF"/>
                </a:solidFill>
              </a:rPr>
              <a:t>Field</a:t>
            </a:r>
            <a:endParaRPr lang="en-US" sz="1080" dirty="0"/>
          </a:p>
        </p:txBody>
      </p:sp>
      <p:sp>
        <p:nvSpPr>
          <p:cNvPr id="17" name="Text 13"/>
          <p:cNvSpPr/>
          <p:nvPr/>
        </p:nvSpPr>
        <p:spPr>
          <a:xfrm>
            <a:off x="2788920" y="4261104"/>
            <a:ext cx="1097280" cy="128016"/>
          </a:xfrm>
          <a:prstGeom prst="rect">
            <a:avLst/>
          </a:prstGeom>
          <a:noFill/>
          <a:ln/>
        </p:spPr>
        <p:txBody>
          <a:bodyPr wrap="square" lIns="0" tIns="0" rIns="0" bIns="0" rtlCol="0" anchor="ctr"/>
          <a:lstStyle/>
          <a:p>
            <a:pPr indent="0" marL="0">
              <a:buNone/>
            </a:pPr>
            <a:r>
              <a:rPr lang="en-US" sz="1080" b="1" dirty="0">
                <a:solidFill>
                  <a:srgbClr val="FFFFFF"/>
                </a:solidFill>
              </a:rPr>
              <a:t>Type</a:t>
            </a:r>
            <a:endParaRPr lang="en-US" sz="1080" dirty="0"/>
          </a:p>
        </p:txBody>
      </p:sp>
      <p:sp>
        <p:nvSpPr>
          <p:cNvPr id="18" name="Text 14"/>
          <p:cNvSpPr/>
          <p:nvPr/>
        </p:nvSpPr>
        <p:spPr>
          <a:xfrm>
            <a:off x="4206240" y="4261104"/>
            <a:ext cx="2377440" cy="128016"/>
          </a:xfrm>
          <a:prstGeom prst="rect">
            <a:avLst/>
          </a:prstGeom>
          <a:noFill/>
          <a:ln/>
        </p:spPr>
        <p:txBody>
          <a:bodyPr wrap="square" lIns="0" tIns="0" rIns="0" bIns="0" rtlCol="0" anchor="ctr"/>
          <a:lstStyle/>
          <a:p>
            <a:pPr indent="0" marL="0">
              <a:buNone/>
            </a:pPr>
            <a:r>
              <a:rPr lang="en-US" sz="1080" b="1" dirty="0">
                <a:solidFill>
                  <a:srgbClr val="FFFFFF"/>
                </a:solidFill>
              </a:rPr>
              <a:t>Key / Constraint</a:t>
            </a:r>
            <a:endParaRPr lang="en-US" sz="1080" dirty="0"/>
          </a:p>
        </p:txBody>
      </p:sp>
      <p:sp>
        <p:nvSpPr>
          <p:cNvPr id="19" name="Text 15"/>
          <p:cNvSpPr/>
          <p:nvPr/>
        </p:nvSpPr>
        <p:spPr>
          <a:xfrm>
            <a:off x="7059168" y="4261104"/>
            <a:ext cx="1828800" cy="128016"/>
          </a:xfrm>
          <a:prstGeom prst="rect">
            <a:avLst/>
          </a:prstGeom>
          <a:noFill/>
          <a:ln/>
        </p:spPr>
        <p:txBody>
          <a:bodyPr wrap="square" lIns="0" tIns="0" rIns="0" bIns="0" rtlCol="0" anchor="ctr"/>
          <a:lstStyle/>
          <a:p>
            <a:pPr indent="0" marL="0">
              <a:buNone/>
            </a:pPr>
            <a:r>
              <a:rPr lang="en-US" sz="1080" b="1" dirty="0">
                <a:solidFill>
                  <a:srgbClr val="FFFFFF"/>
                </a:solidFill>
              </a:rPr>
              <a:t>Purpose</a:t>
            </a:r>
            <a:endParaRPr lang="en-US" sz="1080" dirty="0"/>
          </a:p>
        </p:txBody>
      </p:sp>
      <p:sp>
        <p:nvSpPr>
          <p:cNvPr id="25" name="Slide Number Placeholder 0"/>
          <p:cNvSpPr>
            <a:spLocks noGrp="1"/>
          </p:cNvSpPr>
          <p:nvPr>
            <p:ph type="sldNum" sz="quarter" idx="4294967295"/>
          </p:nvPr>
        </p:nvSpPr>
        <p:spPr>
          <a:xfrm>
            <a:off x="11750040" y="649224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latin typeface="Carlito"/>
                <a:ea typeface="Carlito"/>
                <a:cs typeface="Carlito"/>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40080" y="411480"/>
            <a:ext cx="10698480" cy="438912"/>
          </a:xfrm>
          <a:prstGeom prst="rect">
            <a:avLst/>
          </a:prstGeom>
          <a:noFill/>
          <a:ln/>
        </p:spPr>
        <p:txBody>
          <a:bodyPr wrap="square" lIns="0" tIns="0" rIns="0" bIns="0" rtlCol="0" anchor="ctr"/>
          <a:lstStyle/>
          <a:p>
            <a:pPr indent="0" marL="0">
              <a:buNone/>
            </a:pPr>
            <a:r>
              <a:rPr lang="en-US" sz="2500" b="1" dirty="0">
                <a:solidFill>
                  <a:srgbClr val="163A45"/>
                </a:solidFill>
                <a:latin typeface="Carlito" pitchFamily="34" charset="0"/>
                <a:ea typeface="Carlito" pitchFamily="34" charset="-122"/>
                <a:cs typeface="Carlito" pitchFamily="34" charset="-120"/>
              </a:rPr>
              <a:t>Data Dictionary — Harshdeep Kaur</a:t>
            </a:r>
            <a:endParaRPr lang="en-US" sz="2500" dirty="0"/>
          </a:p>
        </p:txBody>
      </p:sp>
      <p:sp>
        <p:nvSpPr>
          <p:cNvPr id="3" name="Text 1"/>
          <p:cNvSpPr/>
          <p:nvPr/>
        </p:nvSpPr>
        <p:spPr>
          <a:xfrm>
            <a:off x="658368" y="877824"/>
            <a:ext cx="10789920" cy="310896"/>
          </a:xfrm>
          <a:prstGeom prst="rect">
            <a:avLst/>
          </a:prstGeom>
          <a:noFill/>
          <a:ln/>
        </p:spPr>
        <p:txBody>
          <a:bodyPr wrap="square" lIns="0" tIns="0" rIns="0" bIns="0" rtlCol="0" anchor="ctr"/>
          <a:lstStyle/>
          <a:p>
            <a:pPr indent="0" marL="0">
              <a:buNone/>
            </a:pPr>
            <a:r>
              <a:rPr lang="en-US" sz="1250" dirty="0">
                <a:solidFill>
                  <a:srgbClr val="6B7280"/>
                </a:solidFill>
                <a:latin typeface="Carlito" pitchFamily="34" charset="0"/>
                <a:ea typeface="Carlito" pitchFamily="34" charset="-122"/>
                <a:cs typeface="Carlito" pitchFamily="34" charset="-120"/>
              </a:rPr>
              <a:t>Buyer and Property entities</a:t>
            </a:r>
            <a:endParaRPr lang="en-US" sz="1250" dirty="0"/>
          </a:p>
        </p:txBody>
      </p:sp>
      <p:sp>
        <p:nvSpPr>
          <p:cNvPr id="4" name="Shape 2"/>
          <p:cNvSpPr/>
          <p:nvPr/>
        </p:nvSpPr>
        <p:spPr>
          <a:xfrm>
            <a:off x="9674352" y="457200"/>
            <a:ext cx="1810512" cy="347472"/>
          </a:xfrm>
          <a:prstGeom prst="roundRect">
            <a:avLst>
              <a:gd name="adj" fmla="val 15789"/>
            </a:avLst>
          </a:prstGeom>
          <a:solidFill>
            <a:srgbClr val="EEE2CD"/>
          </a:solidFill>
          <a:ln w="12700">
            <a:solidFill>
              <a:srgbClr val="EEE2CD"/>
            </a:solidFill>
            <a:prstDash val="solid"/>
          </a:ln>
        </p:spPr>
      </p:sp>
      <p:sp>
        <p:nvSpPr>
          <p:cNvPr id="5" name="Text 3"/>
          <p:cNvSpPr/>
          <p:nvPr/>
        </p:nvSpPr>
        <p:spPr>
          <a:xfrm>
            <a:off x="9747504" y="548640"/>
            <a:ext cx="1664208" cy="137160"/>
          </a:xfrm>
          <a:prstGeom prst="rect">
            <a:avLst/>
          </a:prstGeom>
          <a:noFill/>
          <a:ln/>
        </p:spPr>
        <p:txBody>
          <a:bodyPr wrap="square" lIns="0" tIns="0" rIns="0" bIns="0" rtlCol="0" anchor="ctr"/>
          <a:lstStyle/>
          <a:p>
            <a:pPr algn="ctr" indent="0" marL="0">
              <a:buNone/>
            </a:pPr>
            <a:r>
              <a:rPr lang="en-US" sz="970" b="1" dirty="0">
                <a:solidFill>
                  <a:srgbClr val="163A45"/>
                </a:solidFill>
              </a:rPr>
              <a:t>Speaker: Harshdeep</a:t>
            </a:r>
            <a:endParaRPr lang="en-US" sz="97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58368" y="1417320"/>
          <a:ext cx="10881360" cy="4526280"/>
        </p:xfrm>
        <a:graphic>
          <a:graphicData uri="http://schemas.openxmlformats.org/drawingml/2006/table">
            <a:tbl>
              <a:tblPr/>
              <a:tblGrid>
                <a:gridCol w="1143000"/>
                <a:gridCol w="1572768"/>
                <a:gridCol w="1280160"/>
                <a:gridCol w="2651760"/>
                <a:gridCol w="4233672"/>
              </a:tblGrid>
              <a:tr h="438912">
                <a:tc>
                  <a:txBody>
                    <a:bodyPr/>
                    <a:lstStyle/>
                    <a:p>
                      <a:pPr indent="0" marL="0">
                        <a:buNone/>
                      </a:pPr>
                      <a:r>
                        <a:rPr lang="en-US" sz="1060" b="1" dirty="0">
                          <a:solidFill>
                            <a:srgbClr val="1F2937"/>
                          </a:solidFill>
                          <a:latin typeface="Carlito" pitchFamily="34" charset="0"/>
                          <a:ea typeface="Carlito" pitchFamily="34" charset="-122"/>
                          <a:cs typeface="Carlito" pitchFamily="34" charset="-120"/>
                        </a:rPr>
                        <a:t>Entity</a:t>
                      </a:r>
                      <a:endParaRPr lang="en-US" sz="1060" dirty="0">
                        <a:latin typeface="Carlito" charset="0"/>
                        <a:ea typeface="Carlito" charset="0"/>
                        <a:cs typeface="Carlito" charset="0"/>
                      </a:endParaRPr>
                    </a:p>
                  </a:txBody>
                  <a:tcPr marL="45720" marR="45720" marT="45720" marB="45720"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1060" b="1" dirty="0">
                          <a:solidFill>
                            <a:srgbClr val="1F2937"/>
                          </a:solidFill>
                          <a:latin typeface="Carlito" pitchFamily="34" charset="0"/>
                          <a:ea typeface="Carlito" pitchFamily="34" charset="-122"/>
                          <a:cs typeface="Carlito" pitchFamily="34" charset="-120"/>
                        </a:rPr>
                        <a:t>Field</a:t>
                      </a:r>
                      <a:endParaRPr lang="en-US" sz="1060" dirty="0">
                        <a:latin typeface="Carlito" charset="0"/>
                        <a:ea typeface="Carlito" charset="0"/>
                        <a:cs typeface="Carlito" charset="0"/>
                      </a:endParaRPr>
                    </a:p>
                  </a:txBody>
                  <a:tcPr marL="45720" marR="45720" marT="45720" marB="45720"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1060" b="1" dirty="0">
                          <a:solidFill>
                            <a:srgbClr val="1F2937"/>
                          </a:solidFill>
                          <a:latin typeface="Carlito" pitchFamily="34" charset="0"/>
                          <a:ea typeface="Carlito" pitchFamily="34" charset="-122"/>
                          <a:cs typeface="Carlito" pitchFamily="34" charset="-120"/>
                        </a:rPr>
                        <a:t>Type</a:t>
                      </a:r>
                      <a:endParaRPr lang="en-US" sz="1060" dirty="0">
                        <a:latin typeface="Carlito" charset="0"/>
                        <a:ea typeface="Carlito" charset="0"/>
                        <a:cs typeface="Carlito" charset="0"/>
                      </a:endParaRPr>
                    </a:p>
                  </a:txBody>
                  <a:tcPr marL="45720" marR="45720" marT="45720" marB="45720"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1060" b="1" dirty="0">
                          <a:solidFill>
                            <a:srgbClr val="1F2937"/>
                          </a:solidFill>
                          <a:latin typeface="Carlito" pitchFamily="34" charset="0"/>
                          <a:ea typeface="Carlito" pitchFamily="34" charset="-122"/>
                          <a:cs typeface="Carlito" pitchFamily="34" charset="-120"/>
                        </a:rPr>
                        <a:t>Key / Constraint</a:t>
                      </a:r>
                      <a:endParaRPr lang="en-US" sz="1060" dirty="0">
                        <a:latin typeface="Carlito" charset="0"/>
                        <a:ea typeface="Carlito" charset="0"/>
                        <a:cs typeface="Carlito" charset="0"/>
                      </a:endParaRPr>
                    </a:p>
                  </a:txBody>
                  <a:tcPr marL="45720" marR="45720" marT="45720" marB="45720"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1060" b="1" dirty="0">
                          <a:solidFill>
                            <a:srgbClr val="1F2937"/>
                          </a:solidFill>
                          <a:latin typeface="Carlito" pitchFamily="34" charset="0"/>
                          <a:ea typeface="Carlito" pitchFamily="34" charset="-122"/>
                          <a:cs typeface="Carlito" pitchFamily="34" charset="-120"/>
                        </a:rPr>
                        <a:t>Purpose</a:t>
                      </a:r>
                      <a:endParaRPr lang="en-US" sz="1060" dirty="0">
                        <a:latin typeface="Carlito" charset="0"/>
                        <a:ea typeface="Carlito" charset="0"/>
                        <a:cs typeface="Carlito" charset="0"/>
                      </a:endParaRPr>
                    </a:p>
                  </a:txBody>
                  <a:tcPr marL="45720" marR="45720" marT="45720" marB="45720"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r>
              <a:tr h="438912">
                <a:tc>
                  <a:txBody>
                    <a:bodyPr/>
                    <a:lstStyle/>
                    <a:p>
                      <a:pPr indent="0" marL="0">
                        <a:buNone/>
                      </a:pPr>
                      <a:r>
                        <a:rPr lang="en-US" sz="1060" dirty="0">
                          <a:solidFill>
                            <a:srgbClr val="1F2937"/>
                          </a:solidFill>
                          <a:latin typeface="Carlito" pitchFamily="34" charset="0"/>
                          <a:ea typeface="Carlito" pitchFamily="34" charset="-122"/>
                          <a:cs typeface="Carlito" pitchFamily="34" charset="-120"/>
                        </a:rPr>
                        <a:t>BUYER</a:t>
                      </a:r>
                      <a:endParaRPr lang="en-US" sz="1060" dirty="0">
                        <a:latin typeface="Carlito" charset="0"/>
                        <a:ea typeface="Carlito" charset="0"/>
                        <a:cs typeface="Carlito" charset="0"/>
                      </a:endParaRPr>
                    </a:p>
                  </a:txBody>
                  <a:tcPr marL="45720" marR="45720" marT="45720" marB="45720"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1060" dirty="0">
                          <a:solidFill>
                            <a:srgbClr val="1F2937"/>
                          </a:solidFill>
                          <a:latin typeface="Carlito" pitchFamily="34" charset="0"/>
                          <a:ea typeface="Carlito" pitchFamily="34" charset="-122"/>
                          <a:cs typeface="Carlito" pitchFamily="34" charset="-120"/>
                        </a:rPr>
                        <a:t>buyer_id</a:t>
                      </a:r>
                      <a:endParaRPr lang="en-US" sz="1060" dirty="0">
                        <a:latin typeface="Carlito" charset="0"/>
                        <a:ea typeface="Carlito" charset="0"/>
                        <a:cs typeface="Carlito" charset="0"/>
                      </a:endParaRPr>
                    </a:p>
                  </a:txBody>
                  <a:tcPr marL="45720" marR="45720" marT="45720" marB="45720"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1060" dirty="0">
                          <a:solidFill>
                            <a:srgbClr val="1F2937"/>
                          </a:solidFill>
                          <a:latin typeface="Carlito" pitchFamily="34" charset="0"/>
                          <a:ea typeface="Carlito" pitchFamily="34" charset="-122"/>
                          <a:cs typeface="Carlito" pitchFamily="34" charset="-120"/>
                        </a:rPr>
                        <a:t>INTEGER</a:t>
                      </a:r>
                      <a:endParaRPr lang="en-US" sz="1060" dirty="0">
                        <a:latin typeface="Carlito" charset="0"/>
                        <a:ea typeface="Carlito" charset="0"/>
                        <a:cs typeface="Carlito" charset="0"/>
                      </a:endParaRPr>
                    </a:p>
                  </a:txBody>
                  <a:tcPr marL="45720" marR="45720" marT="45720" marB="45720"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1060" dirty="0">
                          <a:solidFill>
                            <a:srgbClr val="1F2937"/>
                          </a:solidFill>
                          <a:latin typeface="Carlito" pitchFamily="34" charset="0"/>
                          <a:ea typeface="Carlito" pitchFamily="34" charset="-122"/>
                          <a:cs typeface="Carlito" pitchFamily="34" charset="-120"/>
                        </a:rPr>
                        <a:t>PK • AUTOINCREMENT</a:t>
                      </a:r>
                      <a:endParaRPr lang="en-US" sz="1060" dirty="0">
                        <a:latin typeface="Carlito" charset="0"/>
                        <a:ea typeface="Carlito" charset="0"/>
                        <a:cs typeface="Carlito" charset="0"/>
                      </a:endParaRPr>
                    </a:p>
                  </a:txBody>
                  <a:tcPr marL="45720" marR="45720" marT="45720" marB="45720"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1060" dirty="0">
                          <a:solidFill>
                            <a:srgbClr val="1F2937"/>
                          </a:solidFill>
                          <a:latin typeface="Carlito" pitchFamily="34" charset="0"/>
                          <a:ea typeface="Carlito" pitchFamily="34" charset="-122"/>
                          <a:cs typeface="Carlito" pitchFamily="34" charset="-120"/>
                        </a:rPr>
                        <a:t>Unique buyer ID</a:t>
                      </a:r>
                      <a:endParaRPr lang="en-US" sz="1060" dirty="0">
                        <a:latin typeface="Carlito" charset="0"/>
                        <a:ea typeface="Carlito" charset="0"/>
                        <a:cs typeface="Carlito" charset="0"/>
                      </a:endParaRPr>
                    </a:p>
                  </a:txBody>
                  <a:tcPr marL="45720" marR="45720" marT="45720" marB="45720"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r>
              <a:tr h="438912">
                <a:tc>
                  <a:txBody>
                    <a:bodyPr/>
                    <a:lstStyle/>
                    <a:p>
                      <a:pPr indent="0" marL="0">
                        <a:buNone/>
                      </a:pPr>
                      <a:r>
                        <a:rPr lang="en-US" sz="1060" dirty="0">
                          <a:solidFill>
                            <a:srgbClr val="1F2937"/>
                          </a:solidFill>
                          <a:latin typeface="Carlito" pitchFamily="34" charset="0"/>
                          <a:ea typeface="Carlito" pitchFamily="34" charset="-122"/>
                          <a:cs typeface="Carlito" pitchFamily="34" charset="-120"/>
                        </a:rPr>
                        <a:t>BUYER</a:t>
                      </a:r>
                      <a:endParaRPr lang="en-US" sz="1060" dirty="0">
                        <a:latin typeface="Carlito" charset="0"/>
                        <a:ea typeface="Carlito" charset="0"/>
                        <a:cs typeface="Carlito" charset="0"/>
                      </a:endParaRPr>
                    </a:p>
                  </a:txBody>
                  <a:tcPr marL="45720" marR="45720" marT="45720" marB="45720"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1060" dirty="0">
                          <a:solidFill>
                            <a:srgbClr val="1F2937"/>
                          </a:solidFill>
                          <a:latin typeface="Carlito" pitchFamily="34" charset="0"/>
                          <a:ea typeface="Carlito" pitchFamily="34" charset="-122"/>
                          <a:cs typeface="Carlito" pitchFamily="34" charset="-120"/>
                        </a:rPr>
                        <a:t>budget</a:t>
                      </a:r>
                      <a:endParaRPr lang="en-US" sz="1060" dirty="0">
                        <a:latin typeface="Carlito" charset="0"/>
                        <a:ea typeface="Carlito" charset="0"/>
                        <a:cs typeface="Carlito" charset="0"/>
                      </a:endParaRPr>
                    </a:p>
                  </a:txBody>
                  <a:tcPr marL="45720" marR="45720" marT="45720" marB="45720"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1060" dirty="0">
                          <a:solidFill>
                            <a:srgbClr val="1F2937"/>
                          </a:solidFill>
                          <a:latin typeface="Carlito" pitchFamily="34" charset="0"/>
                          <a:ea typeface="Carlito" pitchFamily="34" charset="-122"/>
                          <a:cs typeface="Carlito" pitchFamily="34" charset="-120"/>
                        </a:rPr>
                        <a:t>INTEGER</a:t>
                      </a:r>
                      <a:endParaRPr lang="en-US" sz="1060" dirty="0">
                        <a:latin typeface="Carlito" charset="0"/>
                        <a:ea typeface="Carlito" charset="0"/>
                        <a:cs typeface="Carlito" charset="0"/>
                      </a:endParaRPr>
                    </a:p>
                  </a:txBody>
                  <a:tcPr marL="45720" marR="45720" marT="45720" marB="45720"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1060" dirty="0">
                          <a:solidFill>
                            <a:srgbClr val="1F2937"/>
                          </a:solidFill>
                          <a:latin typeface="Carlito" pitchFamily="34" charset="0"/>
                          <a:ea typeface="Carlito" pitchFamily="34" charset="-122"/>
                          <a:cs typeface="Carlito" pitchFamily="34" charset="-120"/>
                        </a:rPr>
                        <a:t>NOT NULL • CHECK &gt; 0</a:t>
                      </a:r>
                      <a:endParaRPr lang="en-US" sz="1060" dirty="0">
                        <a:latin typeface="Carlito" charset="0"/>
                        <a:ea typeface="Carlito" charset="0"/>
                        <a:cs typeface="Carlito" charset="0"/>
                      </a:endParaRPr>
                    </a:p>
                  </a:txBody>
                  <a:tcPr marL="45720" marR="45720" marT="45720" marB="45720"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1060" dirty="0">
                          <a:solidFill>
                            <a:srgbClr val="1F2937"/>
                          </a:solidFill>
                          <a:latin typeface="Carlito" pitchFamily="34" charset="0"/>
                          <a:ea typeface="Carlito" pitchFamily="34" charset="-122"/>
                          <a:cs typeface="Carlito" pitchFamily="34" charset="-120"/>
                        </a:rPr>
                        <a:t>Maximum buying budget</a:t>
                      </a:r>
                      <a:endParaRPr lang="en-US" sz="1060" dirty="0">
                        <a:latin typeface="Carlito" charset="0"/>
                        <a:ea typeface="Carlito" charset="0"/>
                        <a:cs typeface="Carlito" charset="0"/>
                      </a:endParaRPr>
                    </a:p>
                  </a:txBody>
                  <a:tcPr marL="45720" marR="45720" marT="45720" marB="45720"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r>
              <a:tr h="438912">
                <a:tc>
                  <a:txBody>
                    <a:bodyPr/>
                    <a:lstStyle/>
                    <a:p>
                      <a:pPr indent="0" marL="0">
                        <a:buNone/>
                      </a:pPr>
                      <a:r>
                        <a:rPr lang="en-US" sz="1060" dirty="0">
                          <a:solidFill>
                            <a:srgbClr val="1F2937"/>
                          </a:solidFill>
                          <a:latin typeface="Carlito" pitchFamily="34" charset="0"/>
                          <a:ea typeface="Carlito" pitchFamily="34" charset="-122"/>
                          <a:cs typeface="Carlito" pitchFamily="34" charset="-120"/>
                        </a:rPr>
                        <a:t>BUYER</a:t>
                      </a:r>
                      <a:endParaRPr lang="en-US" sz="1060" dirty="0">
                        <a:latin typeface="Carlito" charset="0"/>
                        <a:ea typeface="Carlito" charset="0"/>
                        <a:cs typeface="Carlito" charset="0"/>
                      </a:endParaRPr>
                    </a:p>
                  </a:txBody>
                  <a:tcPr marL="45720" marR="45720" marT="45720" marB="45720"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1060" dirty="0">
                          <a:solidFill>
                            <a:srgbClr val="1F2937"/>
                          </a:solidFill>
                          <a:latin typeface="Carlito" pitchFamily="34" charset="0"/>
                          <a:ea typeface="Carlito" pitchFamily="34" charset="-122"/>
                          <a:cs typeface="Carlito" pitchFamily="34" charset="-120"/>
                        </a:rPr>
                        <a:t>preferences</a:t>
                      </a:r>
                      <a:endParaRPr lang="en-US" sz="1060" dirty="0">
                        <a:latin typeface="Carlito" charset="0"/>
                        <a:ea typeface="Carlito" charset="0"/>
                        <a:cs typeface="Carlito" charset="0"/>
                      </a:endParaRPr>
                    </a:p>
                  </a:txBody>
                  <a:tcPr marL="45720" marR="45720" marT="45720" marB="45720"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1060" dirty="0">
                          <a:solidFill>
                            <a:srgbClr val="1F2937"/>
                          </a:solidFill>
                          <a:latin typeface="Carlito" pitchFamily="34" charset="0"/>
                          <a:ea typeface="Carlito" pitchFamily="34" charset="-122"/>
                          <a:cs typeface="Carlito" pitchFamily="34" charset="-120"/>
                        </a:rPr>
                        <a:t>TEXT</a:t>
                      </a:r>
                      <a:endParaRPr lang="en-US" sz="1060" dirty="0">
                        <a:latin typeface="Carlito" charset="0"/>
                        <a:ea typeface="Carlito" charset="0"/>
                        <a:cs typeface="Carlito" charset="0"/>
                      </a:endParaRPr>
                    </a:p>
                  </a:txBody>
                  <a:tcPr marL="45720" marR="45720" marT="45720" marB="45720"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1060" dirty="0">
                          <a:solidFill>
                            <a:srgbClr val="1F2937"/>
                          </a:solidFill>
                          <a:latin typeface="Carlito" pitchFamily="34" charset="0"/>
                          <a:ea typeface="Carlito" pitchFamily="34" charset="-122"/>
                          <a:cs typeface="Carlito" pitchFamily="34" charset="-120"/>
                        </a:rPr>
                        <a:t>NULL</a:t>
                      </a:r>
                      <a:endParaRPr lang="en-US" sz="1060" dirty="0">
                        <a:latin typeface="Carlito" charset="0"/>
                        <a:ea typeface="Carlito" charset="0"/>
                        <a:cs typeface="Carlito" charset="0"/>
                      </a:endParaRPr>
                    </a:p>
                  </a:txBody>
                  <a:tcPr marL="45720" marR="45720" marT="45720" marB="45720"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1060" dirty="0">
                          <a:solidFill>
                            <a:srgbClr val="1F2937"/>
                          </a:solidFill>
                          <a:latin typeface="Carlito" pitchFamily="34" charset="0"/>
                          <a:ea typeface="Carlito" pitchFamily="34" charset="-122"/>
                          <a:cs typeface="Carlito" pitchFamily="34" charset="-120"/>
                        </a:rPr>
                        <a:t>Buyer preference keywords</a:t>
                      </a:r>
                      <a:endParaRPr lang="en-US" sz="1060" dirty="0">
                        <a:latin typeface="Carlito" charset="0"/>
                        <a:ea typeface="Carlito" charset="0"/>
                        <a:cs typeface="Carlito" charset="0"/>
                      </a:endParaRPr>
                    </a:p>
                  </a:txBody>
                  <a:tcPr marL="45720" marR="45720" marT="45720" marB="45720"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r>
              <a:tr h="438912">
                <a:tc>
                  <a:txBody>
                    <a:bodyPr/>
                    <a:lstStyle/>
                    <a:p>
                      <a:pPr indent="0" marL="0">
                        <a:buNone/>
                      </a:pPr>
                      <a:r>
                        <a:rPr lang="en-US" sz="1060" dirty="0">
                          <a:solidFill>
                            <a:srgbClr val="1F2937"/>
                          </a:solidFill>
                          <a:latin typeface="Carlito" pitchFamily="34" charset="0"/>
                          <a:ea typeface="Carlito" pitchFamily="34" charset="-122"/>
                          <a:cs typeface="Carlito" pitchFamily="34" charset="-120"/>
                        </a:rPr>
                        <a:t>PROPERTY</a:t>
                      </a:r>
                      <a:endParaRPr lang="en-US" sz="1060" dirty="0">
                        <a:latin typeface="Carlito" charset="0"/>
                        <a:ea typeface="Carlito" charset="0"/>
                        <a:cs typeface="Carlito" charset="0"/>
                      </a:endParaRPr>
                    </a:p>
                  </a:txBody>
                  <a:tcPr marL="45720" marR="45720" marT="45720" marB="45720"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1060" dirty="0">
                          <a:solidFill>
                            <a:srgbClr val="1F2937"/>
                          </a:solidFill>
                          <a:latin typeface="Carlito" pitchFamily="34" charset="0"/>
                          <a:ea typeface="Carlito" pitchFamily="34" charset="-122"/>
                          <a:cs typeface="Carlito" pitchFamily="34" charset="-120"/>
                        </a:rPr>
                        <a:t>property_id</a:t>
                      </a:r>
                      <a:endParaRPr lang="en-US" sz="1060" dirty="0">
                        <a:latin typeface="Carlito" charset="0"/>
                        <a:ea typeface="Carlito" charset="0"/>
                        <a:cs typeface="Carlito" charset="0"/>
                      </a:endParaRPr>
                    </a:p>
                  </a:txBody>
                  <a:tcPr marL="45720" marR="45720" marT="45720" marB="45720"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1060" dirty="0">
                          <a:solidFill>
                            <a:srgbClr val="1F2937"/>
                          </a:solidFill>
                          <a:latin typeface="Carlito" pitchFamily="34" charset="0"/>
                          <a:ea typeface="Carlito" pitchFamily="34" charset="-122"/>
                          <a:cs typeface="Carlito" pitchFamily="34" charset="-120"/>
                        </a:rPr>
                        <a:t>INTEGER</a:t>
                      </a:r>
                      <a:endParaRPr lang="en-US" sz="1060" dirty="0">
                        <a:latin typeface="Carlito" charset="0"/>
                        <a:ea typeface="Carlito" charset="0"/>
                        <a:cs typeface="Carlito" charset="0"/>
                      </a:endParaRPr>
                    </a:p>
                  </a:txBody>
                  <a:tcPr marL="45720" marR="45720" marT="45720" marB="45720"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1060" dirty="0">
                          <a:solidFill>
                            <a:srgbClr val="1F2937"/>
                          </a:solidFill>
                          <a:latin typeface="Carlito" pitchFamily="34" charset="0"/>
                          <a:ea typeface="Carlito" pitchFamily="34" charset="-122"/>
                          <a:cs typeface="Carlito" pitchFamily="34" charset="-120"/>
                        </a:rPr>
                        <a:t>PK • AUTOINCREMENT</a:t>
                      </a:r>
                      <a:endParaRPr lang="en-US" sz="1060" dirty="0">
                        <a:latin typeface="Carlito" charset="0"/>
                        <a:ea typeface="Carlito" charset="0"/>
                        <a:cs typeface="Carlito" charset="0"/>
                      </a:endParaRPr>
                    </a:p>
                  </a:txBody>
                  <a:tcPr marL="45720" marR="45720" marT="45720" marB="45720"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1060" dirty="0">
                          <a:solidFill>
                            <a:srgbClr val="1F2937"/>
                          </a:solidFill>
                          <a:latin typeface="Carlito" pitchFamily="34" charset="0"/>
                          <a:ea typeface="Carlito" pitchFamily="34" charset="-122"/>
                          <a:cs typeface="Carlito" pitchFamily="34" charset="-120"/>
                        </a:rPr>
                        <a:t>Unique listing ID</a:t>
                      </a:r>
                      <a:endParaRPr lang="en-US" sz="1060" dirty="0">
                        <a:latin typeface="Carlito" charset="0"/>
                        <a:ea typeface="Carlito" charset="0"/>
                        <a:cs typeface="Carlito" charset="0"/>
                      </a:endParaRPr>
                    </a:p>
                  </a:txBody>
                  <a:tcPr marL="45720" marR="45720" marT="45720" marB="45720"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r>
              <a:tr h="438912">
                <a:tc>
                  <a:txBody>
                    <a:bodyPr/>
                    <a:lstStyle/>
                    <a:p>
                      <a:pPr indent="0" marL="0">
                        <a:buNone/>
                      </a:pPr>
                      <a:r>
                        <a:rPr lang="en-US" sz="1060" dirty="0">
                          <a:solidFill>
                            <a:srgbClr val="1F2937"/>
                          </a:solidFill>
                          <a:latin typeface="Carlito" pitchFamily="34" charset="0"/>
                          <a:ea typeface="Carlito" pitchFamily="34" charset="-122"/>
                          <a:cs typeface="Carlito" pitchFamily="34" charset="-120"/>
                        </a:rPr>
                        <a:t>PROPERTY</a:t>
                      </a:r>
                      <a:endParaRPr lang="en-US" sz="1060" dirty="0">
                        <a:latin typeface="Carlito" charset="0"/>
                        <a:ea typeface="Carlito" charset="0"/>
                        <a:cs typeface="Carlito" charset="0"/>
                      </a:endParaRPr>
                    </a:p>
                  </a:txBody>
                  <a:tcPr marL="45720" marR="45720" marT="45720" marB="45720"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1060" dirty="0">
                          <a:solidFill>
                            <a:srgbClr val="1F2937"/>
                          </a:solidFill>
                          <a:latin typeface="Carlito" pitchFamily="34" charset="0"/>
                          <a:ea typeface="Carlito" pitchFamily="34" charset="-122"/>
                          <a:cs typeface="Carlito" pitchFamily="34" charset="-120"/>
                        </a:rPr>
                        <a:t>address</a:t>
                      </a:r>
                      <a:endParaRPr lang="en-US" sz="1060" dirty="0">
                        <a:latin typeface="Carlito" charset="0"/>
                        <a:ea typeface="Carlito" charset="0"/>
                        <a:cs typeface="Carlito" charset="0"/>
                      </a:endParaRPr>
                    </a:p>
                  </a:txBody>
                  <a:tcPr marL="45720" marR="45720" marT="45720" marB="45720"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1060" dirty="0">
                          <a:solidFill>
                            <a:srgbClr val="1F2937"/>
                          </a:solidFill>
                          <a:latin typeface="Carlito" pitchFamily="34" charset="0"/>
                          <a:ea typeface="Carlito" pitchFamily="34" charset="-122"/>
                          <a:cs typeface="Carlito" pitchFamily="34" charset="-120"/>
                        </a:rPr>
                        <a:t>TEXT</a:t>
                      </a:r>
                      <a:endParaRPr lang="en-US" sz="1060" dirty="0">
                        <a:latin typeface="Carlito" charset="0"/>
                        <a:ea typeface="Carlito" charset="0"/>
                        <a:cs typeface="Carlito" charset="0"/>
                      </a:endParaRPr>
                    </a:p>
                  </a:txBody>
                  <a:tcPr marL="45720" marR="45720" marT="45720" marB="45720"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1060" dirty="0">
                          <a:solidFill>
                            <a:srgbClr val="1F2937"/>
                          </a:solidFill>
                          <a:latin typeface="Carlito" pitchFamily="34" charset="0"/>
                          <a:ea typeface="Carlito" pitchFamily="34" charset="-122"/>
                          <a:cs typeface="Carlito" pitchFamily="34" charset="-120"/>
                        </a:rPr>
                        <a:t>NOT NULL • UNIQUE</a:t>
                      </a:r>
                      <a:endParaRPr lang="en-US" sz="1060" dirty="0">
                        <a:latin typeface="Carlito" charset="0"/>
                        <a:ea typeface="Carlito" charset="0"/>
                        <a:cs typeface="Carlito" charset="0"/>
                      </a:endParaRPr>
                    </a:p>
                  </a:txBody>
                  <a:tcPr marL="45720" marR="45720" marT="45720" marB="45720"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1060" dirty="0">
                          <a:solidFill>
                            <a:srgbClr val="1F2937"/>
                          </a:solidFill>
                          <a:latin typeface="Carlito" pitchFamily="34" charset="0"/>
                          <a:ea typeface="Carlito" pitchFamily="34" charset="-122"/>
                          <a:cs typeface="Carlito" pitchFamily="34" charset="-120"/>
                        </a:rPr>
                        <a:t>Property address</a:t>
                      </a:r>
                      <a:endParaRPr lang="en-US" sz="1060" dirty="0">
                        <a:latin typeface="Carlito" charset="0"/>
                        <a:ea typeface="Carlito" charset="0"/>
                        <a:cs typeface="Carlito" charset="0"/>
                      </a:endParaRPr>
                    </a:p>
                  </a:txBody>
                  <a:tcPr marL="45720" marR="45720" marT="45720" marB="45720"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r>
              <a:tr h="438912">
                <a:tc>
                  <a:txBody>
                    <a:bodyPr/>
                    <a:lstStyle/>
                    <a:p>
                      <a:pPr indent="0" marL="0">
                        <a:buNone/>
                      </a:pPr>
                      <a:r>
                        <a:rPr lang="en-US" sz="1060" dirty="0">
                          <a:solidFill>
                            <a:srgbClr val="1F2937"/>
                          </a:solidFill>
                          <a:latin typeface="Carlito" pitchFamily="34" charset="0"/>
                          <a:ea typeface="Carlito" pitchFamily="34" charset="-122"/>
                          <a:cs typeface="Carlito" pitchFamily="34" charset="-120"/>
                        </a:rPr>
                        <a:t>PROPERTY</a:t>
                      </a:r>
                      <a:endParaRPr lang="en-US" sz="1060" dirty="0">
                        <a:latin typeface="Carlito" charset="0"/>
                        <a:ea typeface="Carlito" charset="0"/>
                        <a:cs typeface="Carlito" charset="0"/>
                      </a:endParaRPr>
                    </a:p>
                  </a:txBody>
                  <a:tcPr marL="45720" marR="45720" marT="45720" marB="45720"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1060" dirty="0">
                          <a:solidFill>
                            <a:srgbClr val="1F2937"/>
                          </a:solidFill>
                          <a:latin typeface="Carlito" pitchFamily="34" charset="0"/>
                          <a:ea typeface="Carlito" pitchFamily="34" charset="-122"/>
                          <a:cs typeface="Carlito" pitchFamily="34" charset="-120"/>
                        </a:rPr>
                        <a:t>price</a:t>
                      </a:r>
                      <a:endParaRPr lang="en-US" sz="1060" dirty="0">
                        <a:latin typeface="Carlito" charset="0"/>
                        <a:ea typeface="Carlito" charset="0"/>
                        <a:cs typeface="Carlito" charset="0"/>
                      </a:endParaRPr>
                    </a:p>
                  </a:txBody>
                  <a:tcPr marL="45720" marR="45720" marT="45720" marB="45720"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1060" dirty="0">
                          <a:solidFill>
                            <a:srgbClr val="1F2937"/>
                          </a:solidFill>
                          <a:latin typeface="Carlito" pitchFamily="34" charset="0"/>
                          <a:ea typeface="Carlito" pitchFamily="34" charset="-122"/>
                          <a:cs typeface="Carlito" pitchFamily="34" charset="-120"/>
                        </a:rPr>
                        <a:t>INTEGER</a:t>
                      </a:r>
                      <a:endParaRPr lang="en-US" sz="1060" dirty="0">
                        <a:latin typeface="Carlito" charset="0"/>
                        <a:ea typeface="Carlito" charset="0"/>
                        <a:cs typeface="Carlito" charset="0"/>
                      </a:endParaRPr>
                    </a:p>
                  </a:txBody>
                  <a:tcPr marL="45720" marR="45720" marT="45720" marB="45720"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1060" dirty="0">
                          <a:solidFill>
                            <a:srgbClr val="1F2937"/>
                          </a:solidFill>
                          <a:latin typeface="Carlito" pitchFamily="34" charset="0"/>
                          <a:ea typeface="Carlito" pitchFamily="34" charset="-122"/>
                          <a:cs typeface="Carlito" pitchFamily="34" charset="-120"/>
                        </a:rPr>
                        <a:t>NOT NULL • CHECK &gt; 0</a:t>
                      </a:r>
                      <a:endParaRPr lang="en-US" sz="1060" dirty="0">
                        <a:latin typeface="Carlito" charset="0"/>
                        <a:ea typeface="Carlito" charset="0"/>
                        <a:cs typeface="Carlito" charset="0"/>
                      </a:endParaRPr>
                    </a:p>
                  </a:txBody>
                  <a:tcPr marL="45720" marR="45720" marT="45720" marB="45720"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1060" dirty="0">
                          <a:solidFill>
                            <a:srgbClr val="1F2937"/>
                          </a:solidFill>
                          <a:latin typeface="Carlito" pitchFamily="34" charset="0"/>
                          <a:ea typeface="Carlito" pitchFamily="34" charset="-122"/>
                          <a:cs typeface="Carlito" pitchFamily="34" charset="-120"/>
                        </a:rPr>
                        <a:t>Listing price (NZD)</a:t>
                      </a:r>
                      <a:endParaRPr lang="en-US" sz="1060" dirty="0">
                        <a:latin typeface="Carlito" charset="0"/>
                        <a:ea typeface="Carlito" charset="0"/>
                        <a:cs typeface="Carlito" charset="0"/>
                      </a:endParaRPr>
                    </a:p>
                  </a:txBody>
                  <a:tcPr marL="45720" marR="45720" marT="45720" marB="45720"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r>
              <a:tr h="438912">
                <a:tc>
                  <a:txBody>
                    <a:bodyPr/>
                    <a:lstStyle/>
                    <a:p>
                      <a:pPr indent="0" marL="0">
                        <a:buNone/>
                      </a:pPr>
                      <a:r>
                        <a:rPr lang="en-US" sz="1060" dirty="0">
                          <a:solidFill>
                            <a:srgbClr val="1F2937"/>
                          </a:solidFill>
                          <a:latin typeface="Carlito" pitchFamily="34" charset="0"/>
                          <a:ea typeface="Carlito" pitchFamily="34" charset="-122"/>
                          <a:cs typeface="Carlito" pitchFamily="34" charset="-120"/>
                        </a:rPr>
                        <a:t>PROPERTY</a:t>
                      </a:r>
                      <a:endParaRPr lang="en-US" sz="1060" dirty="0">
                        <a:latin typeface="Carlito" charset="0"/>
                        <a:ea typeface="Carlito" charset="0"/>
                        <a:cs typeface="Carlito" charset="0"/>
                      </a:endParaRPr>
                    </a:p>
                  </a:txBody>
                  <a:tcPr marL="45720" marR="45720" marT="45720" marB="45720"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1060" dirty="0">
                          <a:solidFill>
                            <a:srgbClr val="1F2937"/>
                          </a:solidFill>
                          <a:latin typeface="Carlito" pitchFamily="34" charset="0"/>
                          <a:ea typeface="Carlito" pitchFamily="34" charset="-122"/>
                          <a:cs typeface="Carlito" pitchFamily="34" charset="-120"/>
                        </a:rPr>
                        <a:t>status</a:t>
                      </a:r>
                      <a:endParaRPr lang="en-US" sz="1060" dirty="0">
                        <a:latin typeface="Carlito" charset="0"/>
                        <a:ea typeface="Carlito" charset="0"/>
                        <a:cs typeface="Carlito" charset="0"/>
                      </a:endParaRPr>
                    </a:p>
                  </a:txBody>
                  <a:tcPr marL="45720" marR="45720" marT="45720" marB="45720"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1060" dirty="0">
                          <a:solidFill>
                            <a:srgbClr val="1F2937"/>
                          </a:solidFill>
                          <a:latin typeface="Carlito" pitchFamily="34" charset="0"/>
                          <a:ea typeface="Carlito" pitchFamily="34" charset="-122"/>
                          <a:cs typeface="Carlito" pitchFamily="34" charset="-120"/>
                        </a:rPr>
                        <a:t>TEXT</a:t>
                      </a:r>
                      <a:endParaRPr lang="en-US" sz="1060" dirty="0">
                        <a:latin typeface="Carlito" charset="0"/>
                        <a:ea typeface="Carlito" charset="0"/>
                        <a:cs typeface="Carlito" charset="0"/>
                      </a:endParaRPr>
                    </a:p>
                  </a:txBody>
                  <a:tcPr marL="45720" marR="45720" marT="45720" marB="45720"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1060" dirty="0">
                          <a:solidFill>
                            <a:srgbClr val="1F2937"/>
                          </a:solidFill>
                          <a:latin typeface="Carlito" pitchFamily="34" charset="0"/>
                          <a:ea typeface="Carlito" pitchFamily="34" charset="-122"/>
                          <a:cs typeface="Carlito" pitchFamily="34" charset="-120"/>
                        </a:rPr>
                        <a:t>DEFAULT 'Listed'</a:t>
                      </a:r>
                      <a:endParaRPr lang="en-US" sz="1060" dirty="0">
                        <a:latin typeface="Carlito" charset="0"/>
                        <a:ea typeface="Carlito" charset="0"/>
                        <a:cs typeface="Carlito" charset="0"/>
                      </a:endParaRPr>
                    </a:p>
                  </a:txBody>
                  <a:tcPr marL="45720" marR="45720" marT="45720" marB="45720"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1060" dirty="0">
                          <a:solidFill>
                            <a:srgbClr val="1F2937"/>
                          </a:solidFill>
                          <a:latin typeface="Carlito" pitchFamily="34" charset="0"/>
                          <a:ea typeface="Carlito" pitchFamily="34" charset="-122"/>
                          <a:cs typeface="Carlito" pitchFamily="34" charset="-120"/>
                        </a:rPr>
                        <a:t>Listed / Under Offer / Sold</a:t>
                      </a:r>
                      <a:endParaRPr lang="en-US" sz="1060" dirty="0">
                        <a:latin typeface="Carlito" charset="0"/>
                        <a:ea typeface="Carlito" charset="0"/>
                        <a:cs typeface="Carlito" charset="0"/>
                      </a:endParaRPr>
                    </a:p>
                  </a:txBody>
                  <a:tcPr marL="45720" marR="45720" marT="45720" marB="45720"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r>
              <a:tr h="438912">
                <a:tc>
                  <a:txBody>
                    <a:bodyPr/>
                    <a:lstStyle/>
                    <a:p>
                      <a:pPr indent="0" marL="0">
                        <a:buNone/>
                      </a:pPr>
                      <a:r>
                        <a:rPr lang="en-US" sz="1060" dirty="0">
                          <a:solidFill>
                            <a:srgbClr val="1F2937"/>
                          </a:solidFill>
                          <a:latin typeface="Carlito" pitchFamily="34" charset="0"/>
                          <a:ea typeface="Carlito" pitchFamily="34" charset="-122"/>
                          <a:cs typeface="Carlito" pitchFamily="34" charset="-120"/>
                        </a:rPr>
                        <a:t>PROPERTY</a:t>
                      </a:r>
                      <a:endParaRPr lang="en-US" sz="1060" dirty="0">
                        <a:latin typeface="Carlito" charset="0"/>
                        <a:ea typeface="Carlito" charset="0"/>
                        <a:cs typeface="Carlito" charset="0"/>
                      </a:endParaRPr>
                    </a:p>
                  </a:txBody>
                  <a:tcPr marL="45720" marR="45720" marT="45720" marB="45720"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1060" dirty="0">
                          <a:solidFill>
                            <a:srgbClr val="1F2937"/>
                          </a:solidFill>
                          <a:latin typeface="Carlito" pitchFamily="34" charset="0"/>
                          <a:ea typeface="Carlito" pitchFamily="34" charset="-122"/>
                          <a:cs typeface="Carlito" pitchFamily="34" charset="-120"/>
                        </a:rPr>
                        <a:t>vendor_id</a:t>
                      </a:r>
                      <a:endParaRPr lang="en-US" sz="1060" dirty="0">
                        <a:latin typeface="Carlito" charset="0"/>
                        <a:ea typeface="Carlito" charset="0"/>
                        <a:cs typeface="Carlito" charset="0"/>
                      </a:endParaRPr>
                    </a:p>
                  </a:txBody>
                  <a:tcPr marL="45720" marR="45720" marT="45720" marB="45720"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1060" dirty="0">
                          <a:solidFill>
                            <a:srgbClr val="1F2937"/>
                          </a:solidFill>
                          <a:latin typeface="Carlito" pitchFamily="34" charset="0"/>
                          <a:ea typeface="Carlito" pitchFamily="34" charset="-122"/>
                          <a:cs typeface="Carlito" pitchFamily="34" charset="-120"/>
                        </a:rPr>
                        <a:t>INTEGER</a:t>
                      </a:r>
                      <a:endParaRPr lang="en-US" sz="1060" dirty="0">
                        <a:latin typeface="Carlito" charset="0"/>
                        <a:ea typeface="Carlito" charset="0"/>
                        <a:cs typeface="Carlito" charset="0"/>
                      </a:endParaRPr>
                    </a:p>
                  </a:txBody>
                  <a:tcPr marL="45720" marR="45720" marT="45720" marB="45720"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1060" dirty="0">
                          <a:solidFill>
                            <a:srgbClr val="1F2937"/>
                          </a:solidFill>
                          <a:latin typeface="Carlito" pitchFamily="34" charset="0"/>
                          <a:ea typeface="Carlito" pitchFamily="34" charset="-122"/>
                          <a:cs typeface="Carlito" pitchFamily="34" charset="-120"/>
                        </a:rPr>
                        <a:t>FK → vendor</a:t>
                      </a:r>
                      <a:endParaRPr lang="en-US" sz="1060" dirty="0">
                        <a:latin typeface="Carlito" charset="0"/>
                        <a:ea typeface="Carlito" charset="0"/>
                        <a:cs typeface="Carlito" charset="0"/>
                      </a:endParaRPr>
                    </a:p>
                  </a:txBody>
                  <a:tcPr marL="45720" marR="45720" marT="45720" marB="45720"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1060" dirty="0">
                          <a:solidFill>
                            <a:srgbClr val="1F2937"/>
                          </a:solidFill>
                          <a:latin typeface="Carlito" pitchFamily="34" charset="0"/>
                          <a:ea typeface="Carlito" pitchFamily="34" charset="-122"/>
                          <a:cs typeface="Carlito" pitchFamily="34" charset="-120"/>
                        </a:rPr>
                        <a:t>Links property to seller</a:t>
                      </a:r>
                      <a:endParaRPr lang="en-US" sz="1060" dirty="0">
                        <a:latin typeface="Carlito" charset="0"/>
                        <a:ea typeface="Carlito" charset="0"/>
                        <a:cs typeface="Carlito" charset="0"/>
                      </a:endParaRPr>
                    </a:p>
                  </a:txBody>
                  <a:tcPr marL="45720" marR="45720" marT="45720" marB="45720"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r>
              <a:tr h="438912">
                <a:tc>
                  <a:txBody>
                    <a:bodyPr/>
                    <a:lstStyle/>
                    <a:p>
                      <a:pPr indent="0" marL="0">
                        <a:buNone/>
                      </a:pPr>
                      <a:r>
                        <a:rPr lang="en-US" sz="1060" dirty="0">
                          <a:solidFill>
                            <a:srgbClr val="1F2937"/>
                          </a:solidFill>
                          <a:latin typeface="Carlito" pitchFamily="34" charset="0"/>
                          <a:ea typeface="Carlito" pitchFamily="34" charset="-122"/>
                          <a:cs typeface="Carlito" pitchFamily="34" charset="-120"/>
                        </a:rPr>
                        <a:t>PROPERTY</a:t>
                      </a:r>
                      <a:endParaRPr lang="en-US" sz="1060" dirty="0">
                        <a:latin typeface="Carlito" charset="0"/>
                        <a:ea typeface="Carlito" charset="0"/>
                        <a:cs typeface="Carlito" charset="0"/>
                      </a:endParaRPr>
                    </a:p>
                  </a:txBody>
                  <a:tcPr marL="45720" marR="45720" marT="45720" marB="45720"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1060" dirty="0">
                          <a:solidFill>
                            <a:srgbClr val="1F2937"/>
                          </a:solidFill>
                          <a:latin typeface="Carlito" pitchFamily="34" charset="0"/>
                          <a:ea typeface="Carlito" pitchFamily="34" charset="-122"/>
                          <a:cs typeface="Carlito" pitchFamily="34" charset="-120"/>
                        </a:rPr>
                        <a:t>agent_id</a:t>
                      </a:r>
                      <a:endParaRPr lang="en-US" sz="1060" dirty="0">
                        <a:latin typeface="Carlito" charset="0"/>
                        <a:ea typeface="Carlito" charset="0"/>
                        <a:cs typeface="Carlito" charset="0"/>
                      </a:endParaRPr>
                    </a:p>
                  </a:txBody>
                  <a:tcPr marL="45720" marR="45720" marT="45720" marB="45720"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1060" dirty="0">
                          <a:solidFill>
                            <a:srgbClr val="1F2937"/>
                          </a:solidFill>
                          <a:latin typeface="Carlito" pitchFamily="34" charset="0"/>
                          <a:ea typeface="Carlito" pitchFamily="34" charset="-122"/>
                          <a:cs typeface="Carlito" pitchFamily="34" charset="-120"/>
                        </a:rPr>
                        <a:t>INTEGER</a:t>
                      </a:r>
                      <a:endParaRPr lang="en-US" sz="1060" dirty="0">
                        <a:latin typeface="Carlito" charset="0"/>
                        <a:ea typeface="Carlito" charset="0"/>
                        <a:cs typeface="Carlito" charset="0"/>
                      </a:endParaRPr>
                    </a:p>
                  </a:txBody>
                  <a:tcPr marL="45720" marR="45720" marT="45720" marB="45720"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1060" dirty="0">
                          <a:solidFill>
                            <a:srgbClr val="1F2937"/>
                          </a:solidFill>
                          <a:latin typeface="Carlito" pitchFamily="34" charset="0"/>
                          <a:ea typeface="Carlito" pitchFamily="34" charset="-122"/>
                          <a:cs typeface="Carlito" pitchFamily="34" charset="-120"/>
                        </a:rPr>
                        <a:t>FK → agent</a:t>
                      </a:r>
                      <a:endParaRPr lang="en-US" sz="1060" dirty="0">
                        <a:latin typeface="Carlito" charset="0"/>
                        <a:ea typeface="Carlito" charset="0"/>
                        <a:cs typeface="Carlito" charset="0"/>
                      </a:endParaRPr>
                    </a:p>
                  </a:txBody>
                  <a:tcPr marL="45720" marR="45720" marT="45720" marB="45720"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1060" dirty="0">
                          <a:solidFill>
                            <a:srgbClr val="1F2937"/>
                          </a:solidFill>
                          <a:latin typeface="Carlito" pitchFamily="34" charset="0"/>
                          <a:ea typeface="Carlito" pitchFamily="34" charset="-122"/>
                          <a:cs typeface="Carlito" pitchFamily="34" charset="-120"/>
                        </a:rPr>
                        <a:t>Links property to agent</a:t>
                      </a:r>
                      <a:endParaRPr lang="en-US" sz="1060" dirty="0">
                        <a:latin typeface="Carlito" charset="0"/>
                        <a:ea typeface="Carlito" charset="0"/>
                        <a:cs typeface="Carlito" charset="0"/>
                      </a:endParaRPr>
                    </a:p>
                  </a:txBody>
                  <a:tcPr marL="45720" marR="45720" marT="45720" marB="45720"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r>
            </a:tbl>
          </a:graphicData>
        </a:graphic>
      </p:graphicFrame>
      <p:sp>
        <p:nvSpPr>
          <p:cNvPr id="7" name="Shape 4"/>
          <p:cNvSpPr/>
          <p:nvPr/>
        </p:nvSpPr>
        <p:spPr>
          <a:xfrm>
            <a:off x="658368" y="1417320"/>
            <a:ext cx="10881360" cy="438912"/>
          </a:xfrm>
          <a:prstGeom prst="rect">
            <a:avLst/>
          </a:prstGeom>
          <a:solidFill>
            <a:srgbClr val="4B7A6A"/>
          </a:solidFill>
          <a:ln w="12700">
            <a:solidFill>
              <a:srgbClr val="4B7A6A"/>
            </a:solidFill>
            <a:prstDash val="solid"/>
          </a:ln>
        </p:spPr>
      </p:sp>
      <p:sp>
        <p:nvSpPr>
          <p:cNvPr id="8" name="Text 5"/>
          <p:cNvSpPr/>
          <p:nvPr/>
        </p:nvSpPr>
        <p:spPr>
          <a:xfrm>
            <a:off x="731520" y="1563624"/>
            <a:ext cx="1005840" cy="146304"/>
          </a:xfrm>
          <a:prstGeom prst="rect">
            <a:avLst/>
          </a:prstGeom>
          <a:noFill/>
          <a:ln/>
        </p:spPr>
        <p:txBody>
          <a:bodyPr wrap="square" lIns="0" tIns="0" rIns="0" bIns="0" rtlCol="0" anchor="ctr"/>
          <a:lstStyle/>
          <a:p>
            <a:pPr indent="0" marL="0">
              <a:buNone/>
            </a:pPr>
            <a:r>
              <a:rPr lang="en-US" sz="1070" b="1" dirty="0">
                <a:solidFill>
                  <a:srgbClr val="FFFFFF"/>
                </a:solidFill>
              </a:rPr>
              <a:t>Entity</a:t>
            </a:r>
            <a:endParaRPr lang="en-US" sz="1070" dirty="0"/>
          </a:p>
        </p:txBody>
      </p:sp>
      <p:sp>
        <p:nvSpPr>
          <p:cNvPr id="9" name="Text 6"/>
          <p:cNvSpPr/>
          <p:nvPr/>
        </p:nvSpPr>
        <p:spPr>
          <a:xfrm>
            <a:off x="1874520" y="1563624"/>
            <a:ext cx="1371600" cy="146304"/>
          </a:xfrm>
          <a:prstGeom prst="rect">
            <a:avLst/>
          </a:prstGeom>
          <a:noFill/>
          <a:ln/>
        </p:spPr>
        <p:txBody>
          <a:bodyPr wrap="square" lIns="0" tIns="0" rIns="0" bIns="0" rtlCol="0" anchor="ctr"/>
          <a:lstStyle/>
          <a:p>
            <a:pPr indent="0" marL="0">
              <a:buNone/>
            </a:pPr>
            <a:r>
              <a:rPr lang="en-US" sz="1070" b="1" dirty="0">
                <a:solidFill>
                  <a:srgbClr val="FFFFFF"/>
                </a:solidFill>
              </a:rPr>
              <a:t>Field</a:t>
            </a:r>
            <a:endParaRPr lang="en-US" sz="1070" dirty="0"/>
          </a:p>
        </p:txBody>
      </p:sp>
      <p:sp>
        <p:nvSpPr>
          <p:cNvPr id="10" name="Text 7"/>
          <p:cNvSpPr/>
          <p:nvPr/>
        </p:nvSpPr>
        <p:spPr>
          <a:xfrm>
            <a:off x="3447288" y="1563624"/>
            <a:ext cx="1097280" cy="146304"/>
          </a:xfrm>
          <a:prstGeom prst="rect">
            <a:avLst/>
          </a:prstGeom>
          <a:noFill/>
          <a:ln/>
        </p:spPr>
        <p:txBody>
          <a:bodyPr wrap="square" lIns="0" tIns="0" rIns="0" bIns="0" rtlCol="0" anchor="ctr"/>
          <a:lstStyle/>
          <a:p>
            <a:pPr indent="0" marL="0">
              <a:buNone/>
            </a:pPr>
            <a:r>
              <a:rPr lang="en-US" sz="1070" b="1" dirty="0">
                <a:solidFill>
                  <a:srgbClr val="FFFFFF"/>
                </a:solidFill>
              </a:rPr>
              <a:t>Type</a:t>
            </a:r>
            <a:endParaRPr lang="en-US" sz="1070" dirty="0"/>
          </a:p>
        </p:txBody>
      </p:sp>
      <p:sp>
        <p:nvSpPr>
          <p:cNvPr id="11" name="Text 8"/>
          <p:cNvSpPr/>
          <p:nvPr/>
        </p:nvSpPr>
        <p:spPr>
          <a:xfrm>
            <a:off x="4727448" y="1563624"/>
            <a:ext cx="2377440" cy="146304"/>
          </a:xfrm>
          <a:prstGeom prst="rect">
            <a:avLst/>
          </a:prstGeom>
          <a:noFill/>
          <a:ln/>
        </p:spPr>
        <p:txBody>
          <a:bodyPr wrap="square" lIns="0" tIns="0" rIns="0" bIns="0" rtlCol="0" anchor="ctr"/>
          <a:lstStyle/>
          <a:p>
            <a:pPr indent="0" marL="0">
              <a:buNone/>
            </a:pPr>
            <a:r>
              <a:rPr lang="en-US" sz="1070" b="1" dirty="0">
                <a:solidFill>
                  <a:srgbClr val="FFFFFF"/>
                </a:solidFill>
              </a:rPr>
              <a:t>Key / Constraint</a:t>
            </a:r>
            <a:endParaRPr lang="en-US" sz="1070" dirty="0"/>
          </a:p>
        </p:txBody>
      </p:sp>
      <p:sp>
        <p:nvSpPr>
          <p:cNvPr id="12" name="Text 9"/>
          <p:cNvSpPr/>
          <p:nvPr/>
        </p:nvSpPr>
        <p:spPr>
          <a:xfrm>
            <a:off x="7379208" y="1563624"/>
            <a:ext cx="3566160" cy="146304"/>
          </a:xfrm>
          <a:prstGeom prst="rect">
            <a:avLst/>
          </a:prstGeom>
          <a:noFill/>
          <a:ln/>
        </p:spPr>
        <p:txBody>
          <a:bodyPr wrap="square" lIns="0" tIns="0" rIns="0" bIns="0" rtlCol="0" anchor="ctr"/>
          <a:lstStyle/>
          <a:p>
            <a:pPr indent="0" marL="0">
              <a:buNone/>
            </a:pPr>
            <a:r>
              <a:rPr lang="en-US" sz="1070" b="1" dirty="0">
                <a:solidFill>
                  <a:srgbClr val="FFFFFF"/>
                </a:solidFill>
              </a:rPr>
              <a:t>Purpose</a:t>
            </a:r>
            <a:endParaRPr lang="en-US" sz="1070" dirty="0"/>
          </a:p>
        </p:txBody>
      </p:sp>
      <p:sp>
        <p:nvSpPr>
          <p:cNvPr id="25" name="Slide Number Placeholder 0"/>
          <p:cNvSpPr>
            <a:spLocks noGrp="1"/>
          </p:cNvSpPr>
          <p:nvPr>
            <p:ph type="sldNum" sz="quarter" idx="4294967295"/>
          </p:nvPr>
        </p:nvSpPr>
        <p:spPr>
          <a:xfrm>
            <a:off x="11750040" y="649224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latin typeface="Carlito"/>
                <a:ea typeface="Carlito"/>
                <a:cs typeface="Carlito"/>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640080" y="411480"/>
            <a:ext cx="10698480" cy="438912"/>
          </a:xfrm>
          <a:prstGeom prst="rect">
            <a:avLst/>
          </a:prstGeom>
          <a:noFill/>
          <a:ln/>
        </p:spPr>
        <p:txBody>
          <a:bodyPr wrap="square" lIns="0" tIns="0" rIns="0" bIns="0" rtlCol="0" anchor="ctr"/>
          <a:lstStyle/>
          <a:p>
            <a:pPr indent="0" marL="0">
              <a:buNone/>
            </a:pPr>
            <a:r>
              <a:rPr lang="en-US" sz="2500" b="1" dirty="0">
                <a:solidFill>
                  <a:srgbClr val="163A45"/>
                </a:solidFill>
                <a:latin typeface="Carlito" pitchFamily="34" charset="0"/>
                <a:ea typeface="Carlito" pitchFamily="34" charset="-122"/>
                <a:cs typeface="Carlito" pitchFamily="34" charset="-120"/>
              </a:rPr>
              <a:t>Data Dictionary — Varish Makra</a:t>
            </a:r>
            <a:endParaRPr lang="en-US" sz="2500" dirty="0"/>
          </a:p>
        </p:txBody>
      </p:sp>
      <p:sp>
        <p:nvSpPr>
          <p:cNvPr id="3" name="Text 1"/>
          <p:cNvSpPr/>
          <p:nvPr/>
        </p:nvSpPr>
        <p:spPr>
          <a:xfrm>
            <a:off x="658368" y="877824"/>
            <a:ext cx="10789920" cy="310896"/>
          </a:xfrm>
          <a:prstGeom prst="rect">
            <a:avLst/>
          </a:prstGeom>
          <a:noFill/>
          <a:ln/>
        </p:spPr>
        <p:txBody>
          <a:bodyPr wrap="square" lIns="0" tIns="0" rIns="0" bIns="0" rtlCol="0" anchor="ctr"/>
          <a:lstStyle/>
          <a:p>
            <a:pPr indent="0" marL="0">
              <a:buNone/>
            </a:pPr>
            <a:r>
              <a:rPr lang="en-US" sz="1250" dirty="0">
                <a:solidFill>
                  <a:srgbClr val="6B7280"/>
                </a:solidFill>
                <a:latin typeface="Carlito" pitchFamily="34" charset="0"/>
                <a:ea typeface="Carlito" pitchFamily="34" charset="-122"/>
                <a:cs typeface="Carlito" pitchFamily="34" charset="-120"/>
              </a:rPr>
              <a:t>Viewing, Offer and Sale entities</a:t>
            </a:r>
            <a:endParaRPr lang="en-US" sz="1250" dirty="0"/>
          </a:p>
        </p:txBody>
      </p:sp>
      <p:sp>
        <p:nvSpPr>
          <p:cNvPr id="4" name="Shape 2"/>
          <p:cNvSpPr/>
          <p:nvPr/>
        </p:nvSpPr>
        <p:spPr>
          <a:xfrm>
            <a:off x="9674352" y="457200"/>
            <a:ext cx="1810512" cy="347472"/>
          </a:xfrm>
          <a:prstGeom prst="roundRect">
            <a:avLst>
              <a:gd name="adj" fmla="val 15789"/>
            </a:avLst>
          </a:prstGeom>
          <a:solidFill>
            <a:srgbClr val="EEE2CD"/>
          </a:solidFill>
          <a:ln w="12700">
            <a:solidFill>
              <a:srgbClr val="EEE2CD"/>
            </a:solidFill>
            <a:prstDash val="solid"/>
          </a:ln>
        </p:spPr>
      </p:sp>
      <p:sp>
        <p:nvSpPr>
          <p:cNvPr id="5" name="Text 3"/>
          <p:cNvSpPr/>
          <p:nvPr/>
        </p:nvSpPr>
        <p:spPr>
          <a:xfrm>
            <a:off x="9747504" y="548640"/>
            <a:ext cx="1664208" cy="137160"/>
          </a:xfrm>
          <a:prstGeom prst="rect">
            <a:avLst/>
          </a:prstGeom>
          <a:noFill/>
          <a:ln/>
        </p:spPr>
        <p:txBody>
          <a:bodyPr wrap="square" lIns="0" tIns="0" rIns="0" bIns="0" rtlCol="0" anchor="ctr"/>
          <a:lstStyle/>
          <a:p>
            <a:pPr algn="ctr" indent="0" marL="0">
              <a:buNone/>
            </a:pPr>
            <a:r>
              <a:rPr lang="en-US" sz="970" b="1" dirty="0">
                <a:solidFill>
                  <a:srgbClr val="163A45"/>
                </a:solidFill>
              </a:rPr>
              <a:t>Speaker: Varish</a:t>
            </a:r>
            <a:endParaRPr lang="en-US" sz="97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66928" y="1325880"/>
          <a:ext cx="11018520" cy="4800600"/>
        </p:xfrm>
        <a:graphic>
          <a:graphicData uri="http://schemas.openxmlformats.org/drawingml/2006/table">
            <a:tbl>
              <a:tblPr/>
              <a:tblGrid>
                <a:gridCol w="1234440"/>
                <a:gridCol w="1508760"/>
                <a:gridCol w="1234440"/>
                <a:gridCol w="2697480"/>
                <a:gridCol w="4343400"/>
              </a:tblGrid>
              <a:tr h="393192">
                <a:tc>
                  <a:txBody>
                    <a:bodyPr/>
                    <a:lstStyle/>
                    <a:p>
                      <a:pPr indent="0" marL="0">
                        <a:buNone/>
                      </a:pPr>
                      <a:r>
                        <a:rPr lang="en-US" sz="990" b="1" dirty="0">
                          <a:solidFill>
                            <a:srgbClr val="1F2937"/>
                          </a:solidFill>
                          <a:latin typeface="Carlito" pitchFamily="34" charset="0"/>
                          <a:ea typeface="Carlito" pitchFamily="34" charset="-122"/>
                          <a:cs typeface="Carlito" pitchFamily="34" charset="-120"/>
                        </a:rPr>
                        <a:t>Entity</a:t>
                      </a:r>
                      <a:endParaRPr lang="en-US" sz="990" dirty="0">
                        <a:latin typeface="Carlito" charset="0"/>
                        <a:ea typeface="Carlito" charset="0"/>
                        <a:cs typeface="Carlito" charset="0"/>
                      </a:endParaRPr>
                    </a:p>
                  </a:txBody>
                  <a:tcPr marL="36576" marR="36576" marT="36576" marB="36576"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990" b="1" dirty="0">
                          <a:solidFill>
                            <a:srgbClr val="1F2937"/>
                          </a:solidFill>
                          <a:latin typeface="Carlito" pitchFamily="34" charset="0"/>
                          <a:ea typeface="Carlito" pitchFamily="34" charset="-122"/>
                          <a:cs typeface="Carlito" pitchFamily="34" charset="-120"/>
                        </a:rPr>
                        <a:t>Field</a:t>
                      </a:r>
                      <a:endParaRPr lang="en-US" sz="990" dirty="0">
                        <a:latin typeface="Carlito" charset="0"/>
                        <a:ea typeface="Carlito" charset="0"/>
                        <a:cs typeface="Carlito" charset="0"/>
                      </a:endParaRPr>
                    </a:p>
                  </a:txBody>
                  <a:tcPr marL="36576" marR="36576" marT="36576" marB="36576"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990" b="1" dirty="0">
                          <a:solidFill>
                            <a:srgbClr val="1F2937"/>
                          </a:solidFill>
                          <a:latin typeface="Carlito" pitchFamily="34" charset="0"/>
                          <a:ea typeface="Carlito" pitchFamily="34" charset="-122"/>
                          <a:cs typeface="Carlito" pitchFamily="34" charset="-120"/>
                        </a:rPr>
                        <a:t>Type</a:t>
                      </a:r>
                      <a:endParaRPr lang="en-US" sz="990" dirty="0">
                        <a:latin typeface="Carlito" charset="0"/>
                        <a:ea typeface="Carlito" charset="0"/>
                        <a:cs typeface="Carlito" charset="0"/>
                      </a:endParaRPr>
                    </a:p>
                  </a:txBody>
                  <a:tcPr marL="36576" marR="36576" marT="36576" marB="36576"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990" b="1" dirty="0">
                          <a:solidFill>
                            <a:srgbClr val="1F2937"/>
                          </a:solidFill>
                          <a:latin typeface="Carlito" pitchFamily="34" charset="0"/>
                          <a:ea typeface="Carlito" pitchFamily="34" charset="-122"/>
                          <a:cs typeface="Carlito" pitchFamily="34" charset="-120"/>
                        </a:rPr>
                        <a:t>Key / Constraint</a:t>
                      </a:r>
                      <a:endParaRPr lang="en-US" sz="990" dirty="0">
                        <a:latin typeface="Carlito" charset="0"/>
                        <a:ea typeface="Carlito" charset="0"/>
                        <a:cs typeface="Carlito" charset="0"/>
                      </a:endParaRPr>
                    </a:p>
                  </a:txBody>
                  <a:tcPr marL="36576" marR="36576" marT="36576" marB="36576"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990" b="1" dirty="0">
                          <a:solidFill>
                            <a:srgbClr val="1F2937"/>
                          </a:solidFill>
                          <a:latin typeface="Carlito" pitchFamily="34" charset="0"/>
                          <a:ea typeface="Carlito" pitchFamily="34" charset="-122"/>
                          <a:cs typeface="Carlito" pitchFamily="34" charset="-120"/>
                        </a:rPr>
                        <a:t>Purpose</a:t>
                      </a:r>
                      <a:endParaRPr lang="en-US" sz="990" dirty="0">
                        <a:latin typeface="Carlito" charset="0"/>
                        <a:ea typeface="Carlito" charset="0"/>
                        <a:cs typeface="Carlito" charset="0"/>
                      </a:endParaRPr>
                    </a:p>
                  </a:txBody>
                  <a:tcPr marL="36576" marR="36576" marT="36576" marB="36576"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r>
              <a:tr h="393192">
                <a:tc>
                  <a:txBody>
                    <a:bodyPr/>
                    <a:lstStyle/>
                    <a:p>
                      <a:pPr indent="0" marL="0">
                        <a:buNone/>
                      </a:pPr>
                      <a:r>
                        <a:rPr lang="en-US" sz="990" dirty="0">
                          <a:solidFill>
                            <a:srgbClr val="1F2937"/>
                          </a:solidFill>
                          <a:latin typeface="Carlito" pitchFamily="34" charset="0"/>
                          <a:ea typeface="Carlito" pitchFamily="34" charset="-122"/>
                          <a:cs typeface="Carlito" pitchFamily="34" charset="-120"/>
                        </a:rPr>
                        <a:t>VIEWING</a:t>
                      </a:r>
                      <a:endParaRPr lang="en-US" sz="990" dirty="0">
                        <a:latin typeface="Carlito" charset="0"/>
                        <a:ea typeface="Carlito" charset="0"/>
                        <a:cs typeface="Carlito" charset="0"/>
                      </a:endParaRPr>
                    </a:p>
                  </a:txBody>
                  <a:tcPr marL="36576" marR="36576" marT="36576" marB="36576"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990" dirty="0">
                          <a:solidFill>
                            <a:srgbClr val="1F2937"/>
                          </a:solidFill>
                          <a:latin typeface="Carlito" pitchFamily="34" charset="0"/>
                          <a:ea typeface="Carlito" pitchFamily="34" charset="-122"/>
                          <a:cs typeface="Carlito" pitchFamily="34" charset="-120"/>
                        </a:rPr>
                        <a:t>viewing_id</a:t>
                      </a:r>
                      <a:endParaRPr lang="en-US" sz="990" dirty="0">
                        <a:latin typeface="Carlito" charset="0"/>
                        <a:ea typeface="Carlito" charset="0"/>
                        <a:cs typeface="Carlito" charset="0"/>
                      </a:endParaRPr>
                    </a:p>
                  </a:txBody>
                  <a:tcPr marL="36576" marR="36576" marT="36576" marB="36576"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990" dirty="0">
                          <a:solidFill>
                            <a:srgbClr val="1F2937"/>
                          </a:solidFill>
                          <a:latin typeface="Carlito" pitchFamily="34" charset="0"/>
                          <a:ea typeface="Carlito" pitchFamily="34" charset="-122"/>
                          <a:cs typeface="Carlito" pitchFamily="34" charset="-120"/>
                        </a:rPr>
                        <a:t>INTEGER</a:t>
                      </a:r>
                      <a:endParaRPr lang="en-US" sz="990" dirty="0">
                        <a:latin typeface="Carlito" charset="0"/>
                        <a:ea typeface="Carlito" charset="0"/>
                        <a:cs typeface="Carlito" charset="0"/>
                      </a:endParaRPr>
                    </a:p>
                  </a:txBody>
                  <a:tcPr marL="36576" marR="36576" marT="36576" marB="36576"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990" dirty="0">
                          <a:solidFill>
                            <a:srgbClr val="1F2937"/>
                          </a:solidFill>
                          <a:latin typeface="Carlito" pitchFamily="34" charset="0"/>
                          <a:ea typeface="Carlito" pitchFamily="34" charset="-122"/>
                          <a:cs typeface="Carlito" pitchFamily="34" charset="-120"/>
                        </a:rPr>
                        <a:t>PK • AUTOINCREMENT</a:t>
                      </a:r>
                      <a:endParaRPr lang="en-US" sz="990" dirty="0">
                        <a:latin typeface="Carlito" charset="0"/>
                        <a:ea typeface="Carlito" charset="0"/>
                        <a:cs typeface="Carlito" charset="0"/>
                      </a:endParaRPr>
                    </a:p>
                  </a:txBody>
                  <a:tcPr marL="36576" marR="36576" marT="36576" marB="36576"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990" dirty="0">
                          <a:solidFill>
                            <a:srgbClr val="1F2937"/>
                          </a:solidFill>
                          <a:latin typeface="Carlito" pitchFamily="34" charset="0"/>
                          <a:ea typeface="Carlito" pitchFamily="34" charset="-122"/>
                          <a:cs typeface="Carlito" pitchFamily="34" charset="-120"/>
                        </a:rPr>
                        <a:t>Viewing record ID</a:t>
                      </a:r>
                      <a:endParaRPr lang="en-US" sz="990" dirty="0">
                        <a:latin typeface="Carlito" charset="0"/>
                        <a:ea typeface="Carlito" charset="0"/>
                        <a:cs typeface="Carlito" charset="0"/>
                      </a:endParaRPr>
                    </a:p>
                  </a:txBody>
                  <a:tcPr marL="36576" marR="36576" marT="36576" marB="36576"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r>
              <a:tr h="393192">
                <a:tc>
                  <a:txBody>
                    <a:bodyPr/>
                    <a:lstStyle/>
                    <a:p>
                      <a:pPr indent="0" marL="0">
                        <a:buNone/>
                      </a:pPr>
                      <a:r>
                        <a:rPr lang="en-US" sz="990" dirty="0">
                          <a:solidFill>
                            <a:srgbClr val="1F2937"/>
                          </a:solidFill>
                          <a:latin typeface="Carlito" pitchFamily="34" charset="0"/>
                          <a:ea typeface="Carlito" pitchFamily="34" charset="-122"/>
                          <a:cs typeface="Carlito" pitchFamily="34" charset="-120"/>
                        </a:rPr>
                        <a:t>VIEWING</a:t>
                      </a:r>
                      <a:endParaRPr lang="en-US" sz="990" dirty="0">
                        <a:latin typeface="Carlito" charset="0"/>
                        <a:ea typeface="Carlito" charset="0"/>
                        <a:cs typeface="Carlito" charset="0"/>
                      </a:endParaRPr>
                    </a:p>
                  </a:txBody>
                  <a:tcPr marL="36576" marR="36576" marT="36576" marB="36576"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990" dirty="0">
                          <a:solidFill>
                            <a:srgbClr val="1F2937"/>
                          </a:solidFill>
                          <a:latin typeface="Carlito" pitchFamily="34" charset="0"/>
                          <a:ea typeface="Carlito" pitchFamily="34" charset="-122"/>
                          <a:cs typeface="Carlito" pitchFamily="34" charset="-120"/>
                        </a:rPr>
                        <a:t>property_id</a:t>
                      </a:r>
                      <a:endParaRPr lang="en-US" sz="990" dirty="0">
                        <a:latin typeface="Carlito" charset="0"/>
                        <a:ea typeface="Carlito" charset="0"/>
                        <a:cs typeface="Carlito" charset="0"/>
                      </a:endParaRPr>
                    </a:p>
                  </a:txBody>
                  <a:tcPr marL="36576" marR="36576" marT="36576" marB="36576"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990" dirty="0">
                          <a:solidFill>
                            <a:srgbClr val="1F2937"/>
                          </a:solidFill>
                          <a:latin typeface="Carlito" pitchFamily="34" charset="0"/>
                          <a:ea typeface="Carlito" pitchFamily="34" charset="-122"/>
                          <a:cs typeface="Carlito" pitchFamily="34" charset="-120"/>
                        </a:rPr>
                        <a:t>INTEGER</a:t>
                      </a:r>
                      <a:endParaRPr lang="en-US" sz="990" dirty="0">
                        <a:latin typeface="Carlito" charset="0"/>
                        <a:ea typeface="Carlito" charset="0"/>
                        <a:cs typeface="Carlito" charset="0"/>
                      </a:endParaRPr>
                    </a:p>
                  </a:txBody>
                  <a:tcPr marL="36576" marR="36576" marT="36576" marB="36576"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990" dirty="0">
                          <a:solidFill>
                            <a:srgbClr val="1F2937"/>
                          </a:solidFill>
                          <a:latin typeface="Carlito" pitchFamily="34" charset="0"/>
                          <a:ea typeface="Carlito" pitchFamily="34" charset="-122"/>
                          <a:cs typeface="Carlito" pitchFamily="34" charset="-120"/>
                        </a:rPr>
                        <a:t>FK → property</a:t>
                      </a:r>
                      <a:endParaRPr lang="en-US" sz="990" dirty="0">
                        <a:latin typeface="Carlito" charset="0"/>
                        <a:ea typeface="Carlito" charset="0"/>
                        <a:cs typeface="Carlito" charset="0"/>
                      </a:endParaRPr>
                    </a:p>
                  </a:txBody>
                  <a:tcPr marL="36576" marR="36576" marT="36576" marB="36576"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990" dirty="0">
                          <a:solidFill>
                            <a:srgbClr val="1F2937"/>
                          </a:solidFill>
                          <a:latin typeface="Carlito" pitchFamily="34" charset="0"/>
                          <a:ea typeface="Carlito" pitchFamily="34" charset="-122"/>
                          <a:cs typeface="Carlito" pitchFamily="34" charset="-120"/>
                        </a:rPr>
                        <a:t>Viewed property</a:t>
                      </a:r>
                      <a:endParaRPr lang="en-US" sz="990" dirty="0">
                        <a:latin typeface="Carlito" charset="0"/>
                        <a:ea typeface="Carlito" charset="0"/>
                        <a:cs typeface="Carlito" charset="0"/>
                      </a:endParaRPr>
                    </a:p>
                  </a:txBody>
                  <a:tcPr marL="36576" marR="36576" marT="36576" marB="36576"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r>
              <a:tr h="393192">
                <a:tc>
                  <a:txBody>
                    <a:bodyPr/>
                    <a:lstStyle/>
                    <a:p>
                      <a:pPr indent="0" marL="0">
                        <a:buNone/>
                      </a:pPr>
                      <a:r>
                        <a:rPr lang="en-US" sz="990" dirty="0">
                          <a:solidFill>
                            <a:srgbClr val="1F2937"/>
                          </a:solidFill>
                          <a:latin typeface="Carlito" pitchFamily="34" charset="0"/>
                          <a:ea typeface="Carlito" pitchFamily="34" charset="-122"/>
                          <a:cs typeface="Carlito" pitchFamily="34" charset="-120"/>
                        </a:rPr>
                        <a:t>VIEWING</a:t>
                      </a:r>
                      <a:endParaRPr lang="en-US" sz="990" dirty="0">
                        <a:latin typeface="Carlito" charset="0"/>
                        <a:ea typeface="Carlito" charset="0"/>
                        <a:cs typeface="Carlito" charset="0"/>
                      </a:endParaRPr>
                    </a:p>
                  </a:txBody>
                  <a:tcPr marL="36576" marR="36576" marT="36576" marB="36576"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990" dirty="0">
                          <a:solidFill>
                            <a:srgbClr val="1F2937"/>
                          </a:solidFill>
                          <a:latin typeface="Carlito" pitchFamily="34" charset="0"/>
                          <a:ea typeface="Carlito" pitchFamily="34" charset="-122"/>
                          <a:cs typeface="Carlito" pitchFamily="34" charset="-120"/>
                        </a:rPr>
                        <a:t>buyer_id</a:t>
                      </a:r>
                      <a:endParaRPr lang="en-US" sz="990" dirty="0">
                        <a:latin typeface="Carlito" charset="0"/>
                        <a:ea typeface="Carlito" charset="0"/>
                        <a:cs typeface="Carlito" charset="0"/>
                      </a:endParaRPr>
                    </a:p>
                  </a:txBody>
                  <a:tcPr marL="36576" marR="36576" marT="36576" marB="36576"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990" dirty="0">
                          <a:solidFill>
                            <a:srgbClr val="1F2937"/>
                          </a:solidFill>
                          <a:latin typeface="Carlito" pitchFamily="34" charset="0"/>
                          <a:ea typeface="Carlito" pitchFamily="34" charset="-122"/>
                          <a:cs typeface="Carlito" pitchFamily="34" charset="-120"/>
                        </a:rPr>
                        <a:t>INTEGER</a:t>
                      </a:r>
                      <a:endParaRPr lang="en-US" sz="990" dirty="0">
                        <a:latin typeface="Carlito" charset="0"/>
                        <a:ea typeface="Carlito" charset="0"/>
                        <a:cs typeface="Carlito" charset="0"/>
                      </a:endParaRPr>
                    </a:p>
                  </a:txBody>
                  <a:tcPr marL="36576" marR="36576" marT="36576" marB="36576"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990" dirty="0">
                          <a:solidFill>
                            <a:srgbClr val="1F2937"/>
                          </a:solidFill>
                          <a:latin typeface="Carlito" pitchFamily="34" charset="0"/>
                          <a:ea typeface="Carlito" pitchFamily="34" charset="-122"/>
                          <a:cs typeface="Carlito" pitchFamily="34" charset="-120"/>
                        </a:rPr>
                        <a:t>FK → buyer</a:t>
                      </a:r>
                      <a:endParaRPr lang="en-US" sz="990" dirty="0">
                        <a:latin typeface="Carlito" charset="0"/>
                        <a:ea typeface="Carlito" charset="0"/>
                        <a:cs typeface="Carlito" charset="0"/>
                      </a:endParaRPr>
                    </a:p>
                  </a:txBody>
                  <a:tcPr marL="36576" marR="36576" marT="36576" marB="36576"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990" dirty="0">
                          <a:solidFill>
                            <a:srgbClr val="1F2937"/>
                          </a:solidFill>
                          <a:latin typeface="Carlito" pitchFamily="34" charset="0"/>
                          <a:ea typeface="Carlito" pitchFamily="34" charset="-122"/>
                          <a:cs typeface="Carlito" pitchFamily="34" charset="-120"/>
                        </a:rPr>
                        <a:t>Attending buyer</a:t>
                      </a:r>
                      <a:endParaRPr lang="en-US" sz="990" dirty="0">
                        <a:latin typeface="Carlito" charset="0"/>
                        <a:ea typeface="Carlito" charset="0"/>
                        <a:cs typeface="Carlito" charset="0"/>
                      </a:endParaRPr>
                    </a:p>
                  </a:txBody>
                  <a:tcPr marL="36576" marR="36576" marT="36576" marB="36576"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r>
              <a:tr h="393192">
                <a:tc>
                  <a:txBody>
                    <a:bodyPr/>
                    <a:lstStyle/>
                    <a:p>
                      <a:pPr indent="0" marL="0">
                        <a:buNone/>
                      </a:pPr>
                      <a:r>
                        <a:rPr lang="en-US" sz="990" dirty="0">
                          <a:solidFill>
                            <a:srgbClr val="1F2937"/>
                          </a:solidFill>
                          <a:latin typeface="Carlito" pitchFamily="34" charset="0"/>
                          <a:ea typeface="Carlito" pitchFamily="34" charset="-122"/>
                          <a:cs typeface="Carlito" pitchFamily="34" charset="-120"/>
                        </a:rPr>
                        <a:t>VIEWING</a:t>
                      </a:r>
                      <a:endParaRPr lang="en-US" sz="990" dirty="0">
                        <a:latin typeface="Carlito" charset="0"/>
                        <a:ea typeface="Carlito" charset="0"/>
                        <a:cs typeface="Carlito" charset="0"/>
                      </a:endParaRPr>
                    </a:p>
                  </a:txBody>
                  <a:tcPr marL="36576" marR="36576" marT="36576" marB="36576"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990" dirty="0">
                          <a:solidFill>
                            <a:srgbClr val="1F2937"/>
                          </a:solidFill>
                          <a:latin typeface="Carlito" pitchFamily="34" charset="0"/>
                          <a:ea typeface="Carlito" pitchFamily="34" charset="-122"/>
                          <a:cs typeface="Carlito" pitchFamily="34" charset="-120"/>
                        </a:rPr>
                        <a:t>date_time</a:t>
                      </a:r>
                      <a:endParaRPr lang="en-US" sz="990" dirty="0">
                        <a:latin typeface="Carlito" charset="0"/>
                        <a:ea typeface="Carlito" charset="0"/>
                        <a:cs typeface="Carlito" charset="0"/>
                      </a:endParaRPr>
                    </a:p>
                  </a:txBody>
                  <a:tcPr marL="36576" marR="36576" marT="36576" marB="36576"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990" dirty="0">
                          <a:solidFill>
                            <a:srgbClr val="1F2937"/>
                          </a:solidFill>
                          <a:latin typeface="Carlito" pitchFamily="34" charset="0"/>
                          <a:ea typeface="Carlito" pitchFamily="34" charset="-122"/>
                          <a:cs typeface="Carlito" pitchFamily="34" charset="-120"/>
                        </a:rPr>
                        <a:t>TEXT</a:t>
                      </a:r>
                      <a:endParaRPr lang="en-US" sz="990" dirty="0">
                        <a:latin typeface="Carlito" charset="0"/>
                        <a:ea typeface="Carlito" charset="0"/>
                        <a:cs typeface="Carlito" charset="0"/>
                      </a:endParaRPr>
                    </a:p>
                  </a:txBody>
                  <a:tcPr marL="36576" marR="36576" marT="36576" marB="36576"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990" dirty="0">
                          <a:solidFill>
                            <a:srgbClr val="1F2937"/>
                          </a:solidFill>
                          <a:latin typeface="Carlito" pitchFamily="34" charset="0"/>
                          <a:ea typeface="Carlito" pitchFamily="34" charset="-122"/>
                          <a:cs typeface="Carlito" pitchFamily="34" charset="-120"/>
                        </a:rPr>
                        <a:t>NOT NULL</a:t>
                      </a:r>
                      <a:endParaRPr lang="en-US" sz="990" dirty="0">
                        <a:latin typeface="Carlito" charset="0"/>
                        <a:ea typeface="Carlito" charset="0"/>
                        <a:cs typeface="Carlito" charset="0"/>
                      </a:endParaRPr>
                    </a:p>
                  </a:txBody>
                  <a:tcPr marL="36576" marR="36576" marT="36576" marB="36576"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990" dirty="0">
                          <a:solidFill>
                            <a:srgbClr val="1F2937"/>
                          </a:solidFill>
                          <a:latin typeface="Carlito" pitchFamily="34" charset="0"/>
                          <a:ea typeface="Carlito" pitchFamily="34" charset="-122"/>
                          <a:cs typeface="Carlito" pitchFamily="34" charset="-120"/>
                        </a:rPr>
                        <a:t>Inspection time</a:t>
                      </a:r>
                      <a:endParaRPr lang="en-US" sz="990" dirty="0">
                        <a:latin typeface="Carlito" charset="0"/>
                        <a:ea typeface="Carlito" charset="0"/>
                        <a:cs typeface="Carlito" charset="0"/>
                      </a:endParaRPr>
                    </a:p>
                  </a:txBody>
                  <a:tcPr marL="36576" marR="36576" marT="36576" marB="36576"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r>
              <a:tr h="393192">
                <a:tc>
                  <a:txBody>
                    <a:bodyPr/>
                    <a:lstStyle/>
                    <a:p>
                      <a:pPr indent="0" marL="0">
                        <a:buNone/>
                      </a:pPr>
                      <a:r>
                        <a:rPr lang="en-US" sz="990" dirty="0">
                          <a:solidFill>
                            <a:srgbClr val="1F2937"/>
                          </a:solidFill>
                          <a:latin typeface="Carlito" pitchFamily="34" charset="0"/>
                          <a:ea typeface="Carlito" pitchFamily="34" charset="-122"/>
                          <a:cs typeface="Carlito" pitchFamily="34" charset="-120"/>
                        </a:rPr>
                        <a:t>OFFER</a:t>
                      </a:r>
                      <a:endParaRPr lang="en-US" sz="990" dirty="0">
                        <a:latin typeface="Carlito" charset="0"/>
                        <a:ea typeface="Carlito" charset="0"/>
                        <a:cs typeface="Carlito" charset="0"/>
                      </a:endParaRPr>
                    </a:p>
                  </a:txBody>
                  <a:tcPr marL="36576" marR="36576" marT="36576" marB="36576"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990" dirty="0">
                          <a:solidFill>
                            <a:srgbClr val="1F2937"/>
                          </a:solidFill>
                          <a:latin typeface="Carlito" pitchFamily="34" charset="0"/>
                          <a:ea typeface="Carlito" pitchFamily="34" charset="-122"/>
                          <a:cs typeface="Carlito" pitchFamily="34" charset="-120"/>
                        </a:rPr>
                        <a:t>offer_id</a:t>
                      </a:r>
                      <a:endParaRPr lang="en-US" sz="990" dirty="0">
                        <a:latin typeface="Carlito" charset="0"/>
                        <a:ea typeface="Carlito" charset="0"/>
                        <a:cs typeface="Carlito" charset="0"/>
                      </a:endParaRPr>
                    </a:p>
                  </a:txBody>
                  <a:tcPr marL="36576" marR="36576" marT="36576" marB="36576"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990" dirty="0">
                          <a:solidFill>
                            <a:srgbClr val="1F2937"/>
                          </a:solidFill>
                          <a:latin typeface="Carlito" pitchFamily="34" charset="0"/>
                          <a:ea typeface="Carlito" pitchFamily="34" charset="-122"/>
                          <a:cs typeface="Carlito" pitchFamily="34" charset="-120"/>
                        </a:rPr>
                        <a:t>INTEGER</a:t>
                      </a:r>
                      <a:endParaRPr lang="en-US" sz="990" dirty="0">
                        <a:latin typeface="Carlito" charset="0"/>
                        <a:ea typeface="Carlito" charset="0"/>
                        <a:cs typeface="Carlito" charset="0"/>
                      </a:endParaRPr>
                    </a:p>
                  </a:txBody>
                  <a:tcPr marL="36576" marR="36576" marT="36576" marB="36576"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990" dirty="0">
                          <a:solidFill>
                            <a:srgbClr val="1F2937"/>
                          </a:solidFill>
                          <a:latin typeface="Carlito" pitchFamily="34" charset="0"/>
                          <a:ea typeface="Carlito" pitchFamily="34" charset="-122"/>
                          <a:cs typeface="Carlito" pitchFamily="34" charset="-120"/>
                        </a:rPr>
                        <a:t>PK • AUTOINCREMENT</a:t>
                      </a:r>
                      <a:endParaRPr lang="en-US" sz="990" dirty="0">
                        <a:latin typeface="Carlito" charset="0"/>
                        <a:ea typeface="Carlito" charset="0"/>
                        <a:cs typeface="Carlito" charset="0"/>
                      </a:endParaRPr>
                    </a:p>
                  </a:txBody>
                  <a:tcPr marL="36576" marR="36576" marT="36576" marB="36576"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990" dirty="0">
                          <a:solidFill>
                            <a:srgbClr val="1F2937"/>
                          </a:solidFill>
                          <a:latin typeface="Carlito" pitchFamily="34" charset="0"/>
                          <a:ea typeface="Carlito" pitchFamily="34" charset="-122"/>
                          <a:cs typeface="Carlito" pitchFamily="34" charset="-120"/>
                        </a:rPr>
                        <a:t>Offer record ID</a:t>
                      </a:r>
                      <a:endParaRPr lang="en-US" sz="990" dirty="0">
                        <a:latin typeface="Carlito" charset="0"/>
                        <a:ea typeface="Carlito" charset="0"/>
                        <a:cs typeface="Carlito" charset="0"/>
                      </a:endParaRPr>
                    </a:p>
                  </a:txBody>
                  <a:tcPr marL="36576" marR="36576" marT="36576" marB="36576"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r>
              <a:tr h="393192">
                <a:tc>
                  <a:txBody>
                    <a:bodyPr/>
                    <a:lstStyle/>
                    <a:p>
                      <a:pPr indent="0" marL="0">
                        <a:buNone/>
                      </a:pPr>
                      <a:r>
                        <a:rPr lang="en-US" sz="990" dirty="0">
                          <a:solidFill>
                            <a:srgbClr val="1F2937"/>
                          </a:solidFill>
                          <a:latin typeface="Carlito" pitchFamily="34" charset="0"/>
                          <a:ea typeface="Carlito" pitchFamily="34" charset="-122"/>
                          <a:cs typeface="Carlito" pitchFamily="34" charset="-120"/>
                        </a:rPr>
                        <a:t>OFFER</a:t>
                      </a:r>
                      <a:endParaRPr lang="en-US" sz="990" dirty="0">
                        <a:latin typeface="Carlito" charset="0"/>
                        <a:ea typeface="Carlito" charset="0"/>
                        <a:cs typeface="Carlito" charset="0"/>
                      </a:endParaRPr>
                    </a:p>
                  </a:txBody>
                  <a:tcPr marL="36576" marR="36576" marT="36576" marB="36576"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990" dirty="0">
                          <a:solidFill>
                            <a:srgbClr val="1F2937"/>
                          </a:solidFill>
                          <a:latin typeface="Carlito" pitchFamily="34" charset="0"/>
                          <a:ea typeface="Carlito" pitchFamily="34" charset="-122"/>
                          <a:cs typeface="Carlito" pitchFamily="34" charset="-120"/>
                        </a:rPr>
                        <a:t>amount</a:t>
                      </a:r>
                      <a:endParaRPr lang="en-US" sz="990" dirty="0">
                        <a:latin typeface="Carlito" charset="0"/>
                        <a:ea typeface="Carlito" charset="0"/>
                        <a:cs typeface="Carlito" charset="0"/>
                      </a:endParaRPr>
                    </a:p>
                  </a:txBody>
                  <a:tcPr marL="36576" marR="36576" marT="36576" marB="36576"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990" dirty="0">
                          <a:solidFill>
                            <a:srgbClr val="1F2937"/>
                          </a:solidFill>
                          <a:latin typeface="Carlito" pitchFamily="34" charset="0"/>
                          <a:ea typeface="Carlito" pitchFamily="34" charset="-122"/>
                          <a:cs typeface="Carlito" pitchFamily="34" charset="-120"/>
                        </a:rPr>
                        <a:t>INTEGER</a:t>
                      </a:r>
                      <a:endParaRPr lang="en-US" sz="990" dirty="0">
                        <a:latin typeface="Carlito" charset="0"/>
                        <a:ea typeface="Carlito" charset="0"/>
                        <a:cs typeface="Carlito" charset="0"/>
                      </a:endParaRPr>
                    </a:p>
                  </a:txBody>
                  <a:tcPr marL="36576" marR="36576" marT="36576" marB="36576"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990" dirty="0">
                          <a:solidFill>
                            <a:srgbClr val="1F2937"/>
                          </a:solidFill>
                          <a:latin typeface="Carlito" pitchFamily="34" charset="0"/>
                          <a:ea typeface="Carlito" pitchFamily="34" charset="-122"/>
                          <a:cs typeface="Carlito" pitchFamily="34" charset="-120"/>
                        </a:rPr>
                        <a:t>NOT NULL • CHECK &gt; 0</a:t>
                      </a:r>
                      <a:endParaRPr lang="en-US" sz="990" dirty="0">
                        <a:latin typeface="Carlito" charset="0"/>
                        <a:ea typeface="Carlito" charset="0"/>
                        <a:cs typeface="Carlito" charset="0"/>
                      </a:endParaRPr>
                    </a:p>
                  </a:txBody>
                  <a:tcPr marL="36576" marR="36576" marT="36576" marB="36576"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990" dirty="0">
                          <a:solidFill>
                            <a:srgbClr val="1F2937"/>
                          </a:solidFill>
                          <a:latin typeface="Carlito" pitchFamily="34" charset="0"/>
                          <a:ea typeface="Carlito" pitchFamily="34" charset="-122"/>
                          <a:cs typeface="Carlito" pitchFamily="34" charset="-120"/>
                        </a:rPr>
                        <a:t>Offer amount</a:t>
                      </a:r>
                      <a:endParaRPr lang="en-US" sz="990" dirty="0">
                        <a:latin typeface="Carlito" charset="0"/>
                        <a:ea typeface="Carlito" charset="0"/>
                        <a:cs typeface="Carlito" charset="0"/>
                      </a:endParaRPr>
                    </a:p>
                  </a:txBody>
                  <a:tcPr marL="36576" marR="36576" marT="36576" marB="36576"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r>
              <a:tr h="393192">
                <a:tc>
                  <a:txBody>
                    <a:bodyPr/>
                    <a:lstStyle/>
                    <a:p>
                      <a:pPr indent="0" marL="0">
                        <a:buNone/>
                      </a:pPr>
                      <a:r>
                        <a:rPr lang="en-US" sz="990" dirty="0">
                          <a:solidFill>
                            <a:srgbClr val="1F2937"/>
                          </a:solidFill>
                          <a:latin typeface="Carlito" pitchFamily="34" charset="0"/>
                          <a:ea typeface="Carlito" pitchFamily="34" charset="-122"/>
                          <a:cs typeface="Carlito" pitchFamily="34" charset="-120"/>
                        </a:rPr>
                        <a:t>OFFER</a:t>
                      </a:r>
                      <a:endParaRPr lang="en-US" sz="990" dirty="0">
                        <a:latin typeface="Carlito" charset="0"/>
                        <a:ea typeface="Carlito" charset="0"/>
                        <a:cs typeface="Carlito" charset="0"/>
                      </a:endParaRPr>
                    </a:p>
                  </a:txBody>
                  <a:tcPr marL="36576" marR="36576" marT="36576" marB="36576"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990" dirty="0">
                          <a:solidFill>
                            <a:srgbClr val="1F2937"/>
                          </a:solidFill>
                          <a:latin typeface="Carlito" pitchFamily="34" charset="0"/>
                          <a:ea typeface="Carlito" pitchFamily="34" charset="-122"/>
                          <a:cs typeface="Carlito" pitchFamily="34" charset="-120"/>
                        </a:rPr>
                        <a:t>status</a:t>
                      </a:r>
                      <a:endParaRPr lang="en-US" sz="990" dirty="0">
                        <a:latin typeface="Carlito" charset="0"/>
                        <a:ea typeface="Carlito" charset="0"/>
                        <a:cs typeface="Carlito" charset="0"/>
                      </a:endParaRPr>
                    </a:p>
                  </a:txBody>
                  <a:tcPr marL="36576" marR="36576" marT="36576" marB="36576"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990" dirty="0">
                          <a:solidFill>
                            <a:srgbClr val="1F2937"/>
                          </a:solidFill>
                          <a:latin typeface="Carlito" pitchFamily="34" charset="0"/>
                          <a:ea typeface="Carlito" pitchFamily="34" charset="-122"/>
                          <a:cs typeface="Carlito" pitchFamily="34" charset="-120"/>
                        </a:rPr>
                        <a:t>TEXT</a:t>
                      </a:r>
                      <a:endParaRPr lang="en-US" sz="990" dirty="0">
                        <a:latin typeface="Carlito" charset="0"/>
                        <a:ea typeface="Carlito" charset="0"/>
                        <a:cs typeface="Carlito" charset="0"/>
                      </a:endParaRPr>
                    </a:p>
                  </a:txBody>
                  <a:tcPr marL="36576" marR="36576" marT="36576" marB="36576"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990" dirty="0">
                          <a:solidFill>
                            <a:srgbClr val="1F2937"/>
                          </a:solidFill>
                          <a:latin typeface="Carlito" pitchFamily="34" charset="0"/>
                          <a:ea typeface="Carlito" pitchFamily="34" charset="-122"/>
                          <a:cs typeface="Carlito" pitchFamily="34" charset="-120"/>
                        </a:rPr>
                        <a:t>DEFAULT 'Pending'</a:t>
                      </a:r>
                      <a:endParaRPr lang="en-US" sz="990" dirty="0">
                        <a:latin typeface="Carlito" charset="0"/>
                        <a:ea typeface="Carlito" charset="0"/>
                        <a:cs typeface="Carlito" charset="0"/>
                      </a:endParaRPr>
                    </a:p>
                  </a:txBody>
                  <a:tcPr marL="36576" marR="36576" marT="36576" marB="36576"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990" dirty="0">
                          <a:solidFill>
                            <a:srgbClr val="1F2937"/>
                          </a:solidFill>
                          <a:latin typeface="Carlito" pitchFamily="34" charset="0"/>
                          <a:ea typeface="Carlito" pitchFamily="34" charset="-122"/>
                          <a:cs typeface="Carlito" pitchFamily="34" charset="-120"/>
                        </a:rPr>
                        <a:t>Offer evaluation state</a:t>
                      </a:r>
                      <a:endParaRPr lang="en-US" sz="990" dirty="0">
                        <a:latin typeface="Carlito" charset="0"/>
                        <a:ea typeface="Carlito" charset="0"/>
                        <a:cs typeface="Carlito" charset="0"/>
                      </a:endParaRPr>
                    </a:p>
                  </a:txBody>
                  <a:tcPr marL="36576" marR="36576" marT="36576" marB="36576"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r>
              <a:tr h="393192">
                <a:tc>
                  <a:txBody>
                    <a:bodyPr/>
                    <a:lstStyle/>
                    <a:p>
                      <a:pPr indent="0" marL="0">
                        <a:buNone/>
                      </a:pPr>
                      <a:r>
                        <a:rPr lang="en-US" sz="990" dirty="0">
                          <a:solidFill>
                            <a:srgbClr val="1F2937"/>
                          </a:solidFill>
                          <a:latin typeface="Carlito" pitchFamily="34" charset="0"/>
                          <a:ea typeface="Carlito" pitchFamily="34" charset="-122"/>
                          <a:cs typeface="Carlito" pitchFamily="34" charset="-120"/>
                        </a:rPr>
                        <a:t>SALE</a:t>
                      </a:r>
                      <a:endParaRPr lang="en-US" sz="990" dirty="0">
                        <a:latin typeface="Carlito" charset="0"/>
                        <a:ea typeface="Carlito" charset="0"/>
                        <a:cs typeface="Carlito" charset="0"/>
                      </a:endParaRPr>
                    </a:p>
                  </a:txBody>
                  <a:tcPr marL="36576" marR="36576" marT="36576" marB="36576"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990" dirty="0">
                          <a:solidFill>
                            <a:srgbClr val="1F2937"/>
                          </a:solidFill>
                          <a:latin typeface="Carlito" pitchFamily="34" charset="0"/>
                          <a:ea typeface="Carlito" pitchFamily="34" charset="-122"/>
                          <a:cs typeface="Carlito" pitchFamily="34" charset="-120"/>
                        </a:rPr>
                        <a:t>sale_id</a:t>
                      </a:r>
                      <a:endParaRPr lang="en-US" sz="990" dirty="0">
                        <a:latin typeface="Carlito" charset="0"/>
                        <a:ea typeface="Carlito" charset="0"/>
                        <a:cs typeface="Carlito" charset="0"/>
                      </a:endParaRPr>
                    </a:p>
                  </a:txBody>
                  <a:tcPr marL="36576" marR="36576" marT="36576" marB="36576"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990" dirty="0">
                          <a:solidFill>
                            <a:srgbClr val="1F2937"/>
                          </a:solidFill>
                          <a:latin typeface="Carlito" pitchFamily="34" charset="0"/>
                          <a:ea typeface="Carlito" pitchFamily="34" charset="-122"/>
                          <a:cs typeface="Carlito" pitchFamily="34" charset="-120"/>
                        </a:rPr>
                        <a:t>INTEGER</a:t>
                      </a:r>
                      <a:endParaRPr lang="en-US" sz="990" dirty="0">
                        <a:latin typeface="Carlito" charset="0"/>
                        <a:ea typeface="Carlito" charset="0"/>
                        <a:cs typeface="Carlito" charset="0"/>
                      </a:endParaRPr>
                    </a:p>
                  </a:txBody>
                  <a:tcPr marL="36576" marR="36576" marT="36576" marB="36576"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990" dirty="0">
                          <a:solidFill>
                            <a:srgbClr val="1F2937"/>
                          </a:solidFill>
                          <a:latin typeface="Carlito" pitchFamily="34" charset="0"/>
                          <a:ea typeface="Carlito" pitchFamily="34" charset="-122"/>
                          <a:cs typeface="Carlito" pitchFamily="34" charset="-120"/>
                        </a:rPr>
                        <a:t>PK • AUTOINCREMENT</a:t>
                      </a:r>
                      <a:endParaRPr lang="en-US" sz="990" dirty="0">
                        <a:latin typeface="Carlito" charset="0"/>
                        <a:ea typeface="Carlito" charset="0"/>
                        <a:cs typeface="Carlito" charset="0"/>
                      </a:endParaRPr>
                    </a:p>
                  </a:txBody>
                  <a:tcPr marL="36576" marR="36576" marT="36576" marB="36576"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990" dirty="0">
                          <a:solidFill>
                            <a:srgbClr val="1F2937"/>
                          </a:solidFill>
                          <a:latin typeface="Carlito" pitchFamily="34" charset="0"/>
                          <a:ea typeface="Carlito" pitchFamily="34" charset="-122"/>
                          <a:cs typeface="Carlito" pitchFamily="34" charset="-120"/>
                        </a:rPr>
                        <a:t>Sale record ID</a:t>
                      </a:r>
                      <a:endParaRPr lang="en-US" sz="990" dirty="0">
                        <a:latin typeface="Carlito" charset="0"/>
                        <a:ea typeface="Carlito" charset="0"/>
                        <a:cs typeface="Carlito" charset="0"/>
                      </a:endParaRPr>
                    </a:p>
                  </a:txBody>
                  <a:tcPr marL="36576" marR="36576" marT="36576" marB="36576"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r>
              <a:tr h="393192">
                <a:tc>
                  <a:txBody>
                    <a:bodyPr/>
                    <a:lstStyle/>
                    <a:p>
                      <a:pPr indent="0" marL="0">
                        <a:buNone/>
                      </a:pPr>
                      <a:r>
                        <a:rPr lang="en-US" sz="990" dirty="0">
                          <a:solidFill>
                            <a:srgbClr val="1F2937"/>
                          </a:solidFill>
                          <a:latin typeface="Carlito" pitchFamily="34" charset="0"/>
                          <a:ea typeface="Carlito" pitchFamily="34" charset="-122"/>
                          <a:cs typeface="Carlito" pitchFamily="34" charset="-120"/>
                        </a:rPr>
                        <a:t>SALE</a:t>
                      </a:r>
                      <a:endParaRPr lang="en-US" sz="990" dirty="0">
                        <a:latin typeface="Carlito" charset="0"/>
                        <a:ea typeface="Carlito" charset="0"/>
                        <a:cs typeface="Carlito" charset="0"/>
                      </a:endParaRPr>
                    </a:p>
                  </a:txBody>
                  <a:tcPr marL="36576" marR="36576" marT="36576" marB="36576"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990" dirty="0">
                          <a:solidFill>
                            <a:srgbClr val="1F2937"/>
                          </a:solidFill>
                          <a:latin typeface="Carlito" pitchFamily="34" charset="0"/>
                          <a:ea typeface="Carlito" pitchFamily="34" charset="-122"/>
                          <a:cs typeface="Carlito" pitchFamily="34" charset="-120"/>
                        </a:rPr>
                        <a:t>offer_id</a:t>
                      </a:r>
                      <a:endParaRPr lang="en-US" sz="990" dirty="0">
                        <a:latin typeface="Carlito" charset="0"/>
                        <a:ea typeface="Carlito" charset="0"/>
                        <a:cs typeface="Carlito" charset="0"/>
                      </a:endParaRPr>
                    </a:p>
                  </a:txBody>
                  <a:tcPr marL="36576" marR="36576" marT="36576" marB="36576"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990" dirty="0">
                          <a:solidFill>
                            <a:srgbClr val="1F2937"/>
                          </a:solidFill>
                          <a:latin typeface="Carlito" pitchFamily="34" charset="0"/>
                          <a:ea typeface="Carlito" pitchFamily="34" charset="-122"/>
                          <a:cs typeface="Carlito" pitchFamily="34" charset="-120"/>
                        </a:rPr>
                        <a:t>INTEGER</a:t>
                      </a:r>
                      <a:endParaRPr lang="en-US" sz="990" dirty="0">
                        <a:latin typeface="Carlito" charset="0"/>
                        <a:ea typeface="Carlito" charset="0"/>
                        <a:cs typeface="Carlito" charset="0"/>
                      </a:endParaRPr>
                    </a:p>
                  </a:txBody>
                  <a:tcPr marL="36576" marR="36576" marT="36576" marB="36576"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990" dirty="0">
                          <a:solidFill>
                            <a:srgbClr val="1F2937"/>
                          </a:solidFill>
                          <a:latin typeface="Carlito" pitchFamily="34" charset="0"/>
                          <a:ea typeface="Carlito" pitchFamily="34" charset="-122"/>
                          <a:cs typeface="Carlito" pitchFamily="34" charset="-120"/>
                        </a:rPr>
                        <a:t>UNIQUE FK → offer</a:t>
                      </a:r>
                      <a:endParaRPr lang="en-US" sz="990" dirty="0">
                        <a:latin typeface="Carlito" charset="0"/>
                        <a:ea typeface="Carlito" charset="0"/>
                        <a:cs typeface="Carlito" charset="0"/>
                      </a:endParaRPr>
                    </a:p>
                  </a:txBody>
                  <a:tcPr marL="36576" marR="36576" marT="36576" marB="36576"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990" dirty="0">
                          <a:solidFill>
                            <a:srgbClr val="1F2937"/>
                          </a:solidFill>
                          <a:latin typeface="Carlito" pitchFamily="34" charset="0"/>
                          <a:ea typeface="Carlito" pitchFamily="34" charset="-122"/>
                          <a:cs typeface="Carlito" pitchFamily="34" charset="-120"/>
                        </a:rPr>
                        <a:t>One accepted offer per sale</a:t>
                      </a:r>
                      <a:endParaRPr lang="en-US" sz="990" dirty="0">
                        <a:latin typeface="Carlito" charset="0"/>
                        <a:ea typeface="Carlito" charset="0"/>
                        <a:cs typeface="Carlito" charset="0"/>
                      </a:endParaRPr>
                    </a:p>
                  </a:txBody>
                  <a:tcPr marL="36576" marR="36576" marT="36576" marB="36576"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r>
              <a:tr h="393192">
                <a:tc>
                  <a:txBody>
                    <a:bodyPr/>
                    <a:lstStyle/>
                    <a:p>
                      <a:pPr indent="0" marL="0">
                        <a:buNone/>
                      </a:pPr>
                      <a:r>
                        <a:rPr lang="en-US" sz="990" dirty="0">
                          <a:solidFill>
                            <a:srgbClr val="1F2937"/>
                          </a:solidFill>
                          <a:latin typeface="Carlito" pitchFamily="34" charset="0"/>
                          <a:ea typeface="Carlito" pitchFamily="34" charset="-122"/>
                          <a:cs typeface="Carlito" pitchFamily="34" charset="-120"/>
                        </a:rPr>
                        <a:t>SALE</a:t>
                      </a:r>
                      <a:endParaRPr lang="en-US" sz="990" dirty="0">
                        <a:latin typeface="Carlito" charset="0"/>
                        <a:ea typeface="Carlito" charset="0"/>
                        <a:cs typeface="Carlito" charset="0"/>
                      </a:endParaRPr>
                    </a:p>
                  </a:txBody>
                  <a:tcPr marL="36576" marR="36576" marT="36576" marB="36576"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990" dirty="0">
                          <a:solidFill>
                            <a:srgbClr val="1F2937"/>
                          </a:solidFill>
                          <a:latin typeface="Carlito" pitchFamily="34" charset="0"/>
                          <a:ea typeface="Carlito" pitchFamily="34" charset="-122"/>
                          <a:cs typeface="Carlito" pitchFamily="34" charset="-120"/>
                        </a:rPr>
                        <a:t>final_price</a:t>
                      </a:r>
                      <a:endParaRPr lang="en-US" sz="990" dirty="0">
                        <a:latin typeface="Carlito" charset="0"/>
                        <a:ea typeface="Carlito" charset="0"/>
                        <a:cs typeface="Carlito" charset="0"/>
                      </a:endParaRPr>
                    </a:p>
                  </a:txBody>
                  <a:tcPr marL="36576" marR="36576" marT="36576" marB="36576"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990" dirty="0">
                          <a:solidFill>
                            <a:srgbClr val="1F2937"/>
                          </a:solidFill>
                          <a:latin typeface="Carlito" pitchFamily="34" charset="0"/>
                          <a:ea typeface="Carlito" pitchFamily="34" charset="-122"/>
                          <a:cs typeface="Carlito" pitchFamily="34" charset="-120"/>
                        </a:rPr>
                        <a:t>INTEGER</a:t>
                      </a:r>
                      <a:endParaRPr lang="en-US" sz="990" dirty="0">
                        <a:latin typeface="Carlito" charset="0"/>
                        <a:ea typeface="Carlito" charset="0"/>
                        <a:cs typeface="Carlito" charset="0"/>
                      </a:endParaRPr>
                    </a:p>
                  </a:txBody>
                  <a:tcPr marL="36576" marR="36576" marT="36576" marB="36576"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990" dirty="0">
                          <a:solidFill>
                            <a:srgbClr val="1F2937"/>
                          </a:solidFill>
                          <a:latin typeface="Carlito" pitchFamily="34" charset="0"/>
                          <a:ea typeface="Carlito" pitchFamily="34" charset="-122"/>
                          <a:cs typeface="Carlito" pitchFamily="34" charset="-120"/>
                        </a:rPr>
                        <a:t>NOT NULL • CHECK &gt; 0</a:t>
                      </a:r>
                      <a:endParaRPr lang="en-US" sz="990" dirty="0">
                        <a:latin typeface="Carlito" charset="0"/>
                        <a:ea typeface="Carlito" charset="0"/>
                        <a:cs typeface="Carlito" charset="0"/>
                      </a:endParaRPr>
                    </a:p>
                  </a:txBody>
                  <a:tcPr marL="36576" marR="36576" marT="36576" marB="36576"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990" dirty="0">
                          <a:solidFill>
                            <a:srgbClr val="1F2937"/>
                          </a:solidFill>
                          <a:latin typeface="Carlito" pitchFamily="34" charset="0"/>
                          <a:ea typeface="Carlito" pitchFamily="34" charset="-122"/>
                          <a:cs typeface="Carlito" pitchFamily="34" charset="-120"/>
                        </a:rPr>
                        <a:t>Final settled price</a:t>
                      </a:r>
                      <a:endParaRPr lang="en-US" sz="990" dirty="0">
                        <a:latin typeface="Carlito" charset="0"/>
                        <a:ea typeface="Carlito" charset="0"/>
                        <a:cs typeface="Carlito" charset="0"/>
                      </a:endParaRPr>
                    </a:p>
                  </a:txBody>
                  <a:tcPr marL="36576" marR="36576" marT="36576" marB="36576"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r>
              <a:tr h="393192">
                <a:tc>
                  <a:txBody>
                    <a:bodyPr/>
                    <a:lstStyle/>
                    <a:p>
                      <a:pPr indent="0" marL="0">
                        <a:buNone/>
                      </a:pPr>
                      <a:r>
                        <a:rPr lang="en-US" sz="990" dirty="0">
                          <a:solidFill>
                            <a:srgbClr val="1F2937"/>
                          </a:solidFill>
                          <a:latin typeface="Carlito" pitchFamily="34" charset="0"/>
                          <a:ea typeface="Carlito" pitchFamily="34" charset="-122"/>
                          <a:cs typeface="Carlito" pitchFamily="34" charset="-120"/>
                        </a:rPr>
                        <a:t>SALE</a:t>
                      </a:r>
                      <a:endParaRPr lang="en-US" sz="990" dirty="0">
                        <a:latin typeface="Carlito" charset="0"/>
                        <a:ea typeface="Carlito" charset="0"/>
                        <a:cs typeface="Carlito" charset="0"/>
                      </a:endParaRPr>
                    </a:p>
                  </a:txBody>
                  <a:tcPr marL="36576" marR="36576" marT="36576" marB="36576"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990" dirty="0">
                          <a:solidFill>
                            <a:srgbClr val="1F2937"/>
                          </a:solidFill>
                          <a:latin typeface="Carlito" pitchFamily="34" charset="0"/>
                          <a:ea typeface="Carlito" pitchFamily="34" charset="-122"/>
                          <a:cs typeface="Carlito" pitchFamily="34" charset="-120"/>
                        </a:rPr>
                        <a:t>commission</a:t>
                      </a:r>
                      <a:endParaRPr lang="en-US" sz="990" dirty="0">
                        <a:latin typeface="Carlito" charset="0"/>
                        <a:ea typeface="Carlito" charset="0"/>
                        <a:cs typeface="Carlito" charset="0"/>
                      </a:endParaRPr>
                    </a:p>
                  </a:txBody>
                  <a:tcPr marL="36576" marR="36576" marT="36576" marB="36576"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990" dirty="0">
                          <a:solidFill>
                            <a:srgbClr val="1F2937"/>
                          </a:solidFill>
                          <a:latin typeface="Carlito" pitchFamily="34" charset="0"/>
                          <a:ea typeface="Carlito" pitchFamily="34" charset="-122"/>
                          <a:cs typeface="Carlito" pitchFamily="34" charset="-120"/>
                        </a:rPr>
                        <a:t>REAL</a:t>
                      </a:r>
                      <a:endParaRPr lang="en-US" sz="990" dirty="0">
                        <a:latin typeface="Carlito" charset="0"/>
                        <a:ea typeface="Carlito" charset="0"/>
                        <a:cs typeface="Carlito" charset="0"/>
                      </a:endParaRPr>
                    </a:p>
                  </a:txBody>
                  <a:tcPr marL="36576" marR="36576" marT="36576" marB="36576"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990" dirty="0">
                          <a:solidFill>
                            <a:srgbClr val="1F2937"/>
                          </a:solidFill>
                          <a:latin typeface="Carlito" pitchFamily="34" charset="0"/>
                          <a:ea typeface="Carlito" pitchFamily="34" charset="-122"/>
                          <a:cs typeface="Carlito" pitchFamily="34" charset="-120"/>
                        </a:rPr>
                        <a:t>NOT NULL</a:t>
                      </a:r>
                      <a:endParaRPr lang="en-US" sz="990" dirty="0">
                        <a:latin typeface="Carlito" charset="0"/>
                        <a:ea typeface="Carlito" charset="0"/>
                        <a:cs typeface="Carlito" charset="0"/>
                      </a:endParaRPr>
                    </a:p>
                  </a:txBody>
                  <a:tcPr marL="36576" marR="36576" marT="36576" marB="36576"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990" dirty="0">
                          <a:solidFill>
                            <a:srgbClr val="1F2937"/>
                          </a:solidFill>
                          <a:latin typeface="Carlito" pitchFamily="34" charset="0"/>
                          <a:ea typeface="Carlito" pitchFamily="34" charset="-122"/>
                          <a:cs typeface="Carlito" pitchFamily="34" charset="-120"/>
                        </a:rPr>
                        <a:t>Agent payout value</a:t>
                      </a:r>
                      <a:endParaRPr lang="en-US" sz="990" dirty="0">
                        <a:latin typeface="Carlito" charset="0"/>
                        <a:ea typeface="Carlito" charset="0"/>
                        <a:cs typeface="Carlito" charset="0"/>
                      </a:endParaRPr>
                    </a:p>
                  </a:txBody>
                  <a:tcPr marL="36576" marR="36576" marT="36576" marB="36576"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r>
            </a:tbl>
          </a:graphicData>
        </a:graphic>
      </p:graphicFrame>
      <p:sp>
        <p:nvSpPr>
          <p:cNvPr id="7" name="Shape 4"/>
          <p:cNvSpPr/>
          <p:nvPr/>
        </p:nvSpPr>
        <p:spPr>
          <a:xfrm>
            <a:off x="566928" y="1325880"/>
            <a:ext cx="11018520" cy="393192"/>
          </a:xfrm>
          <a:prstGeom prst="rect">
            <a:avLst/>
          </a:prstGeom>
          <a:solidFill>
            <a:srgbClr val="C96F47"/>
          </a:solidFill>
          <a:ln w="12700">
            <a:solidFill>
              <a:srgbClr val="C96F47"/>
            </a:solidFill>
            <a:prstDash val="solid"/>
          </a:ln>
        </p:spPr>
      </p:sp>
      <p:sp>
        <p:nvSpPr>
          <p:cNvPr id="8" name="Text 5"/>
          <p:cNvSpPr/>
          <p:nvPr/>
        </p:nvSpPr>
        <p:spPr>
          <a:xfrm>
            <a:off x="640080" y="1444752"/>
            <a:ext cx="1051560" cy="137160"/>
          </a:xfrm>
          <a:prstGeom prst="rect">
            <a:avLst/>
          </a:prstGeom>
          <a:noFill/>
          <a:ln/>
        </p:spPr>
        <p:txBody>
          <a:bodyPr wrap="square" lIns="0" tIns="0" rIns="0" bIns="0" rtlCol="0" anchor="ctr"/>
          <a:lstStyle/>
          <a:p>
            <a:pPr indent="0" marL="0">
              <a:buNone/>
            </a:pPr>
            <a:r>
              <a:rPr lang="en-US" sz="1020" b="1" dirty="0">
                <a:solidFill>
                  <a:srgbClr val="FFFFFF"/>
                </a:solidFill>
              </a:rPr>
              <a:t>Entity</a:t>
            </a:r>
            <a:endParaRPr lang="en-US" sz="1020" dirty="0"/>
          </a:p>
        </p:txBody>
      </p:sp>
      <p:sp>
        <p:nvSpPr>
          <p:cNvPr id="9" name="Text 6"/>
          <p:cNvSpPr/>
          <p:nvPr/>
        </p:nvSpPr>
        <p:spPr>
          <a:xfrm>
            <a:off x="1874520" y="1444752"/>
            <a:ext cx="1325880" cy="137160"/>
          </a:xfrm>
          <a:prstGeom prst="rect">
            <a:avLst/>
          </a:prstGeom>
          <a:noFill/>
          <a:ln/>
        </p:spPr>
        <p:txBody>
          <a:bodyPr wrap="square" lIns="0" tIns="0" rIns="0" bIns="0" rtlCol="0" anchor="ctr"/>
          <a:lstStyle/>
          <a:p>
            <a:pPr indent="0" marL="0">
              <a:buNone/>
            </a:pPr>
            <a:r>
              <a:rPr lang="en-US" sz="1020" b="1" dirty="0">
                <a:solidFill>
                  <a:srgbClr val="FFFFFF"/>
                </a:solidFill>
              </a:rPr>
              <a:t>Field</a:t>
            </a:r>
            <a:endParaRPr lang="en-US" sz="1020" dirty="0"/>
          </a:p>
        </p:txBody>
      </p:sp>
      <p:sp>
        <p:nvSpPr>
          <p:cNvPr id="10" name="Text 7"/>
          <p:cNvSpPr/>
          <p:nvPr/>
        </p:nvSpPr>
        <p:spPr>
          <a:xfrm>
            <a:off x="3383280" y="1444752"/>
            <a:ext cx="1051560" cy="137160"/>
          </a:xfrm>
          <a:prstGeom prst="rect">
            <a:avLst/>
          </a:prstGeom>
          <a:noFill/>
          <a:ln/>
        </p:spPr>
        <p:txBody>
          <a:bodyPr wrap="square" lIns="0" tIns="0" rIns="0" bIns="0" rtlCol="0" anchor="ctr"/>
          <a:lstStyle/>
          <a:p>
            <a:pPr indent="0" marL="0">
              <a:buNone/>
            </a:pPr>
            <a:r>
              <a:rPr lang="en-US" sz="1020" b="1" dirty="0">
                <a:solidFill>
                  <a:srgbClr val="FFFFFF"/>
                </a:solidFill>
              </a:rPr>
              <a:t>Type</a:t>
            </a:r>
            <a:endParaRPr lang="en-US" sz="1020" dirty="0"/>
          </a:p>
        </p:txBody>
      </p:sp>
      <p:sp>
        <p:nvSpPr>
          <p:cNvPr id="11" name="Text 8"/>
          <p:cNvSpPr/>
          <p:nvPr/>
        </p:nvSpPr>
        <p:spPr>
          <a:xfrm>
            <a:off x="4617720" y="1444752"/>
            <a:ext cx="2377440" cy="137160"/>
          </a:xfrm>
          <a:prstGeom prst="rect">
            <a:avLst/>
          </a:prstGeom>
          <a:noFill/>
          <a:ln/>
        </p:spPr>
        <p:txBody>
          <a:bodyPr wrap="square" lIns="0" tIns="0" rIns="0" bIns="0" rtlCol="0" anchor="ctr"/>
          <a:lstStyle/>
          <a:p>
            <a:pPr indent="0" marL="0">
              <a:buNone/>
            </a:pPr>
            <a:r>
              <a:rPr lang="en-US" sz="1020" b="1" dirty="0">
                <a:solidFill>
                  <a:srgbClr val="FFFFFF"/>
                </a:solidFill>
              </a:rPr>
              <a:t>Key / Constraint</a:t>
            </a:r>
            <a:endParaRPr lang="en-US" sz="1020" dirty="0"/>
          </a:p>
        </p:txBody>
      </p:sp>
      <p:sp>
        <p:nvSpPr>
          <p:cNvPr id="12" name="Text 9"/>
          <p:cNvSpPr/>
          <p:nvPr/>
        </p:nvSpPr>
        <p:spPr>
          <a:xfrm>
            <a:off x="7315200" y="1444752"/>
            <a:ext cx="3611880" cy="137160"/>
          </a:xfrm>
          <a:prstGeom prst="rect">
            <a:avLst/>
          </a:prstGeom>
          <a:noFill/>
          <a:ln/>
        </p:spPr>
        <p:txBody>
          <a:bodyPr wrap="square" lIns="0" tIns="0" rIns="0" bIns="0" rtlCol="0" anchor="ctr"/>
          <a:lstStyle/>
          <a:p>
            <a:pPr indent="0" marL="0">
              <a:buNone/>
            </a:pPr>
            <a:r>
              <a:rPr lang="en-US" sz="1020" b="1" dirty="0">
                <a:solidFill>
                  <a:srgbClr val="FFFFFF"/>
                </a:solidFill>
              </a:rPr>
              <a:t>Purpose</a:t>
            </a:r>
            <a:endParaRPr lang="en-US" sz="1020" dirty="0"/>
          </a:p>
        </p:txBody>
      </p:sp>
      <p:sp>
        <p:nvSpPr>
          <p:cNvPr id="25" name="Slide Number Placeholder 0"/>
          <p:cNvSpPr>
            <a:spLocks noGrp="1"/>
          </p:cNvSpPr>
          <p:nvPr>
            <p:ph type="sldNum" sz="quarter" idx="4294967295"/>
          </p:nvPr>
        </p:nvSpPr>
        <p:spPr>
          <a:xfrm>
            <a:off x="11750040" y="649224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latin typeface="Carlito"/>
                <a:ea typeface="Carlito"/>
                <a:cs typeface="Carlito"/>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640080" y="411480"/>
            <a:ext cx="10698480" cy="438912"/>
          </a:xfrm>
          <a:prstGeom prst="rect">
            <a:avLst/>
          </a:prstGeom>
          <a:noFill/>
          <a:ln/>
        </p:spPr>
        <p:txBody>
          <a:bodyPr wrap="square" lIns="0" tIns="0" rIns="0" bIns="0" rtlCol="0" anchor="ctr"/>
          <a:lstStyle/>
          <a:p>
            <a:pPr indent="0" marL="0">
              <a:buNone/>
            </a:pPr>
            <a:r>
              <a:rPr lang="en-US" sz="2500" b="1" dirty="0">
                <a:solidFill>
                  <a:srgbClr val="163A45"/>
                </a:solidFill>
                <a:latin typeface="Carlito" pitchFamily="34" charset="0"/>
                <a:ea typeface="Carlito" pitchFamily="34" charset="-122"/>
                <a:cs typeface="Carlito" pitchFamily="34" charset="-120"/>
              </a:rPr>
              <a:t>GitHub Usage</a:t>
            </a:r>
            <a:endParaRPr lang="en-US" sz="2500" dirty="0"/>
          </a:p>
        </p:txBody>
      </p:sp>
      <p:sp>
        <p:nvSpPr>
          <p:cNvPr id="3" name="Text 1"/>
          <p:cNvSpPr/>
          <p:nvPr/>
        </p:nvSpPr>
        <p:spPr>
          <a:xfrm>
            <a:off x="658368" y="877824"/>
            <a:ext cx="10789920" cy="310896"/>
          </a:xfrm>
          <a:prstGeom prst="rect">
            <a:avLst/>
          </a:prstGeom>
          <a:noFill/>
          <a:ln/>
        </p:spPr>
        <p:txBody>
          <a:bodyPr wrap="square" lIns="0" tIns="0" rIns="0" bIns="0" rtlCol="0" anchor="ctr"/>
          <a:lstStyle/>
          <a:p>
            <a:pPr indent="0" marL="0">
              <a:buNone/>
            </a:pPr>
            <a:r>
              <a:rPr lang="en-US" sz="1250" dirty="0">
                <a:solidFill>
                  <a:srgbClr val="6B7280"/>
                </a:solidFill>
                <a:latin typeface="Carlito" pitchFamily="34" charset="0"/>
                <a:ea typeface="Carlito" pitchFamily="34" charset="-122"/>
                <a:cs typeface="Carlito" pitchFamily="34" charset="-120"/>
              </a:rPr>
              <a:t>Version control, collaboration and evidence of progress</a:t>
            </a:r>
            <a:endParaRPr lang="en-US" sz="1250" dirty="0"/>
          </a:p>
        </p:txBody>
      </p:sp>
      <p:sp>
        <p:nvSpPr>
          <p:cNvPr id="4" name="Shape 2"/>
          <p:cNvSpPr/>
          <p:nvPr/>
        </p:nvSpPr>
        <p:spPr>
          <a:xfrm>
            <a:off x="9674352" y="457200"/>
            <a:ext cx="1810512" cy="347472"/>
          </a:xfrm>
          <a:prstGeom prst="roundRect">
            <a:avLst>
              <a:gd name="adj" fmla="val 15789"/>
            </a:avLst>
          </a:prstGeom>
          <a:solidFill>
            <a:srgbClr val="EEE2CD"/>
          </a:solidFill>
          <a:ln w="12700">
            <a:solidFill>
              <a:srgbClr val="EEE2CD"/>
            </a:solidFill>
            <a:prstDash val="solid"/>
          </a:ln>
        </p:spPr>
      </p:sp>
      <p:sp>
        <p:nvSpPr>
          <p:cNvPr id="5" name="Text 3"/>
          <p:cNvSpPr/>
          <p:nvPr/>
        </p:nvSpPr>
        <p:spPr>
          <a:xfrm>
            <a:off x="9747504" y="548640"/>
            <a:ext cx="1664208" cy="137160"/>
          </a:xfrm>
          <a:prstGeom prst="rect">
            <a:avLst/>
          </a:prstGeom>
          <a:noFill/>
          <a:ln/>
        </p:spPr>
        <p:txBody>
          <a:bodyPr wrap="square" lIns="0" tIns="0" rIns="0" bIns="0" rtlCol="0" anchor="ctr"/>
          <a:lstStyle/>
          <a:p>
            <a:pPr algn="ctr" indent="0" marL="0">
              <a:buNone/>
            </a:pPr>
            <a:r>
              <a:rPr lang="en-US" sz="970" b="1" dirty="0">
                <a:solidFill>
                  <a:srgbClr val="163A45"/>
                </a:solidFill>
              </a:rPr>
              <a:t>Speaker: Varish</a:t>
            </a:r>
            <a:endParaRPr lang="en-US" sz="970" dirty="0"/>
          </a:p>
        </p:txBody>
      </p:sp>
      <p:sp>
        <p:nvSpPr>
          <p:cNvPr id="6" name="Shape 4"/>
          <p:cNvSpPr/>
          <p:nvPr/>
        </p:nvSpPr>
        <p:spPr>
          <a:xfrm>
            <a:off x="685800" y="1417320"/>
            <a:ext cx="2542032" cy="2331720"/>
          </a:xfrm>
          <a:prstGeom prst="roundRect">
            <a:avLst>
              <a:gd name="adj" fmla="val 3137"/>
            </a:avLst>
          </a:prstGeom>
          <a:solidFill>
            <a:srgbClr val="FFFFFF"/>
          </a:solidFill>
          <a:ln w="12700">
            <a:solidFill>
              <a:srgbClr val="D8DEDF"/>
            </a:solidFill>
            <a:prstDash val="solid"/>
          </a:ln>
          <a:effectLst>
            <a:outerShdw sx="100000" sy="100000" kx="0" ky="0" algn="bl" rotWithShape="0" blurRad="19050" dist="50800" dir="2700000">
              <a:srgbClr val="C5CBCB">
                <a:alpha val="18000"/>
              </a:srgbClr>
            </a:outerShdw>
          </a:effectLst>
        </p:spPr>
      </p:sp>
      <p:sp>
        <p:nvSpPr>
          <p:cNvPr id="7" name="Shape 5"/>
          <p:cNvSpPr/>
          <p:nvPr/>
        </p:nvSpPr>
        <p:spPr>
          <a:xfrm>
            <a:off x="886968" y="1618488"/>
            <a:ext cx="512064" cy="512064"/>
          </a:xfrm>
          <a:prstGeom prst="ellipse">
            <a:avLst/>
          </a:prstGeom>
          <a:solidFill>
            <a:srgbClr val="1F5A5A">
              <a:alpha val="12000"/>
            </a:srgbClr>
          </a:solidFill>
          <a:ln w="12700">
            <a:solidFill>
              <a:srgbClr val="1F5A5A">
                <a:alpha val="0"/>
              </a:srgbClr>
            </a:solidFill>
            <a:prstDash val="solid"/>
          </a:ln>
        </p:spPr>
      </p:sp>
      <p:pic>
        <p:nvPicPr>
          <p:cNvPr id="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05840" y="1737360"/>
            <a:ext cx="274320" cy="274320"/>
          </a:xfrm>
          <a:prstGeom prst="rect">
            <a:avLst/>
          </a:prstGeom>
        </p:spPr>
      </p:pic>
      <p:sp>
        <p:nvSpPr>
          <p:cNvPr id="9" name="Text 6"/>
          <p:cNvSpPr/>
          <p:nvPr/>
        </p:nvSpPr>
        <p:spPr>
          <a:xfrm>
            <a:off x="1527048" y="1645920"/>
            <a:ext cx="1490472" cy="256032"/>
          </a:xfrm>
          <a:prstGeom prst="rect">
            <a:avLst/>
          </a:prstGeom>
          <a:noFill/>
          <a:ln/>
        </p:spPr>
        <p:txBody>
          <a:bodyPr wrap="square" lIns="0" tIns="0" rIns="0" bIns="0" rtlCol="0" anchor="ctr"/>
          <a:lstStyle/>
          <a:p>
            <a:pPr indent="0" marL="0">
              <a:buNone/>
            </a:pPr>
            <a:r>
              <a:rPr lang="en-US" sz="1550" b="1" dirty="0">
                <a:solidFill>
                  <a:srgbClr val="1F2937"/>
                </a:solidFill>
              </a:rPr>
              <a:t>1. Pull latest work</a:t>
            </a:r>
            <a:endParaRPr lang="en-US" sz="1550" dirty="0"/>
          </a:p>
        </p:txBody>
      </p:sp>
      <p:sp>
        <p:nvSpPr>
          <p:cNvPr id="10" name="Text 7"/>
          <p:cNvSpPr/>
          <p:nvPr/>
        </p:nvSpPr>
        <p:spPr>
          <a:xfrm>
            <a:off x="1527048" y="1984248"/>
            <a:ext cx="1490472" cy="1600200"/>
          </a:xfrm>
          <a:prstGeom prst="rect">
            <a:avLst/>
          </a:prstGeom>
          <a:noFill/>
          <a:ln/>
        </p:spPr>
        <p:txBody>
          <a:bodyPr wrap="square" lIns="127" tIns="127" rIns="127" bIns="127" rtlCol="0" anchor="t">
            <a:normAutofit/>
          </a:bodyPr>
          <a:lstStyle/>
          <a:p>
            <a:pPr indent="0" marL="0">
              <a:buNone/>
            </a:pPr>
            <a:r>
              <a:rPr lang="en-US" sz="1120" dirty="0">
                <a:solidFill>
                  <a:srgbClr val="6B7280"/>
                </a:solidFill>
              </a:rPr>
              <a:t>Start from the newest shared version</a:t>
            </a:r>
            <a:endParaRPr lang="en-US" sz="1120" dirty="0"/>
          </a:p>
        </p:txBody>
      </p:sp>
      <p:pic>
        <p:nvPicPr>
          <p:cNvPr id="11"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264408" y="2304288"/>
            <a:ext cx="292608" cy="292608"/>
          </a:xfrm>
          <a:prstGeom prst="rect">
            <a:avLst/>
          </a:prstGeom>
        </p:spPr>
      </p:pic>
      <p:sp>
        <p:nvSpPr>
          <p:cNvPr id="12" name="Shape 8"/>
          <p:cNvSpPr/>
          <p:nvPr/>
        </p:nvSpPr>
        <p:spPr>
          <a:xfrm>
            <a:off x="3520440" y="1417320"/>
            <a:ext cx="2542032" cy="2331720"/>
          </a:xfrm>
          <a:prstGeom prst="roundRect">
            <a:avLst>
              <a:gd name="adj" fmla="val 3137"/>
            </a:avLst>
          </a:prstGeom>
          <a:solidFill>
            <a:srgbClr val="FFFFFF"/>
          </a:solidFill>
          <a:ln w="12700">
            <a:solidFill>
              <a:srgbClr val="D8DEDF"/>
            </a:solidFill>
            <a:prstDash val="solid"/>
          </a:ln>
          <a:effectLst>
            <a:outerShdw sx="100000" sy="100000" kx="0" ky="0" algn="bl" rotWithShape="0" blurRad="19050" dist="50800" dir="2700000">
              <a:srgbClr val="C5CBCB">
                <a:alpha val="18000"/>
              </a:srgbClr>
            </a:outerShdw>
          </a:effectLst>
        </p:spPr>
      </p:sp>
      <p:sp>
        <p:nvSpPr>
          <p:cNvPr id="13" name="Shape 9"/>
          <p:cNvSpPr/>
          <p:nvPr/>
        </p:nvSpPr>
        <p:spPr>
          <a:xfrm>
            <a:off x="3721608" y="1618488"/>
            <a:ext cx="512064" cy="512064"/>
          </a:xfrm>
          <a:prstGeom prst="ellipse">
            <a:avLst/>
          </a:prstGeom>
          <a:solidFill>
            <a:srgbClr val="C96F47">
              <a:alpha val="12000"/>
            </a:srgbClr>
          </a:solidFill>
          <a:ln w="12700">
            <a:solidFill>
              <a:srgbClr val="C96F47">
                <a:alpha val="0"/>
              </a:srgbClr>
            </a:solidFill>
            <a:prstDash val="solid"/>
          </a:ln>
        </p:spPr>
      </p:sp>
      <p:pic>
        <p:nvPicPr>
          <p:cNvPr id="14"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840480" y="1737360"/>
            <a:ext cx="274320" cy="274320"/>
          </a:xfrm>
          <a:prstGeom prst="rect">
            <a:avLst/>
          </a:prstGeom>
        </p:spPr>
      </p:pic>
      <p:sp>
        <p:nvSpPr>
          <p:cNvPr id="15" name="Text 10"/>
          <p:cNvSpPr/>
          <p:nvPr/>
        </p:nvSpPr>
        <p:spPr>
          <a:xfrm>
            <a:off x="4361688" y="1645920"/>
            <a:ext cx="1490472" cy="256032"/>
          </a:xfrm>
          <a:prstGeom prst="rect">
            <a:avLst/>
          </a:prstGeom>
          <a:noFill/>
          <a:ln/>
        </p:spPr>
        <p:txBody>
          <a:bodyPr wrap="square" lIns="0" tIns="0" rIns="0" bIns="0" rtlCol="0" anchor="ctr"/>
          <a:lstStyle/>
          <a:p>
            <a:pPr indent="0" marL="0">
              <a:buNone/>
            </a:pPr>
            <a:r>
              <a:rPr lang="en-US" sz="1550" b="1" dirty="0">
                <a:solidFill>
                  <a:srgbClr val="1F2937"/>
                </a:solidFill>
              </a:rPr>
              <a:t>2. Make changes</a:t>
            </a:r>
            <a:endParaRPr lang="en-US" sz="1550" dirty="0"/>
          </a:p>
        </p:txBody>
      </p:sp>
      <p:sp>
        <p:nvSpPr>
          <p:cNvPr id="16" name="Text 11"/>
          <p:cNvSpPr/>
          <p:nvPr/>
        </p:nvSpPr>
        <p:spPr>
          <a:xfrm>
            <a:off x="4361688" y="1984248"/>
            <a:ext cx="1490472" cy="1600200"/>
          </a:xfrm>
          <a:prstGeom prst="rect">
            <a:avLst/>
          </a:prstGeom>
          <a:noFill/>
          <a:ln/>
        </p:spPr>
        <p:txBody>
          <a:bodyPr wrap="square" lIns="127" tIns="127" rIns="127" bIns="127" rtlCol="0" anchor="t">
            <a:normAutofit/>
          </a:bodyPr>
          <a:lstStyle/>
          <a:p>
            <a:pPr indent="0" marL="0">
              <a:buNone/>
            </a:pPr>
            <a:r>
              <a:rPr lang="en-US" sz="1120" dirty="0">
                <a:solidFill>
                  <a:srgbClr val="6B7280"/>
                </a:solidFill>
              </a:rPr>
              <a:t>Update SQL, report or diagrams</a:t>
            </a:r>
            <a:endParaRPr lang="en-US" sz="1120" dirty="0"/>
          </a:p>
        </p:txBody>
      </p:sp>
      <p:pic>
        <p:nvPicPr>
          <p:cNvPr id="17"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099048" y="2304288"/>
            <a:ext cx="292608" cy="292608"/>
          </a:xfrm>
          <a:prstGeom prst="rect">
            <a:avLst/>
          </a:prstGeom>
        </p:spPr>
      </p:pic>
      <p:sp>
        <p:nvSpPr>
          <p:cNvPr id="18" name="Shape 12"/>
          <p:cNvSpPr/>
          <p:nvPr/>
        </p:nvSpPr>
        <p:spPr>
          <a:xfrm>
            <a:off x="6355080" y="1417320"/>
            <a:ext cx="2542032" cy="2331720"/>
          </a:xfrm>
          <a:prstGeom prst="roundRect">
            <a:avLst>
              <a:gd name="adj" fmla="val 3137"/>
            </a:avLst>
          </a:prstGeom>
          <a:solidFill>
            <a:srgbClr val="FFFFFF"/>
          </a:solidFill>
          <a:ln w="12700">
            <a:solidFill>
              <a:srgbClr val="D8DEDF"/>
            </a:solidFill>
            <a:prstDash val="solid"/>
          </a:ln>
          <a:effectLst>
            <a:outerShdw sx="100000" sy="100000" kx="0" ky="0" algn="bl" rotWithShape="0" blurRad="19050" dist="50800" dir="2700000">
              <a:srgbClr val="C5CBCB">
                <a:alpha val="18000"/>
              </a:srgbClr>
            </a:outerShdw>
          </a:effectLst>
        </p:spPr>
      </p:sp>
      <p:sp>
        <p:nvSpPr>
          <p:cNvPr id="19" name="Shape 13"/>
          <p:cNvSpPr/>
          <p:nvPr/>
        </p:nvSpPr>
        <p:spPr>
          <a:xfrm>
            <a:off x="6556248" y="1618488"/>
            <a:ext cx="512064" cy="512064"/>
          </a:xfrm>
          <a:prstGeom prst="ellipse">
            <a:avLst/>
          </a:prstGeom>
          <a:solidFill>
            <a:srgbClr val="4B7A6A">
              <a:alpha val="12000"/>
            </a:srgbClr>
          </a:solidFill>
          <a:ln w="12700">
            <a:solidFill>
              <a:srgbClr val="4B7A6A">
                <a:alpha val="0"/>
              </a:srgbClr>
            </a:solidFill>
            <a:prstDash val="solid"/>
          </a:ln>
        </p:spPr>
      </p:sp>
      <p:pic>
        <p:nvPicPr>
          <p:cNvPr id="20"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675120" y="1737360"/>
            <a:ext cx="274320" cy="274320"/>
          </a:xfrm>
          <a:prstGeom prst="rect">
            <a:avLst/>
          </a:prstGeom>
        </p:spPr>
      </p:pic>
      <p:sp>
        <p:nvSpPr>
          <p:cNvPr id="21" name="Text 14"/>
          <p:cNvSpPr/>
          <p:nvPr/>
        </p:nvSpPr>
        <p:spPr>
          <a:xfrm>
            <a:off x="7196328" y="1645920"/>
            <a:ext cx="1490472" cy="256032"/>
          </a:xfrm>
          <a:prstGeom prst="rect">
            <a:avLst/>
          </a:prstGeom>
          <a:noFill/>
          <a:ln/>
        </p:spPr>
        <p:txBody>
          <a:bodyPr wrap="square" lIns="0" tIns="0" rIns="0" bIns="0" rtlCol="0" anchor="ctr"/>
          <a:lstStyle/>
          <a:p>
            <a:pPr indent="0" marL="0">
              <a:buNone/>
            </a:pPr>
            <a:r>
              <a:rPr lang="en-US" sz="1550" b="1" dirty="0">
                <a:solidFill>
                  <a:srgbClr val="1F2937"/>
                </a:solidFill>
              </a:rPr>
              <a:t>3. Commit clearly</a:t>
            </a:r>
            <a:endParaRPr lang="en-US" sz="1550" dirty="0"/>
          </a:p>
        </p:txBody>
      </p:sp>
      <p:sp>
        <p:nvSpPr>
          <p:cNvPr id="22" name="Text 15"/>
          <p:cNvSpPr/>
          <p:nvPr/>
        </p:nvSpPr>
        <p:spPr>
          <a:xfrm>
            <a:off x="7196328" y="1984248"/>
            <a:ext cx="1490472" cy="1600200"/>
          </a:xfrm>
          <a:prstGeom prst="rect">
            <a:avLst/>
          </a:prstGeom>
          <a:noFill/>
          <a:ln/>
        </p:spPr>
        <p:txBody>
          <a:bodyPr wrap="square" lIns="127" tIns="127" rIns="127" bIns="127" rtlCol="0" anchor="t">
            <a:normAutofit/>
          </a:bodyPr>
          <a:lstStyle/>
          <a:p>
            <a:pPr indent="0" marL="0">
              <a:buNone/>
            </a:pPr>
            <a:r>
              <a:rPr lang="en-US" sz="1120" dirty="0">
                <a:solidFill>
                  <a:srgbClr val="6B7280"/>
                </a:solidFill>
              </a:rPr>
              <a:t>Use meaningful messages for each change</a:t>
            </a:r>
            <a:endParaRPr lang="en-US" sz="1120" dirty="0"/>
          </a:p>
        </p:txBody>
      </p:sp>
      <p:pic>
        <p:nvPicPr>
          <p:cNvPr id="23"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8933688" y="2304288"/>
            <a:ext cx="292608" cy="292608"/>
          </a:xfrm>
          <a:prstGeom prst="rect">
            <a:avLst/>
          </a:prstGeom>
        </p:spPr>
      </p:pic>
      <p:sp>
        <p:nvSpPr>
          <p:cNvPr id="24" name="Shape 16"/>
          <p:cNvSpPr/>
          <p:nvPr/>
        </p:nvSpPr>
        <p:spPr>
          <a:xfrm>
            <a:off x="9189720" y="1417320"/>
            <a:ext cx="2542032" cy="2331720"/>
          </a:xfrm>
          <a:prstGeom prst="roundRect">
            <a:avLst>
              <a:gd name="adj" fmla="val 3137"/>
            </a:avLst>
          </a:prstGeom>
          <a:solidFill>
            <a:srgbClr val="FFFFFF"/>
          </a:solidFill>
          <a:ln w="12700">
            <a:solidFill>
              <a:srgbClr val="D8DEDF"/>
            </a:solidFill>
            <a:prstDash val="solid"/>
          </a:ln>
          <a:effectLst>
            <a:outerShdw sx="100000" sy="100000" kx="0" ky="0" algn="bl" rotWithShape="0" blurRad="19050" dist="50800" dir="2700000">
              <a:srgbClr val="C5CBCB">
                <a:alpha val="18000"/>
              </a:srgbClr>
            </a:outerShdw>
          </a:effectLst>
        </p:spPr>
      </p:sp>
      <p:sp>
        <p:nvSpPr>
          <p:cNvPr id="25" name="Text 17"/>
          <p:cNvSpPr/>
          <p:nvPr/>
        </p:nvSpPr>
        <p:spPr>
          <a:xfrm>
            <a:off x="9418320" y="1618488"/>
            <a:ext cx="2084832" cy="274320"/>
          </a:xfrm>
          <a:prstGeom prst="rect">
            <a:avLst/>
          </a:prstGeom>
          <a:noFill/>
          <a:ln/>
        </p:spPr>
        <p:txBody>
          <a:bodyPr wrap="square" lIns="0" tIns="0" rIns="0" bIns="0" rtlCol="0" anchor="ctr"/>
          <a:lstStyle/>
          <a:p>
            <a:pPr indent="0" marL="0">
              <a:buNone/>
            </a:pPr>
            <a:r>
              <a:rPr lang="en-US" sz="1550" b="1" dirty="0">
                <a:solidFill>
                  <a:srgbClr val="1F2937"/>
                </a:solidFill>
              </a:rPr>
              <a:t>4. Push &amp; review</a:t>
            </a:r>
            <a:endParaRPr lang="en-US" sz="1550" dirty="0"/>
          </a:p>
        </p:txBody>
      </p:sp>
      <p:sp>
        <p:nvSpPr>
          <p:cNvPr id="26" name="Text 18"/>
          <p:cNvSpPr/>
          <p:nvPr/>
        </p:nvSpPr>
        <p:spPr>
          <a:xfrm>
            <a:off x="9418320" y="1984248"/>
            <a:ext cx="2084832" cy="1600200"/>
          </a:xfrm>
          <a:prstGeom prst="rect">
            <a:avLst/>
          </a:prstGeom>
          <a:noFill/>
          <a:ln/>
        </p:spPr>
        <p:txBody>
          <a:bodyPr wrap="square" lIns="127" tIns="127" rIns="127" bIns="127" rtlCol="0" anchor="t">
            <a:normAutofit/>
          </a:bodyPr>
          <a:lstStyle/>
          <a:p>
            <a:pPr indent="0" marL="0">
              <a:buNone/>
            </a:pPr>
            <a:r>
              <a:rPr lang="en-US" sz="1120" dirty="0">
                <a:solidFill>
                  <a:srgbClr val="6B7280"/>
                </a:solidFill>
              </a:rPr>
              <a:t>Share progress and check before finalising</a:t>
            </a:r>
            <a:endParaRPr lang="en-US" sz="1120" dirty="0"/>
          </a:p>
        </p:txBody>
      </p:sp>
      <p:sp>
        <p:nvSpPr>
          <p:cNvPr id="27" name="Shape 19"/>
          <p:cNvSpPr/>
          <p:nvPr/>
        </p:nvSpPr>
        <p:spPr>
          <a:xfrm>
            <a:off x="868680" y="4160520"/>
            <a:ext cx="10424160" cy="1417320"/>
          </a:xfrm>
          <a:prstGeom prst="roundRect">
            <a:avLst>
              <a:gd name="adj" fmla="val 5161"/>
            </a:avLst>
          </a:prstGeom>
          <a:solidFill>
            <a:srgbClr val="DCE8EC"/>
          </a:solidFill>
          <a:ln w="12700">
            <a:solidFill>
              <a:srgbClr val="C4D5DB"/>
            </a:solidFill>
            <a:prstDash val="solid"/>
          </a:ln>
        </p:spPr>
      </p:sp>
      <p:sp>
        <p:nvSpPr>
          <p:cNvPr id="28" name="Text 20"/>
          <p:cNvSpPr/>
          <p:nvPr/>
        </p:nvSpPr>
        <p:spPr>
          <a:xfrm>
            <a:off x="1143000" y="4462272"/>
            <a:ext cx="2103120" cy="274320"/>
          </a:xfrm>
          <a:prstGeom prst="rect">
            <a:avLst/>
          </a:prstGeom>
          <a:noFill/>
          <a:ln/>
        </p:spPr>
        <p:txBody>
          <a:bodyPr wrap="square" lIns="0" tIns="0" rIns="0" bIns="0" rtlCol="0" anchor="ctr"/>
          <a:lstStyle/>
          <a:p>
            <a:pPr indent="0" marL="0">
              <a:buNone/>
            </a:pPr>
            <a:r>
              <a:rPr lang="en-US" sz="1650" b="1" dirty="0">
                <a:solidFill>
                  <a:srgbClr val="163A45"/>
                </a:solidFill>
              </a:rPr>
              <a:t>Repository evidence</a:t>
            </a:r>
            <a:endParaRPr lang="en-US" sz="1650" dirty="0"/>
          </a:p>
        </p:txBody>
      </p:sp>
      <p:sp>
        <p:nvSpPr>
          <p:cNvPr id="29" name="Text 21"/>
          <p:cNvSpPr/>
          <p:nvPr/>
        </p:nvSpPr>
        <p:spPr>
          <a:xfrm>
            <a:off x="3337560" y="4325112"/>
            <a:ext cx="5257800" cy="960120"/>
          </a:xfrm>
          <a:prstGeom prst="rect">
            <a:avLst/>
          </a:prstGeom>
          <a:noFill/>
          <a:ln/>
        </p:spPr>
        <p:txBody>
          <a:bodyPr wrap="square" lIns="508" tIns="508" rIns="508" bIns="508" rtlCol="0" anchor="t">
            <a:normAutofit/>
          </a:bodyPr>
          <a:lstStyle/>
          <a:p>
            <a:pPr marL="177800" indent="-177800">
              <a:buSzPct val="100000"/>
              <a:buChar char="•"/>
            </a:pPr>
            <a:r>
              <a:rPr lang="en-US" sz="1300" dirty="0">
                <a:solidFill>
                  <a:srgbClr val="1F2937"/>
                </a:solidFill>
                <a:latin typeface="Carlito" pitchFamily="34" charset="0"/>
                <a:ea typeface="Carlito" pitchFamily="34" charset="-122"/>
                <a:cs typeface="Carlito" pitchFamily="34" charset="-120"/>
              </a:rPr>
              <a:t>Database build / population file</a:t>
            </a:r>
            <a:endParaRPr lang="en-US" sz="1300" dirty="0"/>
          </a:p>
          <a:p>
            <a:pPr marL="177800" indent="-177800">
              <a:buSzPct val="100000"/>
              <a:buChar char="•"/>
            </a:pPr>
            <a:r>
              <a:rPr lang="en-US" sz="1300" dirty="0">
                <a:solidFill>
                  <a:srgbClr val="1F2937"/>
                </a:solidFill>
                <a:latin typeface="Carlito" pitchFamily="34" charset="0"/>
                <a:ea typeface="Carlito" pitchFamily="34" charset="-122"/>
                <a:cs typeface="Carlito" pitchFamily="34" charset="-120"/>
              </a:rPr>
              <a:t>Query file covering use cases and SQL skills</a:t>
            </a:r>
            <a:endParaRPr lang="en-US" sz="1300" dirty="0"/>
          </a:p>
          <a:p>
            <a:pPr marL="177800" indent="-177800">
              <a:buSzPct val="100000"/>
              <a:buChar char="•"/>
            </a:pPr>
            <a:r>
              <a:rPr lang="en-US" sz="1300" dirty="0">
                <a:solidFill>
                  <a:srgbClr val="1F2937"/>
                </a:solidFill>
                <a:latin typeface="Carlito" pitchFamily="34" charset="0"/>
                <a:ea typeface="Carlito" pitchFamily="34" charset="-122"/>
                <a:cs typeface="Carlito" pitchFamily="34" charset="-120"/>
              </a:rPr>
              <a:t>Final report / data dictionary / ERD</a:t>
            </a:r>
            <a:endParaRPr lang="en-US" sz="1300" dirty="0"/>
          </a:p>
        </p:txBody>
      </p:sp>
      <p:sp>
        <p:nvSpPr>
          <p:cNvPr id="30" name="Shape 22"/>
          <p:cNvSpPr/>
          <p:nvPr/>
        </p:nvSpPr>
        <p:spPr>
          <a:xfrm>
            <a:off x="8823960" y="4370832"/>
            <a:ext cx="2148840" cy="749808"/>
          </a:xfrm>
          <a:prstGeom prst="roundRect">
            <a:avLst>
              <a:gd name="adj" fmla="val 6098"/>
            </a:avLst>
          </a:prstGeom>
          <a:solidFill>
            <a:srgbClr val="FFFFFF"/>
          </a:solidFill>
          <a:ln w="12700">
            <a:solidFill>
              <a:srgbClr val="B7C2C5"/>
            </a:solidFill>
            <a:prstDash val="solid"/>
          </a:ln>
        </p:spPr>
      </p:sp>
      <p:sp>
        <p:nvSpPr>
          <p:cNvPr id="31" name="Text 23"/>
          <p:cNvSpPr/>
          <p:nvPr/>
        </p:nvSpPr>
        <p:spPr>
          <a:xfrm>
            <a:off x="9034272" y="4517136"/>
            <a:ext cx="1719072" cy="393192"/>
          </a:xfrm>
          <a:prstGeom prst="rect">
            <a:avLst/>
          </a:prstGeom>
          <a:noFill/>
          <a:ln/>
        </p:spPr>
        <p:txBody>
          <a:bodyPr wrap="square" lIns="0" tIns="0" rIns="0" bIns="0" rtlCol="0" anchor="ctr">
            <a:normAutofit/>
          </a:bodyPr>
          <a:lstStyle/>
          <a:p>
            <a:pPr algn="ctr" indent="0" marL="0">
              <a:buNone/>
            </a:pPr>
            <a:r>
              <a:rPr lang="en-US" sz="1050" dirty="0">
                <a:solidFill>
                  <a:srgbClr val="6B7280"/>
                </a:solidFill>
              </a:rPr>
              <a:t>Add your real GitHub</a:t>
            </a:r>
            <a:endParaRPr lang="en-US" sz="1050" dirty="0"/>
          </a:p>
          <a:p>
            <a:pPr algn="ctr" indent="0" marL="0">
              <a:buNone/>
            </a:pPr>
            <a:r>
              <a:rPr lang="en-US" sz="1050" dirty="0">
                <a:solidFill>
                  <a:srgbClr val="6B7280"/>
                </a:solidFill>
              </a:rPr>
              <a:t>commit screenshot here</a:t>
            </a:r>
            <a:endParaRPr lang="en-US" sz="1050" dirty="0"/>
          </a:p>
        </p:txBody>
      </p:sp>
      <p:sp>
        <p:nvSpPr>
          <p:cNvPr id="25" name="Slide Number Placeholder 0"/>
          <p:cNvSpPr>
            <a:spLocks noGrp="1"/>
          </p:cNvSpPr>
          <p:nvPr>
            <p:ph type="sldNum" sz="quarter" idx="4294967295"/>
          </p:nvPr>
        </p:nvSpPr>
        <p:spPr>
          <a:xfrm>
            <a:off x="11750040" y="649224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latin typeface="Carlito"/>
                <a:ea typeface="Carlito"/>
                <a:cs typeface="Carlito"/>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640080" y="411480"/>
            <a:ext cx="10698480" cy="438912"/>
          </a:xfrm>
          <a:prstGeom prst="rect">
            <a:avLst/>
          </a:prstGeom>
          <a:noFill/>
          <a:ln/>
        </p:spPr>
        <p:txBody>
          <a:bodyPr wrap="square" lIns="0" tIns="0" rIns="0" bIns="0" rtlCol="0" anchor="ctr"/>
          <a:lstStyle/>
          <a:p>
            <a:pPr indent="0" marL="0">
              <a:buNone/>
            </a:pPr>
            <a:r>
              <a:rPr lang="en-US" sz="2500" b="1" dirty="0">
                <a:solidFill>
                  <a:srgbClr val="163A45"/>
                </a:solidFill>
                <a:latin typeface="Carlito" pitchFamily="34" charset="0"/>
                <a:ea typeface="Carlito" pitchFamily="34" charset="-122"/>
                <a:cs typeface="Carlito" pitchFamily="34" charset="-120"/>
              </a:rPr>
              <a:t>Challenges</a:t>
            </a:r>
            <a:endParaRPr lang="en-US" sz="2500" dirty="0"/>
          </a:p>
        </p:txBody>
      </p:sp>
      <p:sp>
        <p:nvSpPr>
          <p:cNvPr id="3" name="Text 1"/>
          <p:cNvSpPr/>
          <p:nvPr/>
        </p:nvSpPr>
        <p:spPr>
          <a:xfrm>
            <a:off x="658368" y="877824"/>
            <a:ext cx="10789920" cy="310896"/>
          </a:xfrm>
          <a:prstGeom prst="rect">
            <a:avLst/>
          </a:prstGeom>
          <a:noFill/>
          <a:ln/>
        </p:spPr>
        <p:txBody>
          <a:bodyPr wrap="square" lIns="0" tIns="0" rIns="0" bIns="0" rtlCol="0" anchor="ctr"/>
          <a:lstStyle/>
          <a:p>
            <a:pPr indent="0" marL="0">
              <a:buNone/>
            </a:pPr>
            <a:r>
              <a:rPr lang="en-US" sz="1250" dirty="0">
                <a:solidFill>
                  <a:srgbClr val="6B7280"/>
                </a:solidFill>
                <a:latin typeface="Carlito" pitchFamily="34" charset="0"/>
                <a:ea typeface="Carlito" pitchFamily="34" charset="-122"/>
                <a:cs typeface="Carlito" pitchFamily="34" charset="-120"/>
              </a:rPr>
              <a:t>What was difficult — and how we responded</a:t>
            </a:r>
            <a:endParaRPr lang="en-US" sz="1250" dirty="0"/>
          </a:p>
        </p:txBody>
      </p:sp>
      <p:sp>
        <p:nvSpPr>
          <p:cNvPr id="4" name="Shape 2"/>
          <p:cNvSpPr/>
          <p:nvPr/>
        </p:nvSpPr>
        <p:spPr>
          <a:xfrm>
            <a:off x="9674352" y="457200"/>
            <a:ext cx="1810512" cy="347472"/>
          </a:xfrm>
          <a:prstGeom prst="roundRect">
            <a:avLst>
              <a:gd name="adj" fmla="val 15789"/>
            </a:avLst>
          </a:prstGeom>
          <a:solidFill>
            <a:srgbClr val="EEE2CD"/>
          </a:solidFill>
          <a:ln w="12700">
            <a:solidFill>
              <a:srgbClr val="EEE2CD"/>
            </a:solidFill>
            <a:prstDash val="solid"/>
          </a:ln>
        </p:spPr>
      </p:sp>
      <p:sp>
        <p:nvSpPr>
          <p:cNvPr id="5" name="Text 3"/>
          <p:cNvSpPr/>
          <p:nvPr/>
        </p:nvSpPr>
        <p:spPr>
          <a:xfrm>
            <a:off x="9747504" y="548640"/>
            <a:ext cx="1664208" cy="137160"/>
          </a:xfrm>
          <a:prstGeom prst="rect">
            <a:avLst/>
          </a:prstGeom>
          <a:noFill/>
          <a:ln/>
        </p:spPr>
        <p:txBody>
          <a:bodyPr wrap="square" lIns="0" tIns="0" rIns="0" bIns="0" rtlCol="0" anchor="ctr"/>
          <a:lstStyle/>
          <a:p>
            <a:pPr algn="ctr" indent="0" marL="0">
              <a:buNone/>
            </a:pPr>
            <a:r>
              <a:rPr lang="en-US" sz="970" b="1" dirty="0">
                <a:solidFill>
                  <a:srgbClr val="163A45"/>
                </a:solidFill>
              </a:rPr>
              <a:t>Speaker: Harshdeep</a:t>
            </a:r>
            <a:endParaRPr lang="en-US" sz="970" dirty="0"/>
          </a:p>
        </p:txBody>
      </p:sp>
      <p:sp>
        <p:nvSpPr>
          <p:cNvPr id="6" name="Shape 4"/>
          <p:cNvSpPr/>
          <p:nvPr/>
        </p:nvSpPr>
        <p:spPr>
          <a:xfrm>
            <a:off x="685800" y="1371600"/>
            <a:ext cx="5349240" cy="1965960"/>
          </a:xfrm>
          <a:prstGeom prst="roundRect">
            <a:avLst>
              <a:gd name="adj" fmla="val 3721"/>
            </a:avLst>
          </a:prstGeom>
          <a:solidFill>
            <a:srgbClr val="FFFFFF"/>
          </a:solidFill>
          <a:ln w="12700">
            <a:solidFill>
              <a:srgbClr val="D5DDDE"/>
            </a:solidFill>
            <a:prstDash val="solid"/>
          </a:ln>
          <a:effectLst>
            <a:outerShdw sx="100000" sy="100000" kx="0" ky="0" algn="bl" rotWithShape="0" blurRad="12700" dist="50800" dir="2700000">
              <a:srgbClr val="C5CBCB">
                <a:alpha val="12000"/>
              </a:srgbClr>
            </a:outerShdw>
          </a:effectLst>
        </p:spPr>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60120" y="1682496"/>
            <a:ext cx="475488" cy="475488"/>
          </a:xfrm>
          <a:prstGeom prst="rect">
            <a:avLst/>
          </a:prstGeom>
        </p:spPr>
      </p:pic>
      <p:sp>
        <p:nvSpPr>
          <p:cNvPr id="8" name="Text 5"/>
          <p:cNvSpPr/>
          <p:nvPr/>
        </p:nvSpPr>
        <p:spPr>
          <a:xfrm>
            <a:off x="1581912" y="1600200"/>
            <a:ext cx="2011680" cy="274320"/>
          </a:xfrm>
          <a:prstGeom prst="rect">
            <a:avLst/>
          </a:prstGeom>
          <a:noFill/>
          <a:ln/>
        </p:spPr>
        <p:txBody>
          <a:bodyPr wrap="square" lIns="0" tIns="0" rIns="0" bIns="0" rtlCol="0" anchor="ctr"/>
          <a:lstStyle/>
          <a:p>
            <a:pPr indent="0" marL="0">
              <a:buNone/>
            </a:pPr>
            <a:r>
              <a:rPr lang="en-US" sz="1600" b="1" dirty="0">
                <a:solidFill>
                  <a:srgbClr val="1F2937"/>
                </a:solidFill>
              </a:rPr>
              <a:t>Scope control</a:t>
            </a:r>
            <a:endParaRPr lang="en-US" sz="1600" dirty="0"/>
          </a:p>
        </p:txBody>
      </p:sp>
      <p:sp>
        <p:nvSpPr>
          <p:cNvPr id="9" name="Text 6"/>
          <p:cNvSpPr/>
          <p:nvPr/>
        </p:nvSpPr>
        <p:spPr>
          <a:xfrm>
            <a:off x="1581912" y="1975104"/>
            <a:ext cx="777240" cy="182880"/>
          </a:xfrm>
          <a:prstGeom prst="rect">
            <a:avLst/>
          </a:prstGeom>
          <a:noFill/>
          <a:ln/>
        </p:spPr>
        <p:txBody>
          <a:bodyPr wrap="square" lIns="0" tIns="0" rIns="0" bIns="0" rtlCol="0" anchor="ctr"/>
          <a:lstStyle/>
          <a:p>
            <a:pPr indent="0" marL="0">
              <a:buNone/>
            </a:pPr>
            <a:r>
              <a:rPr lang="en-US" sz="950" b="1" dirty="0">
                <a:solidFill>
                  <a:srgbClr val="C96F47"/>
                </a:solidFill>
              </a:rPr>
              <a:t>Challenge</a:t>
            </a:r>
            <a:endParaRPr lang="en-US" sz="950" dirty="0"/>
          </a:p>
        </p:txBody>
      </p:sp>
      <p:sp>
        <p:nvSpPr>
          <p:cNvPr id="10" name="Text 7"/>
          <p:cNvSpPr/>
          <p:nvPr/>
        </p:nvSpPr>
        <p:spPr>
          <a:xfrm>
            <a:off x="2350008" y="1929384"/>
            <a:ext cx="3310128" cy="457200"/>
          </a:xfrm>
          <a:prstGeom prst="rect">
            <a:avLst/>
          </a:prstGeom>
          <a:noFill/>
          <a:ln/>
        </p:spPr>
        <p:txBody>
          <a:bodyPr wrap="square" lIns="0" tIns="0" rIns="0" bIns="0" rtlCol="0" anchor="ctr">
            <a:normAutofit/>
          </a:bodyPr>
          <a:lstStyle/>
          <a:p>
            <a:pPr indent="0" marL="0">
              <a:buNone/>
            </a:pPr>
            <a:r>
              <a:rPr lang="en-US" sz="1120" dirty="0">
                <a:solidFill>
                  <a:srgbClr val="6B7280"/>
                </a:solidFill>
              </a:rPr>
              <a:t>Real estate operations contain too much data for one small project.</a:t>
            </a:r>
            <a:endParaRPr lang="en-US" sz="1120" dirty="0"/>
          </a:p>
        </p:txBody>
      </p:sp>
      <p:sp>
        <p:nvSpPr>
          <p:cNvPr id="11" name="Text 8"/>
          <p:cNvSpPr/>
          <p:nvPr/>
        </p:nvSpPr>
        <p:spPr>
          <a:xfrm>
            <a:off x="1581912" y="2560320"/>
            <a:ext cx="777240" cy="182880"/>
          </a:xfrm>
          <a:prstGeom prst="rect">
            <a:avLst/>
          </a:prstGeom>
          <a:noFill/>
          <a:ln/>
        </p:spPr>
        <p:txBody>
          <a:bodyPr wrap="square" lIns="0" tIns="0" rIns="0" bIns="0" rtlCol="0" anchor="ctr"/>
          <a:lstStyle/>
          <a:p>
            <a:pPr indent="0" marL="0">
              <a:buNone/>
            </a:pPr>
            <a:r>
              <a:rPr lang="en-US" sz="950" b="1" dirty="0">
                <a:solidFill>
                  <a:srgbClr val="1F5A5A"/>
                </a:solidFill>
              </a:rPr>
              <a:t>Response</a:t>
            </a:r>
            <a:endParaRPr lang="en-US" sz="950" dirty="0"/>
          </a:p>
        </p:txBody>
      </p:sp>
      <p:sp>
        <p:nvSpPr>
          <p:cNvPr id="12" name="Text 9"/>
          <p:cNvSpPr/>
          <p:nvPr/>
        </p:nvSpPr>
        <p:spPr>
          <a:xfrm>
            <a:off x="2350008" y="2496312"/>
            <a:ext cx="3310128" cy="594360"/>
          </a:xfrm>
          <a:prstGeom prst="rect">
            <a:avLst/>
          </a:prstGeom>
          <a:noFill/>
          <a:ln/>
        </p:spPr>
        <p:txBody>
          <a:bodyPr wrap="square" lIns="0" tIns="0" rIns="0" bIns="0" rtlCol="0" anchor="ctr">
            <a:normAutofit/>
          </a:bodyPr>
          <a:lstStyle/>
          <a:p>
            <a:pPr indent="0" marL="0">
              <a:buNone/>
            </a:pPr>
            <a:r>
              <a:rPr lang="en-US" sz="1120" b="1" dirty="0">
                <a:solidFill>
                  <a:srgbClr val="1F2937"/>
                </a:solidFill>
              </a:rPr>
              <a:t>Reduced the scope to seven core entities and excluded physical/unstructured items.</a:t>
            </a:r>
            <a:endParaRPr lang="en-US" sz="1120" dirty="0"/>
          </a:p>
        </p:txBody>
      </p:sp>
      <p:sp>
        <p:nvSpPr>
          <p:cNvPr id="13" name="Shape 10"/>
          <p:cNvSpPr/>
          <p:nvPr/>
        </p:nvSpPr>
        <p:spPr>
          <a:xfrm>
            <a:off x="6172200" y="1371600"/>
            <a:ext cx="5349240" cy="1965960"/>
          </a:xfrm>
          <a:prstGeom prst="roundRect">
            <a:avLst>
              <a:gd name="adj" fmla="val 3721"/>
            </a:avLst>
          </a:prstGeom>
          <a:solidFill>
            <a:srgbClr val="FFFFFF"/>
          </a:solidFill>
          <a:ln w="12700">
            <a:solidFill>
              <a:srgbClr val="D5DDDE"/>
            </a:solidFill>
            <a:prstDash val="solid"/>
          </a:ln>
          <a:effectLst>
            <a:outerShdw sx="100000" sy="100000" kx="0" ky="0" algn="bl" rotWithShape="0" blurRad="12700" dist="50800" dir="2700000">
              <a:srgbClr val="C5CBCB">
                <a:alpha val="12000"/>
              </a:srgbClr>
            </a:outerShdw>
          </a:effectLst>
        </p:spPr>
      </p:sp>
      <p:pic>
        <p:nvPicPr>
          <p:cNvPr id="14"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446520" y="1682496"/>
            <a:ext cx="475488" cy="475488"/>
          </a:xfrm>
          <a:prstGeom prst="rect">
            <a:avLst/>
          </a:prstGeom>
        </p:spPr>
      </p:pic>
      <p:sp>
        <p:nvSpPr>
          <p:cNvPr id="15" name="Text 11"/>
          <p:cNvSpPr/>
          <p:nvPr/>
        </p:nvSpPr>
        <p:spPr>
          <a:xfrm>
            <a:off x="7068312" y="1600200"/>
            <a:ext cx="2011680" cy="274320"/>
          </a:xfrm>
          <a:prstGeom prst="rect">
            <a:avLst/>
          </a:prstGeom>
          <a:noFill/>
          <a:ln/>
        </p:spPr>
        <p:txBody>
          <a:bodyPr wrap="square" lIns="0" tIns="0" rIns="0" bIns="0" rtlCol="0" anchor="ctr"/>
          <a:lstStyle/>
          <a:p>
            <a:pPr indent="0" marL="0">
              <a:buNone/>
            </a:pPr>
            <a:r>
              <a:rPr lang="en-US" sz="1600" b="1" dirty="0">
                <a:solidFill>
                  <a:srgbClr val="1F2937"/>
                </a:solidFill>
              </a:rPr>
              <a:t>Relationships</a:t>
            </a:r>
            <a:endParaRPr lang="en-US" sz="1600" dirty="0"/>
          </a:p>
        </p:txBody>
      </p:sp>
      <p:sp>
        <p:nvSpPr>
          <p:cNvPr id="16" name="Text 12"/>
          <p:cNvSpPr/>
          <p:nvPr/>
        </p:nvSpPr>
        <p:spPr>
          <a:xfrm>
            <a:off x="7068312" y="1975104"/>
            <a:ext cx="777240" cy="182880"/>
          </a:xfrm>
          <a:prstGeom prst="rect">
            <a:avLst/>
          </a:prstGeom>
          <a:noFill/>
          <a:ln/>
        </p:spPr>
        <p:txBody>
          <a:bodyPr wrap="square" lIns="0" tIns="0" rIns="0" bIns="0" rtlCol="0" anchor="ctr"/>
          <a:lstStyle/>
          <a:p>
            <a:pPr indent="0" marL="0">
              <a:buNone/>
            </a:pPr>
            <a:r>
              <a:rPr lang="en-US" sz="950" b="1" dirty="0">
                <a:solidFill>
                  <a:srgbClr val="C96F47"/>
                </a:solidFill>
              </a:rPr>
              <a:t>Challenge</a:t>
            </a:r>
            <a:endParaRPr lang="en-US" sz="950" dirty="0"/>
          </a:p>
        </p:txBody>
      </p:sp>
      <p:sp>
        <p:nvSpPr>
          <p:cNvPr id="17" name="Text 13"/>
          <p:cNvSpPr/>
          <p:nvPr/>
        </p:nvSpPr>
        <p:spPr>
          <a:xfrm>
            <a:off x="7836408" y="1929384"/>
            <a:ext cx="3310128" cy="457200"/>
          </a:xfrm>
          <a:prstGeom prst="rect">
            <a:avLst/>
          </a:prstGeom>
          <a:noFill/>
          <a:ln/>
        </p:spPr>
        <p:txBody>
          <a:bodyPr wrap="square" lIns="0" tIns="0" rIns="0" bIns="0" rtlCol="0" anchor="ctr">
            <a:normAutofit/>
          </a:bodyPr>
          <a:lstStyle/>
          <a:p>
            <a:pPr indent="0" marL="0">
              <a:buNone/>
            </a:pPr>
            <a:r>
              <a:rPr lang="en-US" sz="1120" dirty="0">
                <a:solidFill>
                  <a:srgbClr val="6B7280"/>
                </a:solidFill>
              </a:rPr>
              <a:t>Buyer–property interactions can become many-to-many and confusing.</a:t>
            </a:r>
            <a:endParaRPr lang="en-US" sz="1120" dirty="0"/>
          </a:p>
        </p:txBody>
      </p:sp>
      <p:sp>
        <p:nvSpPr>
          <p:cNvPr id="18" name="Text 14"/>
          <p:cNvSpPr/>
          <p:nvPr/>
        </p:nvSpPr>
        <p:spPr>
          <a:xfrm>
            <a:off x="7068312" y="2560320"/>
            <a:ext cx="777240" cy="182880"/>
          </a:xfrm>
          <a:prstGeom prst="rect">
            <a:avLst/>
          </a:prstGeom>
          <a:noFill/>
          <a:ln/>
        </p:spPr>
        <p:txBody>
          <a:bodyPr wrap="square" lIns="0" tIns="0" rIns="0" bIns="0" rtlCol="0" anchor="ctr"/>
          <a:lstStyle/>
          <a:p>
            <a:pPr indent="0" marL="0">
              <a:buNone/>
            </a:pPr>
            <a:r>
              <a:rPr lang="en-US" sz="950" b="1" dirty="0">
                <a:solidFill>
                  <a:srgbClr val="1F5A5A"/>
                </a:solidFill>
              </a:rPr>
              <a:t>Response</a:t>
            </a:r>
            <a:endParaRPr lang="en-US" sz="950" dirty="0"/>
          </a:p>
        </p:txBody>
      </p:sp>
      <p:sp>
        <p:nvSpPr>
          <p:cNvPr id="19" name="Text 15"/>
          <p:cNvSpPr/>
          <p:nvPr/>
        </p:nvSpPr>
        <p:spPr>
          <a:xfrm>
            <a:off x="7836408" y="2496312"/>
            <a:ext cx="3310128" cy="594360"/>
          </a:xfrm>
          <a:prstGeom prst="rect">
            <a:avLst/>
          </a:prstGeom>
          <a:noFill/>
          <a:ln/>
        </p:spPr>
        <p:txBody>
          <a:bodyPr wrap="square" lIns="0" tIns="0" rIns="0" bIns="0" rtlCol="0" anchor="ctr">
            <a:normAutofit/>
          </a:bodyPr>
          <a:lstStyle/>
          <a:p>
            <a:pPr indent="0" marL="0">
              <a:buNone/>
            </a:pPr>
            <a:r>
              <a:rPr lang="en-US" sz="1120" b="1" dirty="0">
                <a:solidFill>
                  <a:srgbClr val="1F2937"/>
                </a:solidFill>
              </a:rPr>
              <a:t>Used VIEWING as an associative record and foreign keys to keep links clear.</a:t>
            </a:r>
            <a:endParaRPr lang="en-US" sz="1120" dirty="0"/>
          </a:p>
        </p:txBody>
      </p:sp>
      <p:sp>
        <p:nvSpPr>
          <p:cNvPr id="20" name="Shape 16"/>
          <p:cNvSpPr/>
          <p:nvPr/>
        </p:nvSpPr>
        <p:spPr>
          <a:xfrm>
            <a:off x="685800" y="3703320"/>
            <a:ext cx="5349240" cy="1965960"/>
          </a:xfrm>
          <a:prstGeom prst="roundRect">
            <a:avLst>
              <a:gd name="adj" fmla="val 3721"/>
            </a:avLst>
          </a:prstGeom>
          <a:solidFill>
            <a:srgbClr val="FFFFFF"/>
          </a:solidFill>
          <a:ln w="12700">
            <a:solidFill>
              <a:srgbClr val="D5DDDE"/>
            </a:solidFill>
            <a:prstDash val="solid"/>
          </a:ln>
          <a:effectLst>
            <a:outerShdw sx="100000" sy="100000" kx="0" ky="0" algn="bl" rotWithShape="0" blurRad="12700" dist="50800" dir="2700000">
              <a:srgbClr val="C5CBCB">
                <a:alpha val="12000"/>
              </a:srgbClr>
            </a:outerShdw>
          </a:effectLst>
        </p:spPr>
      </p:sp>
      <p:pic>
        <p:nvPicPr>
          <p:cNvPr id="21"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60120" y="4014216"/>
            <a:ext cx="475488" cy="475488"/>
          </a:xfrm>
          <a:prstGeom prst="rect">
            <a:avLst/>
          </a:prstGeom>
        </p:spPr>
      </p:pic>
      <p:sp>
        <p:nvSpPr>
          <p:cNvPr id="22" name="Text 17"/>
          <p:cNvSpPr/>
          <p:nvPr/>
        </p:nvSpPr>
        <p:spPr>
          <a:xfrm>
            <a:off x="1581912" y="3931920"/>
            <a:ext cx="2011680" cy="274320"/>
          </a:xfrm>
          <a:prstGeom prst="rect">
            <a:avLst/>
          </a:prstGeom>
          <a:noFill/>
          <a:ln/>
        </p:spPr>
        <p:txBody>
          <a:bodyPr wrap="square" lIns="0" tIns="0" rIns="0" bIns="0" rtlCol="0" anchor="ctr"/>
          <a:lstStyle/>
          <a:p>
            <a:pPr indent="0" marL="0">
              <a:buNone/>
            </a:pPr>
            <a:r>
              <a:rPr lang="en-US" sz="1600" b="1" dirty="0">
                <a:solidFill>
                  <a:srgbClr val="1F2937"/>
                </a:solidFill>
              </a:rPr>
              <a:t>Data integrity</a:t>
            </a:r>
            <a:endParaRPr lang="en-US" sz="1600" dirty="0"/>
          </a:p>
        </p:txBody>
      </p:sp>
      <p:sp>
        <p:nvSpPr>
          <p:cNvPr id="23" name="Text 18"/>
          <p:cNvSpPr/>
          <p:nvPr/>
        </p:nvSpPr>
        <p:spPr>
          <a:xfrm>
            <a:off x="1581912" y="4306824"/>
            <a:ext cx="777240" cy="182880"/>
          </a:xfrm>
          <a:prstGeom prst="rect">
            <a:avLst/>
          </a:prstGeom>
          <a:noFill/>
          <a:ln/>
        </p:spPr>
        <p:txBody>
          <a:bodyPr wrap="square" lIns="0" tIns="0" rIns="0" bIns="0" rtlCol="0" anchor="ctr"/>
          <a:lstStyle/>
          <a:p>
            <a:pPr indent="0" marL="0">
              <a:buNone/>
            </a:pPr>
            <a:r>
              <a:rPr lang="en-US" sz="950" b="1" dirty="0">
                <a:solidFill>
                  <a:srgbClr val="C96F47"/>
                </a:solidFill>
              </a:rPr>
              <a:t>Challenge</a:t>
            </a:r>
            <a:endParaRPr lang="en-US" sz="950" dirty="0"/>
          </a:p>
        </p:txBody>
      </p:sp>
      <p:sp>
        <p:nvSpPr>
          <p:cNvPr id="24" name="Text 19"/>
          <p:cNvSpPr/>
          <p:nvPr/>
        </p:nvSpPr>
        <p:spPr>
          <a:xfrm>
            <a:off x="2350008" y="4261104"/>
            <a:ext cx="3310128" cy="457200"/>
          </a:xfrm>
          <a:prstGeom prst="rect">
            <a:avLst/>
          </a:prstGeom>
          <a:noFill/>
          <a:ln/>
        </p:spPr>
        <p:txBody>
          <a:bodyPr wrap="square" lIns="0" tIns="0" rIns="0" bIns="0" rtlCol="0" anchor="ctr">
            <a:normAutofit/>
          </a:bodyPr>
          <a:lstStyle/>
          <a:p>
            <a:pPr indent="0" marL="0">
              <a:buNone/>
            </a:pPr>
            <a:r>
              <a:rPr lang="en-US" sz="1120" dirty="0">
                <a:solidFill>
                  <a:srgbClr val="6B7280"/>
                </a:solidFill>
              </a:rPr>
              <a:t>Invalid prices, budgets or duplicate sales could damage reliability.</a:t>
            </a:r>
            <a:endParaRPr lang="en-US" sz="1120" dirty="0"/>
          </a:p>
        </p:txBody>
      </p:sp>
      <p:sp>
        <p:nvSpPr>
          <p:cNvPr id="25" name="Text 20"/>
          <p:cNvSpPr/>
          <p:nvPr/>
        </p:nvSpPr>
        <p:spPr>
          <a:xfrm>
            <a:off x="1581912" y="4892040"/>
            <a:ext cx="777240" cy="182880"/>
          </a:xfrm>
          <a:prstGeom prst="rect">
            <a:avLst/>
          </a:prstGeom>
          <a:noFill/>
          <a:ln/>
        </p:spPr>
        <p:txBody>
          <a:bodyPr wrap="square" lIns="0" tIns="0" rIns="0" bIns="0" rtlCol="0" anchor="ctr"/>
          <a:lstStyle/>
          <a:p>
            <a:pPr indent="0" marL="0">
              <a:buNone/>
            </a:pPr>
            <a:r>
              <a:rPr lang="en-US" sz="950" b="1" dirty="0">
                <a:solidFill>
                  <a:srgbClr val="1F5A5A"/>
                </a:solidFill>
              </a:rPr>
              <a:t>Response</a:t>
            </a:r>
            <a:endParaRPr lang="en-US" sz="950" dirty="0"/>
          </a:p>
        </p:txBody>
      </p:sp>
      <p:sp>
        <p:nvSpPr>
          <p:cNvPr id="26" name="Text 21"/>
          <p:cNvSpPr/>
          <p:nvPr/>
        </p:nvSpPr>
        <p:spPr>
          <a:xfrm>
            <a:off x="2350008" y="4828032"/>
            <a:ext cx="3310128" cy="594360"/>
          </a:xfrm>
          <a:prstGeom prst="rect">
            <a:avLst/>
          </a:prstGeom>
          <a:noFill/>
          <a:ln/>
        </p:spPr>
        <p:txBody>
          <a:bodyPr wrap="square" lIns="0" tIns="0" rIns="0" bIns="0" rtlCol="0" anchor="ctr">
            <a:normAutofit/>
          </a:bodyPr>
          <a:lstStyle/>
          <a:p>
            <a:pPr indent="0" marL="0">
              <a:buNone/>
            </a:pPr>
            <a:r>
              <a:rPr lang="en-US" sz="1120" b="1" dirty="0">
                <a:solidFill>
                  <a:srgbClr val="1F2937"/>
                </a:solidFill>
              </a:rPr>
              <a:t>Added PKs, FKs, UNIQUE, NOT NULL, DEFAULT and CHECK constraints.</a:t>
            </a:r>
            <a:endParaRPr lang="en-US" sz="1120" dirty="0"/>
          </a:p>
        </p:txBody>
      </p:sp>
      <p:sp>
        <p:nvSpPr>
          <p:cNvPr id="27" name="Shape 22"/>
          <p:cNvSpPr/>
          <p:nvPr/>
        </p:nvSpPr>
        <p:spPr>
          <a:xfrm>
            <a:off x="6172200" y="3703320"/>
            <a:ext cx="5349240" cy="1965960"/>
          </a:xfrm>
          <a:prstGeom prst="roundRect">
            <a:avLst>
              <a:gd name="adj" fmla="val 3721"/>
            </a:avLst>
          </a:prstGeom>
          <a:solidFill>
            <a:srgbClr val="FFFFFF"/>
          </a:solidFill>
          <a:ln w="12700">
            <a:solidFill>
              <a:srgbClr val="D5DDDE"/>
            </a:solidFill>
            <a:prstDash val="solid"/>
          </a:ln>
          <a:effectLst>
            <a:outerShdw sx="100000" sy="100000" kx="0" ky="0" algn="bl" rotWithShape="0" blurRad="12700" dist="50800" dir="2700000">
              <a:srgbClr val="C5CBCB">
                <a:alpha val="12000"/>
              </a:srgbClr>
            </a:outerShdw>
          </a:effectLst>
        </p:spPr>
      </p:sp>
      <p:pic>
        <p:nvPicPr>
          <p:cNvPr id="28"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446520" y="4014216"/>
            <a:ext cx="475488" cy="475488"/>
          </a:xfrm>
          <a:prstGeom prst="rect">
            <a:avLst/>
          </a:prstGeom>
        </p:spPr>
      </p:pic>
      <p:sp>
        <p:nvSpPr>
          <p:cNvPr id="29" name="Text 23"/>
          <p:cNvSpPr/>
          <p:nvPr/>
        </p:nvSpPr>
        <p:spPr>
          <a:xfrm>
            <a:off x="7068312" y="3931920"/>
            <a:ext cx="2011680" cy="274320"/>
          </a:xfrm>
          <a:prstGeom prst="rect">
            <a:avLst/>
          </a:prstGeom>
          <a:noFill/>
          <a:ln/>
        </p:spPr>
        <p:txBody>
          <a:bodyPr wrap="square" lIns="0" tIns="0" rIns="0" bIns="0" rtlCol="0" anchor="ctr"/>
          <a:lstStyle/>
          <a:p>
            <a:pPr indent="0" marL="0">
              <a:buNone/>
            </a:pPr>
            <a:r>
              <a:rPr lang="en-US" sz="1600" b="1" dirty="0">
                <a:solidFill>
                  <a:srgbClr val="1F2937"/>
                </a:solidFill>
              </a:rPr>
              <a:t>Team versions</a:t>
            </a:r>
            <a:endParaRPr lang="en-US" sz="1600" dirty="0"/>
          </a:p>
        </p:txBody>
      </p:sp>
      <p:sp>
        <p:nvSpPr>
          <p:cNvPr id="30" name="Text 24"/>
          <p:cNvSpPr/>
          <p:nvPr/>
        </p:nvSpPr>
        <p:spPr>
          <a:xfrm>
            <a:off x="7068312" y="4306824"/>
            <a:ext cx="777240" cy="182880"/>
          </a:xfrm>
          <a:prstGeom prst="rect">
            <a:avLst/>
          </a:prstGeom>
          <a:noFill/>
          <a:ln/>
        </p:spPr>
        <p:txBody>
          <a:bodyPr wrap="square" lIns="0" tIns="0" rIns="0" bIns="0" rtlCol="0" anchor="ctr"/>
          <a:lstStyle/>
          <a:p>
            <a:pPr indent="0" marL="0">
              <a:buNone/>
            </a:pPr>
            <a:r>
              <a:rPr lang="en-US" sz="950" b="1" dirty="0">
                <a:solidFill>
                  <a:srgbClr val="C96F47"/>
                </a:solidFill>
              </a:rPr>
              <a:t>Challenge</a:t>
            </a:r>
            <a:endParaRPr lang="en-US" sz="950" dirty="0"/>
          </a:p>
        </p:txBody>
      </p:sp>
      <p:sp>
        <p:nvSpPr>
          <p:cNvPr id="31" name="Text 25"/>
          <p:cNvSpPr/>
          <p:nvPr/>
        </p:nvSpPr>
        <p:spPr>
          <a:xfrm>
            <a:off x="7836408" y="4261104"/>
            <a:ext cx="3310128" cy="457200"/>
          </a:xfrm>
          <a:prstGeom prst="rect">
            <a:avLst/>
          </a:prstGeom>
          <a:noFill/>
          <a:ln/>
        </p:spPr>
        <p:txBody>
          <a:bodyPr wrap="square" lIns="0" tIns="0" rIns="0" bIns="0" rtlCol="0" anchor="ctr">
            <a:normAutofit/>
          </a:bodyPr>
          <a:lstStyle/>
          <a:p>
            <a:pPr indent="0" marL="0">
              <a:buNone/>
            </a:pPr>
            <a:r>
              <a:rPr lang="en-US" sz="1120" dirty="0">
                <a:solidFill>
                  <a:srgbClr val="6B7280"/>
                </a:solidFill>
              </a:rPr>
              <a:t>Different file versions can create merge or submission problems.</a:t>
            </a:r>
            <a:endParaRPr lang="en-US" sz="1120" dirty="0"/>
          </a:p>
        </p:txBody>
      </p:sp>
      <p:sp>
        <p:nvSpPr>
          <p:cNvPr id="32" name="Text 26"/>
          <p:cNvSpPr/>
          <p:nvPr/>
        </p:nvSpPr>
        <p:spPr>
          <a:xfrm>
            <a:off x="7068312" y="4892040"/>
            <a:ext cx="777240" cy="182880"/>
          </a:xfrm>
          <a:prstGeom prst="rect">
            <a:avLst/>
          </a:prstGeom>
          <a:noFill/>
          <a:ln/>
        </p:spPr>
        <p:txBody>
          <a:bodyPr wrap="square" lIns="0" tIns="0" rIns="0" bIns="0" rtlCol="0" anchor="ctr"/>
          <a:lstStyle/>
          <a:p>
            <a:pPr indent="0" marL="0">
              <a:buNone/>
            </a:pPr>
            <a:r>
              <a:rPr lang="en-US" sz="950" b="1" dirty="0">
                <a:solidFill>
                  <a:srgbClr val="1F5A5A"/>
                </a:solidFill>
              </a:rPr>
              <a:t>Response</a:t>
            </a:r>
            <a:endParaRPr lang="en-US" sz="950" dirty="0"/>
          </a:p>
        </p:txBody>
      </p:sp>
      <p:sp>
        <p:nvSpPr>
          <p:cNvPr id="33" name="Text 27"/>
          <p:cNvSpPr/>
          <p:nvPr/>
        </p:nvSpPr>
        <p:spPr>
          <a:xfrm>
            <a:off x="7836408" y="4828032"/>
            <a:ext cx="3310128" cy="594360"/>
          </a:xfrm>
          <a:prstGeom prst="rect">
            <a:avLst/>
          </a:prstGeom>
          <a:noFill/>
          <a:ln/>
        </p:spPr>
        <p:txBody>
          <a:bodyPr wrap="square" lIns="0" tIns="0" rIns="0" bIns="0" rtlCol="0" anchor="ctr">
            <a:normAutofit/>
          </a:bodyPr>
          <a:lstStyle/>
          <a:p>
            <a:pPr indent="0" marL="0">
              <a:buNone/>
            </a:pPr>
            <a:r>
              <a:rPr lang="en-US" sz="1120" b="1" dirty="0">
                <a:solidFill>
                  <a:srgbClr val="1F2937"/>
                </a:solidFill>
              </a:rPr>
              <a:t>Used GitHub and clear commits so everyone could work from the current version.</a:t>
            </a:r>
            <a:endParaRPr lang="en-US" sz="1120" dirty="0"/>
          </a:p>
        </p:txBody>
      </p:sp>
      <p:sp>
        <p:nvSpPr>
          <p:cNvPr id="25" name="Slide Number Placeholder 0"/>
          <p:cNvSpPr>
            <a:spLocks noGrp="1"/>
          </p:cNvSpPr>
          <p:nvPr>
            <p:ph type="sldNum" sz="quarter" idx="4294967295"/>
          </p:nvPr>
        </p:nvSpPr>
        <p:spPr>
          <a:xfrm>
            <a:off x="11750040" y="649224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latin typeface="Carlito"/>
                <a:ea typeface="Carlito"/>
                <a:cs typeface="Carlito"/>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640080" y="411480"/>
            <a:ext cx="10698480" cy="438912"/>
          </a:xfrm>
          <a:prstGeom prst="rect">
            <a:avLst/>
          </a:prstGeom>
          <a:noFill/>
          <a:ln/>
        </p:spPr>
        <p:txBody>
          <a:bodyPr wrap="square" lIns="0" tIns="0" rIns="0" bIns="0" rtlCol="0" anchor="ctr"/>
          <a:lstStyle/>
          <a:p>
            <a:pPr indent="0" marL="0">
              <a:buNone/>
            </a:pPr>
            <a:r>
              <a:rPr lang="en-US" sz="2500" b="1" dirty="0">
                <a:solidFill>
                  <a:srgbClr val="163A45"/>
                </a:solidFill>
                <a:latin typeface="Carlito" pitchFamily="34" charset="0"/>
                <a:ea typeface="Carlito" pitchFamily="34" charset="-122"/>
                <a:cs typeface="Carlito" pitchFamily="34" charset="-120"/>
              </a:rPr>
              <a:t>Conclusion</a:t>
            </a:r>
            <a:endParaRPr lang="en-US" sz="2500" dirty="0"/>
          </a:p>
        </p:txBody>
      </p:sp>
      <p:sp>
        <p:nvSpPr>
          <p:cNvPr id="3" name="Text 1"/>
          <p:cNvSpPr/>
          <p:nvPr/>
        </p:nvSpPr>
        <p:spPr>
          <a:xfrm>
            <a:off x="658368" y="877824"/>
            <a:ext cx="10789920" cy="310896"/>
          </a:xfrm>
          <a:prstGeom prst="rect">
            <a:avLst/>
          </a:prstGeom>
          <a:noFill/>
          <a:ln/>
        </p:spPr>
        <p:txBody>
          <a:bodyPr wrap="square" lIns="0" tIns="0" rIns="0" bIns="0" rtlCol="0" anchor="ctr"/>
          <a:lstStyle/>
          <a:p>
            <a:pPr indent="0" marL="0">
              <a:buNone/>
            </a:pPr>
            <a:r>
              <a:rPr lang="en-US" sz="1250" dirty="0">
                <a:solidFill>
                  <a:srgbClr val="6B7280"/>
                </a:solidFill>
                <a:latin typeface="Carlito" pitchFamily="34" charset="0"/>
                <a:ea typeface="Carlito" pitchFamily="34" charset="-122"/>
                <a:cs typeface="Carlito" pitchFamily="34" charset="-120"/>
              </a:rPr>
              <a:t>What the project demonstrates</a:t>
            </a:r>
            <a:endParaRPr lang="en-US" sz="1250" dirty="0"/>
          </a:p>
        </p:txBody>
      </p:sp>
      <p:sp>
        <p:nvSpPr>
          <p:cNvPr id="4" name="Shape 2"/>
          <p:cNvSpPr/>
          <p:nvPr/>
        </p:nvSpPr>
        <p:spPr>
          <a:xfrm>
            <a:off x="9674352" y="457200"/>
            <a:ext cx="1810512" cy="347472"/>
          </a:xfrm>
          <a:prstGeom prst="roundRect">
            <a:avLst>
              <a:gd name="adj" fmla="val 15789"/>
            </a:avLst>
          </a:prstGeom>
          <a:solidFill>
            <a:srgbClr val="EEE2CD"/>
          </a:solidFill>
          <a:ln w="12700">
            <a:solidFill>
              <a:srgbClr val="EEE2CD"/>
            </a:solidFill>
            <a:prstDash val="solid"/>
          </a:ln>
        </p:spPr>
      </p:sp>
      <p:sp>
        <p:nvSpPr>
          <p:cNvPr id="5" name="Text 3"/>
          <p:cNvSpPr/>
          <p:nvPr/>
        </p:nvSpPr>
        <p:spPr>
          <a:xfrm>
            <a:off x="9747504" y="548640"/>
            <a:ext cx="1664208" cy="137160"/>
          </a:xfrm>
          <a:prstGeom prst="rect">
            <a:avLst/>
          </a:prstGeom>
          <a:noFill/>
          <a:ln/>
        </p:spPr>
        <p:txBody>
          <a:bodyPr wrap="square" lIns="0" tIns="0" rIns="0" bIns="0" rtlCol="0" anchor="ctr"/>
          <a:lstStyle/>
          <a:p>
            <a:pPr algn="ctr" indent="0" marL="0">
              <a:buNone/>
            </a:pPr>
            <a:r>
              <a:rPr lang="en-US" sz="970" b="1" dirty="0">
                <a:solidFill>
                  <a:srgbClr val="163A45"/>
                </a:solidFill>
              </a:rPr>
              <a:t>Speaker: Varish</a:t>
            </a:r>
            <a:endParaRPr lang="en-US" sz="970" dirty="0"/>
          </a:p>
        </p:txBody>
      </p:sp>
      <p:sp>
        <p:nvSpPr>
          <p:cNvPr id="6" name="Shape 4"/>
          <p:cNvSpPr/>
          <p:nvPr/>
        </p:nvSpPr>
        <p:spPr>
          <a:xfrm>
            <a:off x="731520" y="1417320"/>
            <a:ext cx="10744200" cy="4160520"/>
          </a:xfrm>
          <a:prstGeom prst="roundRect">
            <a:avLst>
              <a:gd name="adj" fmla="val 2637"/>
            </a:avLst>
          </a:prstGeom>
          <a:solidFill>
            <a:srgbClr val="163A45"/>
          </a:solidFill>
          <a:ln w="12700">
            <a:solidFill>
              <a:srgbClr val="163A45"/>
            </a:solidFill>
            <a:prstDash val="solid"/>
          </a:ln>
        </p:spPr>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234440" y="1874520"/>
            <a:ext cx="868680" cy="868680"/>
          </a:xfrm>
          <a:prstGeom prst="rect">
            <a:avLst/>
          </a:prstGeom>
        </p:spPr>
      </p:pic>
      <p:pic>
        <p:nvPicPr>
          <p:cNvPr id="8"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011680" y="1874520"/>
            <a:ext cx="868680" cy="868680"/>
          </a:xfrm>
          <a:prstGeom prst="rect">
            <a:avLst/>
          </a:prstGeom>
        </p:spPr>
      </p:pic>
      <p:sp>
        <p:nvSpPr>
          <p:cNvPr id="9" name="Text 5"/>
          <p:cNvSpPr/>
          <p:nvPr/>
        </p:nvSpPr>
        <p:spPr>
          <a:xfrm>
            <a:off x="2788920" y="1764792"/>
            <a:ext cx="7772400" cy="777240"/>
          </a:xfrm>
          <a:prstGeom prst="rect">
            <a:avLst/>
          </a:prstGeom>
          <a:noFill/>
          <a:ln/>
        </p:spPr>
        <p:txBody>
          <a:bodyPr wrap="square" lIns="0" tIns="0" rIns="0" bIns="0" rtlCol="0" anchor="ctr">
            <a:normAutofit/>
          </a:bodyPr>
          <a:lstStyle/>
          <a:p>
            <a:pPr indent="0" marL="0">
              <a:buNone/>
            </a:pPr>
            <a:r>
              <a:rPr lang="en-US" sz="2400" b="1" dirty="0">
                <a:solidFill>
                  <a:srgbClr val="FFFFFF"/>
                </a:solidFill>
              </a:rPr>
              <a:t>NestUp turns a scattered small-agency workflow into one connected relational database.</a:t>
            </a:r>
            <a:endParaRPr lang="en-US" sz="2400" dirty="0"/>
          </a:p>
        </p:txBody>
      </p:sp>
      <p:sp>
        <p:nvSpPr>
          <p:cNvPr id="10" name="Shape 6"/>
          <p:cNvSpPr/>
          <p:nvPr/>
        </p:nvSpPr>
        <p:spPr>
          <a:xfrm>
            <a:off x="1234440" y="3017520"/>
            <a:ext cx="310896" cy="310896"/>
          </a:xfrm>
          <a:prstGeom prst="ellipse">
            <a:avLst/>
          </a:prstGeom>
          <a:solidFill>
            <a:srgbClr val="DCEBE4"/>
          </a:solidFill>
          <a:ln w="12700">
            <a:solidFill>
              <a:srgbClr val="FFFFFF">
                <a:alpha val="0"/>
              </a:srgbClr>
            </a:solidFill>
            <a:prstDash val="solid"/>
          </a:ln>
        </p:spPr>
      </p:sp>
      <p:sp>
        <p:nvSpPr>
          <p:cNvPr id="11" name="Text 7"/>
          <p:cNvSpPr/>
          <p:nvPr/>
        </p:nvSpPr>
        <p:spPr>
          <a:xfrm>
            <a:off x="1289304" y="3044952"/>
            <a:ext cx="182880" cy="182880"/>
          </a:xfrm>
          <a:prstGeom prst="rect">
            <a:avLst/>
          </a:prstGeom>
          <a:noFill/>
          <a:ln/>
        </p:spPr>
        <p:txBody>
          <a:bodyPr wrap="square" lIns="0" tIns="0" rIns="0" bIns="0" rtlCol="0" anchor="ctr"/>
          <a:lstStyle/>
          <a:p>
            <a:pPr algn="ctr" indent="0" marL="0">
              <a:buNone/>
            </a:pPr>
            <a:r>
              <a:rPr lang="en-US" sz="1200" b="1" dirty="0">
                <a:solidFill>
                  <a:srgbClr val="163A45"/>
                </a:solidFill>
              </a:rPr>
              <a:t>✓</a:t>
            </a:r>
            <a:endParaRPr lang="en-US" sz="1200" dirty="0"/>
          </a:p>
        </p:txBody>
      </p:sp>
      <p:sp>
        <p:nvSpPr>
          <p:cNvPr id="12" name="Text 8"/>
          <p:cNvSpPr/>
          <p:nvPr/>
        </p:nvSpPr>
        <p:spPr>
          <a:xfrm>
            <a:off x="1691640" y="2999232"/>
            <a:ext cx="1554480" cy="228600"/>
          </a:xfrm>
          <a:prstGeom prst="rect">
            <a:avLst/>
          </a:prstGeom>
          <a:noFill/>
          <a:ln/>
        </p:spPr>
        <p:txBody>
          <a:bodyPr wrap="square" lIns="0" tIns="0" rIns="0" bIns="0" rtlCol="0" anchor="ctr"/>
          <a:lstStyle/>
          <a:p>
            <a:pPr indent="0" marL="0">
              <a:buNone/>
            </a:pPr>
            <a:r>
              <a:rPr lang="en-US" sz="1400" b="1" dirty="0">
                <a:solidFill>
                  <a:srgbClr val="FFFFFF"/>
                </a:solidFill>
              </a:rPr>
              <a:t>7 core entities</a:t>
            </a:r>
            <a:endParaRPr lang="en-US" sz="1400" dirty="0"/>
          </a:p>
        </p:txBody>
      </p:sp>
      <p:sp>
        <p:nvSpPr>
          <p:cNvPr id="13" name="Text 9"/>
          <p:cNvSpPr/>
          <p:nvPr/>
        </p:nvSpPr>
        <p:spPr>
          <a:xfrm>
            <a:off x="3200400" y="2999232"/>
            <a:ext cx="2560320" cy="411480"/>
          </a:xfrm>
          <a:prstGeom prst="rect">
            <a:avLst/>
          </a:prstGeom>
          <a:noFill/>
          <a:ln/>
        </p:spPr>
        <p:txBody>
          <a:bodyPr wrap="square" lIns="0" tIns="0" rIns="0" bIns="0" rtlCol="0" anchor="ctr">
            <a:normAutofit/>
          </a:bodyPr>
          <a:lstStyle/>
          <a:p>
            <a:pPr indent="0" marL="0">
              <a:buNone/>
            </a:pPr>
            <a:r>
              <a:rPr lang="en-US" sz="1120" dirty="0">
                <a:solidFill>
                  <a:srgbClr val="DDE8E8"/>
                </a:solidFill>
              </a:rPr>
              <a:t>Agent, Vendor, Buyer, Property, Viewing, Offer and Sale</a:t>
            </a:r>
            <a:endParaRPr lang="en-US" sz="1120" dirty="0"/>
          </a:p>
        </p:txBody>
      </p:sp>
      <p:sp>
        <p:nvSpPr>
          <p:cNvPr id="14" name="Shape 10"/>
          <p:cNvSpPr/>
          <p:nvPr/>
        </p:nvSpPr>
        <p:spPr>
          <a:xfrm>
            <a:off x="6217920" y="3017520"/>
            <a:ext cx="310896" cy="310896"/>
          </a:xfrm>
          <a:prstGeom prst="ellipse">
            <a:avLst/>
          </a:prstGeom>
          <a:solidFill>
            <a:srgbClr val="EEE2CD"/>
          </a:solidFill>
          <a:ln w="12700">
            <a:solidFill>
              <a:srgbClr val="FFFFFF">
                <a:alpha val="0"/>
              </a:srgbClr>
            </a:solidFill>
            <a:prstDash val="solid"/>
          </a:ln>
        </p:spPr>
      </p:sp>
      <p:sp>
        <p:nvSpPr>
          <p:cNvPr id="15" name="Text 11"/>
          <p:cNvSpPr/>
          <p:nvPr/>
        </p:nvSpPr>
        <p:spPr>
          <a:xfrm>
            <a:off x="6272784" y="3044952"/>
            <a:ext cx="182880" cy="182880"/>
          </a:xfrm>
          <a:prstGeom prst="rect">
            <a:avLst/>
          </a:prstGeom>
          <a:noFill/>
          <a:ln/>
        </p:spPr>
        <p:txBody>
          <a:bodyPr wrap="square" lIns="0" tIns="0" rIns="0" bIns="0" rtlCol="0" anchor="ctr"/>
          <a:lstStyle/>
          <a:p>
            <a:pPr algn="ctr" indent="0" marL="0">
              <a:buNone/>
            </a:pPr>
            <a:r>
              <a:rPr lang="en-US" sz="1200" b="1" dirty="0">
                <a:solidFill>
                  <a:srgbClr val="163A45"/>
                </a:solidFill>
              </a:rPr>
              <a:t>✓</a:t>
            </a:r>
            <a:endParaRPr lang="en-US" sz="1200" dirty="0"/>
          </a:p>
        </p:txBody>
      </p:sp>
      <p:sp>
        <p:nvSpPr>
          <p:cNvPr id="16" name="Text 12"/>
          <p:cNvSpPr/>
          <p:nvPr/>
        </p:nvSpPr>
        <p:spPr>
          <a:xfrm>
            <a:off x="6675120" y="2999232"/>
            <a:ext cx="1554480" cy="228600"/>
          </a:xfrm>
          <a:prstGeom prst="rect">
            <a:avLst/>
          </a:prstGeom>
          <a:noFill/>
          <a:ln/>
        </p:spPr>
        <p:txBody>
          <a:bodyPr wrap="square" lIns="0" tIns="0" rIns="0" bIns="0" rtlCol="0" anchor="ctr"/>
          <a:lstStyle/>
          <a:p>
            <a:pPr indent="0" marL="0">
              <a:buNone/>
            </a:pPr>
            <a:r>
              <a:rPr lang="en-US" sz="1400" b="1" dirty="0">
                <a:solidFill>
                  <a:srgbClr val="FFFFFF"/>
                </a:solidFill>
              </a:rPr>
              <a:t>Clear relationships</a:t>
            </a:r>
            <a:endParaRPr lang="en-US" sz="1400" dirty="0"/>
          </a:p>
        </p:txBody>
      </p:sp>
      <p:sp>
        <p:nvSpPr>
          <p:cNvPr id="17" name="Text 13"/>
          <p:cNvSpPr/>
          <p:nvPr/>
        </p:nvSpPr>
        <p:spPr>
          <a:xfrm>
            <a:off x="8183880" y="2999232"/>
            <a:ext cx="2560320" cy="411480"/>
          </a:xfrm>
          <a:prstGeom prst="rect">
            <a:avLst/>
          </a:prstGeom>
          <a:noFill/>
          <a:ln/>
        </p:spPr>
        <p:txBody>
          <a:bodyPr wrap="square" lIns="0" tIns="0" rIns="0" bIns="0" rtlCol="0" anchor="ctr">
            <a:normAutofit/>
          </a:bodyPr>
          <a:lstStyle/>
          <a:p>
            <a:pPr indent="0" marL="0">
              <a:buNone/>
            </a:pPr>
            <a:r>
              <a:rPr lang="en-US" sz="1120" dirty="0">
                <a:solidFill>
                  <a:srgbClr val="DDE8E8"/>
                </a:solidFill>
              </a:rPr>
              <a:t>PK/FK structure and referential integrity</a:t>
            </a:r>
            <a:endParaRPr lang="en-US" sz="1120" dirty="0"/>
          </a:p>
        </p:txBody>
      </p:sp>
      <p:sp>
        <p:nvSpPr>
          <p:cNvPr id="18" name="Shape 14"/>
          <p:cNvSpPr/>
          <p:nvPr/>
        </p:nvSpPr>
        <p:spPr>
          <a:xfrm>
            <a:off x="1234440" y="4114800"/>
            <a:ext cx="310896" cy="310896"/>
          </a:xfrm>
          <a:prstGeom prst="ellipse">
            <a:avLst/>
          </a:prstGeom>
          <a:solidFill>
            <a:srgbClr val="DCEBE4"/>
          </a:solidFill>
          <a:ln w="12700">
            <a:solidFill>
              <a:srgbClr val="FFFFFF">
                <a:alpha val="0"/>
              </a:srgbClr>
            </a:solidFill>
            <a:prstDash val="solid"/>
          </a:ln>
        </p:spPr>
      </p:sp>
      <p:sp>
        <p:nvSpPr>
          <p:cNvPr id="19" name="Text 15"/>
          <p:cNvSpPr/>
          <p:nvPr/>
        </p:nvSpPr>
        <p:spPr>
          <a:xfrm>
            <a:off x="1289304" y="4142232"/>
            <a:ext cx="182880" cy="182880"/>
          </a:xfrm>
          <a:prstGeom prst="rect">
            <a:avLst/>
          </a:prstGeom>
          <a:noFill/>
          <a:ln/>
        </p:spPr>
        <p:txBody>
          <a:bodyPr wrap="square" lIns="0" tIns="0" rIns="0" bIns="0" rtlCol="0" anchor="ctr"/>
          <a:lstStyle/>
          <a:p>
            <a:pPr algn="ctr" indent="0" marL="0">
              <a:buNone/>
            </a:pPr>
            <a:r>
              <a:rPr lang="en-US" sz="1200" b="1" dirty="0">
                <a:solidFill>
                  <a:srgbClr val="163A45"/>
                </a:solidFill>
              </a:rPr>
              <a:t>✓</a:t>
            </a:r>
            <a:endParaRPr lang="en-US" sz="1200" dirty="0"/>
          </a:p>
        </p:txBody>
      </p:sp>
      <p:sp>
        <p:nvSpPr>
          <p:cNvPr id="20" name="Text 16"/>
          <p:cNvSpPr/>
          <p:nvPr/>
        </p:nvSpPr>
        <p:spPr>
          <a:xfrm>
            <a:off x="1691640" y="4096512"/>
            <a:ext cx="1554480" cy="228600"/>
          </a:xfrm>
          <a:prstGeom prst="rect">
            <a:avLst/>
          </a:prstGeom>
          <a:noFill/>
          <a:ln/>
        </p:spPr>
        <p:txBody>
          <a:bodyPr wrap="square" lIns="0" tIns="0" rIns="0" bIns="0" rtlCol="0" anchor="ctr"/>
          <a:lstStyle/>
          <a:p>
            <a:pPr indent="0" marL="0">
              <a:buNone/>
            </a:pPr>
            <a:r>
              <a:rPr lang="en-US" sz="1400" b="1" dirty="0">
                <a:solidFill>
                  <a:srgbClr val="FFFFFF"/>
                </a:solidFill>
              </a:rPr>
              <a:t>Useful use cases</a:t>
            </a:r>
            <a:endParaRPr lang="en-US" sz="1400" dirty="0"/>
          </a:p>
        </p:txBody>
      </p:sp>
      <p:sp>
        <p:nvSpPr>
          <p:cNvPr id="21" name="Text 17"/>
          <p:cNvSpPr/>
          <p:nvPr/>
        </p:nvSpPr>
        <p:spPr>
          <a:xfrm>
            <a:off x="3200400" y="4096512"/>
            <a:ext cx="2560320" cy="411480"/>
          </a:xfrm>
          <a:prstGeom prst="rect">
            <a:avLst/>
          </a:prstGeom>
          <a:noFill/>
          <a:ln/>
        </p:spPr>
        <p:txBody>
          <a:bodyPr wrap="square" lIns="0" tIns="0" rIns="0" bIns="0" rtlCol="0" anchor="ctr">
            <a:normAutofit/>
          </a:bodyPr>
          <a:lstStyle/>
          <a:p>
            <a:pPr indent="0" marL="0">
              <a:buNone/>
            </a:pPr>
            <a:r>
              <a:rPr lang="en-US" sz="1120" dirty="0">
                <a:solidFill>
                  <a:srgbClr val="DDE8E8"/>
                </a:solidFill>
              </a:rPr>
              <a:t>Listings, matching, viewings, offers, sales and reporting</a:t>
            </a:r>
            <a:endParaRPr lang="en-US" sz="1120" dirty="0"/>
          </a:p>
        </p:txBody>
      </p:sp>
      <p:sp>
        <p:nvSpPr>
          <p:cNvPr id="22" name="Shape 18"/>
          <p:cNvSpPr/>
          <p:nvPr/>
        </p:nvSpPr>
        <p:spPr>
          <a:xfrm>
            <a:off x="6217920" y="4114800"/>
            <a:ext cx="310896" cy="310896"/>
          </a:xfrm>
          <a:prstGeom prst="ellipse">
            <a:avLst/>
          </a:prstGeom>
          <a:solidFill>
            <a:srgbClr val="EEE2CD"/>
          </a:solidFill>
          <a:ln w="12700">
            <a:solidFill>
              <a:srgbClr val="FFFFFF">
                <a:alpha val="0"/>
              </a:srgbClr>
            </a:solidFill>
            <a:prstDash val="solid"/>
          </a:ln>
        </p:spPr>
      </p:sp>
      <p:sp>
        <p:nvSpPr>
          <p:cNvPr id="23" name="Text 19"/>
          <p:cNvSpPr/>
          <p:nvPr/>
        </p:nvSpPr>
        <p:spPr>
          <a:xfrm>
            <a:off x="6272784" y="4142232"/>
            <a:ext cx="182880" cy="182880"/>
          </a:xfrm>
          <a:prstGeom prst="rect">
            <a:avLst/>
          </a:prstGeom>
          <a:noFill/>
          <a:ln/>
        </p:spPr>
        <p:txBody>
          <a:bodyPr wrap="square" lIns="0" tIns="0" rIns="0" bIns="0" rtlCol="0" anchor="ctr"/>
          <a:lstStyle/>
          <a:p>
            <a:pPr algn="ctr" indent="0" marL="0">
              <a:buNone/>
            </a:pPr>
            <a:r>
              <a:rPr lang="en-US" sz="1200" b="1" dirty="0">
                <a:solidFill>
                  <a:srgbClr val="163A45"/>
                </a:solidFill>
              </a:rPr>
              <a:t>✓</a:t>
            </a:r>
            <a:endParaRPr lang="en-US" sz="1200" dirty="0"/>
          </a:p>
        </p:txBody>
      </p:sp>
      <p:sp>
        <p:nvSpPr>
          <p:cNvPr id="24" name="Text 20"/>
          <p:cNvSpPr/>
          <p:nvPr/>
        </p:nvSpPr>
        <p:spPr>
          <a:xfrm>
            <a:off x="6675120" y="4096512"/>
            <a:ext cx="1554480" cy="228600"/>
          </a:xfrm>
          <a:prstGeom prst="rect">
            <a:avLst/>
          </a:prstGeom>
          <a:noFill/>
          <a:ln/>
        </p:spPr>
        <p:txBody>
          <a:bodyPr wrap="square" lIns="0" tIns="0" rIns="0" bIns="0" rtlCol="0" anchor="ctr"/>
          <a:lstStyle/>
          <a:p>
            <a:pPr indent="0" marL="0">
              <a:buNone/>
            </a:pPr>
            <a:r>
              <a:rPr lang="en-US" sz="1400" b="1" dirty="0">
                <a:solidFill>
                  <a:srgbClr val="FFFFFF"/>
                </a:solidFill>
              </a:rPr>
              <a:t>Team workflow</a:t>
            </a:r>
            <a:endParaRPr lang="en-US" sz="1400" dirty="0"/>
          </a:p>
        </p:txBody>
      </p:sp>
      <p:sp>
        <p:nvSpPr>
          <p:cNvPr id="25" name="Text 21"/>
          <p:cNvSpPr/>
          <p:nvPr/>
        </p:nvSpPr>
        <p:spPr>
          <a:xfrm>
            <a:off x="8183880" y="4096512"/>
            <a:ext cx="2560320" cy="411480"/>
          </a:xfrm>
          <a:prstGeom prst="rect">
            <a:avLst/>
          </a:prstGeom>
          <a:noFill/>
          <a:ln/>
        </p:spPr>
        <p:txBody>
          <a:bodyPr wrap="square" lIns="0" tIns="0" rIns="0" bIns="0" rtlCol="0" anchor="ctr">
            <a:normAutofit/>
          </a:bodyPr>
          <a:lstStyle/>
          <a:p>
            <a:pPr indent="0" marL="0">
              <a:buNone/>
            </a:pPr>
            <a:r>
              <a:rPr lang="en-US" sz="1120" dirty="0">
                <a:solidFill>
                  <a:srgbClr val="DDE8E8"/>
                </a:solidFill>
              </a:rPr>
              <a:t>Agile iterations + GitHub version control</a:t>
            </a:r>
            <a:endParaRPr lang="en-US" sz="1120" dirty="0"/>
          </a:p>
        </p:txBody>
      </p:sp>
      <p:sp>
        <p:nvSpPr>
          <p:cNvPr id="26" name="Text 22"/>
          <p:cNvSpPr/>
          <p:nvPr/>
        </p:nvSpPr>
        <p:spPr>
          <a:xfrm>
            <a:off x="1051560" y="5806440"/>
            <a:ext cx="10149840" cy="411480"/>
          </a:xfrm>
          <a:prstGeom prst="rect">
            <a:avLst/>
          </a:prstGeom>
          <a:noFill/>
          <a:ln/>
        </p:spPr>
        <p:txBody>
          <a:bodyPr wrap="square" lIns="0" tIns="0" rIns="0" bIns="0" rtlCol="0" anchor="ctr"/>
          <a:lstStyle/>
          <a:p>
            <a:pPr algn="ctr" indent="0" marL="0">
              <a:buNone/>
            </a:pPr>
            <a:r>
              <a:rPr lang="en-US" sz="1650" b="1" dirty="0">
                <a:solidFill>
                  <a:srgbClr val="1F2937"/>
                </a:solidFill>
              </a:rPr>
              <a:t>Overall, the project demonstrates database modelling, SQLite implementation, collaboration and problem-solving.</a:t>
            </a:r>
            <a:endParaRPr lang="en-US" sz="1650" dirty="0"/>
          </a:p>
        </p:txBody>
      </p:sp>
      <p:sp>
        <p:nvSpPr>
          <p:cNvPr id="25" name="Slide Number Placeholder 0"/>
          <p:cNvSpPr>
            <a:spLocks noGrp="1"/>
          </p:cNvSpPr>
          <p:nvPr>
            <p:ph type="sldNum" sz="quarter" idx="4294967295"/>
          </p:nvPr>
        </p:nvSpPr>
        <p:spPr>
          <a:xfrm>
            <a:off x="11750040" y="649224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latin typeface="Carlito"/>
                <a:ea typeface="Carlito"/>
                <a:cs typeface="Carlito"/>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63A45"/>
          </a:solidFill>
          <a:ln w="12700">
            <a:solidFill>
              <a:srgbClr val="163A45"/>
            </a:solidFill>
            <a:prstDash val="solid"/>
          </a:ln>
        </p:spPr>
      </p:sp>
      <p:sp>
        <p:nvSpPr>
          <p:cNvPr id="3" name="Shape 1"/>
          <p:cNvSpPr/>
          <p:nvPr/>
        </p:nvSpPr>
        <p:spPr>
          <a:xfrm>
            <a:off x="4800600" y="960120"/>
            <a:ext cx="2606040" cy="2606040"/>
          </a:xfrm>
          <a:prstGeom prst="ellipse">
            <a:avLst/>
          </a:prstGeom>
          <a:solidFill>
            <a:srgbClr val="DCEBE4"/>
          </a:solidFill>
          <a:ln w="12700">
            <a:solidFill>
              <a:srgbClr val="DCEBE4"/>
            </a:solidFill>
            <a:prstDash val="solid"/>
          </a:ln>
        </p:spPr>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486400" y="1572768"/>
            <a:ext cx="1234440" cy="1234440"/>
          </a:xfrm>
          <a:prstGeom prst="rect">
            <a:avLst/>
          </a:prstGeom>
        </p:spPr>
      </p:pic>
      <p:sp>
        <p:nvSpPr>
          <p:cNvPr id="5" name="Text 2"/>
          <p:cNvSpPr/>
          <p:nvPr/>
        </p:nvSpPr>
        <p:spPr>
          <a:xfrm>
            <a:off x="2926080" y="3749040"/>
            <a:ext cx="6309360" cy="777240"/>
          </a:xfrm>
          <a:prstGeom prst="rect">
            <a:avLst/>
          </a:prstGeom>
          <a:noFill/>
          <a:ln/>
        </p:spPr>
        <p:txBody>
          <a:bodyPr wrap="square" lIns="0" tIns="0" rIns="0" bIns="0" rtlCol="0" anchor="ctr"/>
          <a:lstStyle/>
          <a:p>
            <a:pPr algn="ctr" indent="0" marL="0">
              <a:buNone/>
            </a:pPr>
            <a:r>
              <a:rPr lang="en-US" sz="3800" b="1" dirty="0">
                <a:solidFill>
                  <a:srgbClr val="FFFFFF"/>
                </a:solidFill>
              </a:rPr>
              <a:t>Q &amp; A</a:t>
            </a:r>
            <a:endParaRPr lang="en-US" sz="3800" dirty="0"/>
          </a:p>
        </p:txBody>
      </p:sp>
      <p:sp>
        <p:nvSpPr>
          <p:cNvPr id="6" name="Text 3"/>
          <p:cNvSpPr/>
          <p:nvPr/>
        </p:nvSpPr>
        <p:spPr>
          <a:xfrm>
            <a:off x="2834640" y="4709160"/>
            <a:ext cx="6492240" cy="384048"/>
          </a:xfrm>
          <a:prstGeom prst="rect">
            <a:avLst/>
          </a:prstGeom>
          <a:noFill/>
          <a:ln/>
        </p:spPr>
        <p:txBody>
          <a:bodyPr wrap="square" lIns="0" tIns="0" rIns="0" bIns="0" rtlCol="0" anchor="ctr"/>
          <a:lstStyle/>
          <a:p>
            <a:pPr algn="ctr" indent="0" marL="0">
              <a:buNone/>
            </a:pPr>
            <a:r>
              <a:rPr lang="en-US" sz="1700" dirty="0">
                <a:solidFill>
                  <a:srgbClr val="D7E5E4"/>
                </a:solidFill>
              </a:rPr>
              <a:t>Thank you — we are happy to answer your questions.</a:t>
            </a:r>
            <a:endParaRPr lang="en-US" sz="1700" dirty="0"/>
          </a:p>
        </p:txBody>
      </p:sp>
      <p:sp>
        <p:nvSpPr>
          <p:cNvPr id="7" name="Text 4"/>
          <p:cNvSpPr/>
          <p:nvPr/>
        </p:nvSpPr>
        <p:spPr>
          <a:xfrm>
            <a:off x="2880360" y="5559552"/>
            <a:ext cx="6446520" cy="292608"/>
          </a:xfrm>
          <a:prstGeom prst="rect">
            <a:avLst/>
          </a:prstGeom>
          <a:noFill/>
          <a:ln/>
        </p:spPr>
        <p:txBody>
          <a:bodyPr wrap="square" lIns="0" tIns="0" rIns="0" bIns="0" rtlCol="0" anchor="ctr"/>
          <a:lstStyle/>
          <a:p>
            <a:pPr algn="ctr" indent="0" marL="0">
              <a:buNone/>
            </a:pPr>
            <a:r>
              <a:rPr lang="en-US" sz="1250" b="1" dirty="0">
                <a:solidFill>
                  <a:srgbClr val="EEE2CD"/>
                </a:solidFill>
              </a:rPr>
              <a:t>Prasamsha Dahal  •  Harshdeep Kaur  •  Varish Makra</a:t>
            </a:r>
            <a:endParaRPr lang="en-US" sz="1250" dirty="0"/>
          </a:p>
        </p:txBody>
      </p:sp>
      <p:sp>
        <p:nvSpPr>
          <p:cNvPr id="25" name="Slide Number Placeholder 0"/>
          <p:cNvSpPr>
            <a:spLocks noGrp="1"/>
          </p:cNvSpPr>
          <p:nvPr>
            <p:ph type="sldNum" sz="quarter" idx="4294967295"/>
          </p:nvPr>
        </p:nvSpPr>
        <p:spPr>
          <a:xfrm>
            <a:off x="11750040" y="649224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latin typeface="Carlito"/>
                <a:ea typeface="Carlito"/>
                <a:cs typeface="Carlito"/>
              </a:defRPr>
            </a:lvl1pPr>
          </a:lstStyle>
          <a:p>
            <a:pPr algn="l"/>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rlit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rlit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Otago Polytechnic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NestUp - Client and Listing Management System</dc:title>
  <dc:subject>IA502001 Studio 1 Presentation</dc:subject>
  <dc:creator>NestUp - Group 2</dc:creator>
  <cp:lastModifiedBy>NestUp - Group 2</cp:lastModifiedBy>
  <cp:revision>1</cp:revision>
  <dcterms:created xsi:type="dcterms:W3CDTF">2026-08-27T07:51:40Z</dcterms:created>
  <dcterms:modified xsi:type="dcterms:W3CDTF">2026-08-27T07:51:40Z</dcterms:modified>
</cp:coreProperties>
</file>