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3-10.svg" ContentType="image/svg+xml"/>
  <Override PartName="/ppt/media/image-13-12.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2.svg" ContentType="image/svg+xml"/>
  <Override PartName="/ppt/media/image-15-4.svg" ContentType="image/svg+xml"/>
  <Override PartName="/ppt/media/image-16-2.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2.svg" ContentType="image/svg+xml"/>
  <Override PartName="/ppt/media/image-4-4.svg" ContentType="image/svg+xml"/>
  <Override PartName="/ppt/media/image-4-6.svg" ContentType="image/svg+xml"/>
  <Override PartName="/ppt/media/image-5-2.svg" ContentType="image/svg+xml"/>
  <Override PartName="/ppt/media/image-5-4.svg" ContentType="image/svg+xml"/>
  <Override PartName="/ppt/media/image-5-6.svg" ContentType="image/svg+xml"/>
  <Override PartName="/ppt/media/image-6-2.svg" ContentType="image/svg+xml"/>
  <Override PartName="/ppt/media/image-6-4.svg" ContentType="image/svg+xml"/>
  <Override PartName="/ppt/media/image-6-6.svg" ContentType="image/svg+xml"/>
  <Override PartName="/ppt/media/image-7-2.svg" ContentType="image/svg+xml"/>
  <Override PartName="/ppt/media/image-7-4.svg" ContentType="image/svg+xml"/>
  <Override PartName="/ppt/media/image-7-6.svg" ContentType="image/svg+xml"/>
  <Override PartName="/ppt/media/image-8-1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20–25 seconds
Good morning everyone. We are Group 2, and our project is called NestUp. NestUp is a client and listing management system designed for small real estate agencies. Our group members are Prasamsha Dahal, Harshdeep Kaur, and Varish Makra. In this presentation, we will explain the system, our database design, our individual contributions, our Agile approach, GitHub usage, and the main challenges we 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20 seconds
This is the structure of our presentation. We will start with a brief introduction and the use case diagram, then cover our individual user stories. After that, we will explain the Agile practice we followed, the ER diagram and data dictionary, how we used GitHub, the main challenges, our conclusion, and finally we will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45–55 seconds
NestUp was created for small independent real estate agencies. The main problem is that information can be scattered between spreadsheets, diaries, messages and paper notes. This makes it harder for an agent to know who viewed a property, what offer was made, or which buyers match a new listing. Our solution is to keep the core information in one relational database. The system stores agents, vendors, buyers, properties, viewings, offers and sales. This makes searching faster, keeps the data connected, and gives the agency a clearer workflow from listing a property through to the final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55–65 seconds
This use case diagram shows the three main actors in our current system: the agent, admin or reception staff, and the branch manager. Agents do most of the operational work, such as managing property listings, filtering properties, booking viewings, recording feedback and handling offers. Admin or reception staff can register buyer and vendor details and help with viewing bookings. The branch manager mainly uses the reporting and sale information to monitor activity and commission. Buyers and vendors are not direct login users in this version; they interact with the system through agency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40–50 seconds
My individual contribution focuses on the Agent and Vendor side of the system. My first user story is about allowing an agent to create and update property listings so the agency always has current data. The second is about linking each property to the correct vendor and handling agent, which makes responsibility clear and supports the foreign key relationships in the database. The third is about keeping the agent's commission rate in the system so that commission can be calculated consistently when a sale is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40–50 seconds
My contribution focuses on Buyer and Property. The first user story is registering buyers with details such as contact information, budget and preferences. The second story is about filtering the property records so an agent can quickly find suitable listings. The third is about comparing a buyer's requirements with available properties. These stories support one of the main goals of NestUp, which is to make it easier for a small agency to match the right buyer with the right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40–50 seconds
My contribution focuses on the later part of the workflow: Viewings, Offers and Sales. The first user story is booking a viewing and storing feedback from the buyer. The second is recording an offer and changing its status as the negotiation progresses. The third is linking an accepted offer to a single sale record. In the database, the sale uses a unique offer ID, which helps prevent the same accepted offer from being used for more than one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We did not use a large formal Scrum framework, but we followed a lightweight Agile approach. The idea was to work in small stages, review our work early and make changes instead of waiting until the end. In Week 5 the focus was analysis and the ERD. In Week 6 we moved into the data dictionary and database build. In Week 7 we tested queries and fixed issues. In Week 8 we prepared for the PDR and final review. This reflects the Agile cycle of planning, building, testing and reviewing, with feedback used to improve the next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70–85 seconds
This is our physical ER diagram. We have seven main entities: Agent, Vendor, Buyer, Property, Viewing, Offer and Sale. Agent to Property is one-to-many because one agent can manage several properties, while each property has one handling agent. Vendor to Property is also one-to-many. The Viewing table links a buyer to a property and stores the viewing date and feedback, so it acts as an associative record for that interaction. Offers are linked to both the property and the buyer. Finally, Sale is linked to Offer using a unique foreign key. That gives us a one-to-zero-or-one relationship from an offer to a sale and helps prevent the same offer from creating multiple sale records. Primary keys identify rows, while foreign keys maintain the relationships between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Prasamsha
Suggested time: 45–55 seconds
For the data dictionary, my main entities are Agent and Vendor. Agent has agent_id as the primary key, along with the agent's name, contact and commission rate. The commission rate uses a check constraint so that the value stays within the business rule. Vendor has vendor_id as the primary key, plus the vendor's name and contact information. These definitions make it clear what data type each field uses, whether it is required, and what role the field plays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My data dictionary contribution covers Buyer and Property. Buyer uses buyer_id as the primary key and stores the person's name, contact, budget and preferences. The budget must be greater than zero. Property uses property_id as the primary key. Important constraints include a unique address, a positive price and a default status of Listed. Property also contains vendor_id and agent_id as foreign keys, which connect each property to its seller and handling agent. These constraints help keep the stored data valid and reduce duplicate or incomplete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55–65 seconds
My data dictionary contribution covers Viewing, Offer and Sale. Viewing contains foreign keys for property and buyer, plus the date and optional feedback. Offer links the buyer and property and stores the amount, date and status. The offer amount must be greater than zero. Sale contains sale_id as the primary key and offer_id as a unique foreign key. That unique constraint is important because it prevents one offer from being linked to multiple sale records. The final price must also be positive, and the commission value is stored for the completed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45–55 seconds
We used GitHub as a collaboration and version-control tool. The basic workflow is to pull the latest version, make changes to the SQL files, report or diagrams, commit the change with a clear message, and push it back to the shared repository. This gives the group one place to keep the current files and also creates evidence of progress through the commit history. For the final submission, the important repository files are the database build file, the queries file and the final report containing the data dictionary and ER diagram. We can also show our real commit-history screenshot as proof during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Harshdeep
Suggested time: 50–60 seconds
The biggest challenge was controlling the project scope. A real estate agency handles a lot of information, so we reduced the database to seven core entities and left out things such as physical keys, phone recordings and large reports. Another challenge was modelling the relationships, especially buyer and property interactions. We used the Viewing table to store each specific visit. We also had to protect data quality, so we used primary keys, foreign keys and constraints such as NOT NULL, UNIQUE and CHECK. Finally, GitHub helped us avoid problems with different versions of the same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Varish
Suggested time: 30–40 seconds
To conclude, NestUp shows how a small real estate agency can move from scattered records to one connected database. Our final design uses seven core entities with clear primary and foreign key relationships. The system supports practical use cases such as managing listings, matching buyers, recording viewings and offers, and completing sales. The project also demonstrates the skills required in Studio 1: database modelling, SQLite design, constraints, queries, teamwork, Agile-style iteration and GitHub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members
Suggested time: 10 seconds
Thank you for listening.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STUP_MASTER">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5A5A"/>
          </a:solidFill>
          <a:ln w="12700">
            <a:solidFill>
              <a:srgbClr val="1F5A5A"/>
            </a:solidFill>
            <a:prstDash val="solid"/>
          </a:ln>
        </p:spPr>
      </p:sp>
      <p:sp>
        <p:nvSpPr>
          <p:cNvPr id="3" name="Text 1"/>
          <p:cNvSpPr/>
          <p:nvPr/>
        </p:nvSpPr>
        <p:spPr>
          <a:xfrm>
            <a:off x="502920" y="6510528"/>
            <a:ext cx="6583680" cy="182880"/>
          </a:xfrm>
          <a:prstGeom prst="rect">
            <a:avLst/>
          </a:prstGeom>
          <a:noFill/>
          <a:ln/>
        </p:spPr>
        <p:txBody>
          <a:bodyPr wrap="square" lIns="0" tIns="0" rIns="0" bIns="0" rtlCol="0" anchor="ctr"/>
          <a:lstStyle/>
          <a:p>
            <a:pPr indent="0" marL="0">
              <a:buNone/>
            </a:pPr>
            <a:r>
              <a:rPr lang="en-US" sz="900" dirty="0">
                <a:solidFill>
                  <a:srgbClr val="6B7280"/>
                </a:solidFill>
                <a:latin typeface="Carlito" pitchFamily="34" charset="0"/>
                <a:ea typeface="Carlito" pitchFamily="34" charset="-122"/>
                <a:cs typeface="Carlito" pitchFamily="34" charset="-120"/>
              </a:rPr>
              <a:t>NESTUP  •  IA502001 STUDIO 1  •  GROUP 2</a:t>
            </a:r>
            <a:endParaRPr lang="en-US" sz="900" dirty="0"/>
          </a:p>
        </p:txBody>
      </p:sp>
      <p:sp>
        <p:nvSpPr>
          <p:cNvPr id="4" name="Text 2"/>
          <p:cNvSpPr/>
          <p:nvPr/>
        </p:nvSpPr>
        <p:spPr>
          <a:xfrm>
            <a:off x="8961120" y="6510528"/>
            <a:ext cx="2697480" cy="182880"/>
          </a:xfrm>
          <a:prstGeom prst="rect">
            <a:avLst/>
          </a:prstGeom>
          <a:noFill/>
          <a:ln/>
        </p:spPr>
        <p:txBody>
          <a:bodyPr wrap="square" lIns="0" tIns="0" rIns="0" bIns="0" rtlCol="0" anchor="ctr"/>
          <a:lstStyle/>
          <a:p>
            <a:pPr algn="r" indent="0" marL="0">
              <a:buNone/>
            </a:pPr>
            <a:r>
              <a:rPr lang="en-US" sz="900" dirty="0">
                <a:solidFill>
                  <a:srgbClr val="6B7280"/>
                </a:solidFill>
                <a:latin typeface="Carlito" pitchFamily="34" charset="0"/>
                <a:ea typeface="Carlito" pitchFamily="34" charset="-122"/>
                <a:cs typeface="Carlito" pitchFamily="34" charset="-120"/>
              </a:rPr>
              <a:t>Find it. List it. Love it.</a:t>
            </a:r>
            <a:endParaRPr lang="en-US" sz="9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2.xml"/><Relationship Id="rId8" Type="http://schemas.openxmlformats.org/officeDocument/2006/relationships/notesSlide" Target="../notesSlides/notesSlide4.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163A45"/>
          </a:solidFill>
          <a:ln w="12700">
            <a:solidFill>
              <a:srgbClr val="163A45"/>
            </a:solidFill>
            <a:prstDash val="solid"/>
          </a:ln>
        </p:spPr>
      </p:sp>
      <p:sp>
        <p:nvSpPr>
          <p:cNvPr id="3" name="Shape 1"/>
          <p:cNvSpPr/>
          <p:nvPr/>
        </p:nvSpPr>
        <p:spPr>
          <a:xfrm rot="1080000">
            <a:off x="7863840" y="731520"/>
            <a:ext cx="3657600" cy="3657600"/>
          </a:xfrm>
          <a:prstGeom prst="arc">
            <a:avLst/>
          </a:prstGeom>
          <a:solidFill>
            <a:srgbClr val="EEE2CD">
              <a:alpha val="65000"/>
            </a:srgbClr>
          </a:solidFill>
          <a:ln w="12700">
            <a:solidFill>
              <a:srgbClr val="EEE2CD">
                <a:alpha val="0"/>
              </a:srgbClr>
            </a:solidFill>
            <a:prstDash val="solid"/>
          </a:ln>
        </p:spPr>
      </p:sp>
      <p:sp>
        <p:nvSpPr>
          <p:cNvPr id="4" name="Shape 2"/>
          <p:cNvSpPr/>
          <p:nvPr/>
        </p:nvSpPr>
        <p:spPr>
          <a:xfrm>
            <a:off x="8321040" y="3108960"/>
            <a:ext cx="2834640" cy="2834640"/>
          </a:xfrm>
          <a:prstGeom prst="ellipse">
            <a:avLst/>
          </a:prstGeom>
          <a:solidFill>
            <a:srgbClr val="DCEBE4"/>
          </a:solidFill>
          <a:ln w="12700">
            <a:solidFill>
              <a:srgbClr val="DCEBE4"/>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15400" y="3703320"/>
            <a:ext cx="1554480" cy="155448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9840" y="1920240"/>
            <a:ext cx="777240" cy="777240"/>
          </a:xfrm>
          <a:prstGeom prst="rect">
            <a:avLst/>
          </a:prstGeom>
        </p:spPr>
      </p:pic>
      <p:sp>
        <p:nvSpPr>
          <p:cNvPr id="7" name="Text 3"/>
          <p:cNvSpPr/>
          <p:nvPr/>
        </p:nvSpPr>
        <p:spPr>
          <a:xfrm>
            <a:off x="640080" y="1005840"/>
            <a:ext cx="3566160" cy="658368"/>
          </a:xfrm>
          <a:prstGeom prst="rect">
            <a:avLst/>
          </a:prstGeom>
          <a:noFill/>
          <a:ln/>
        </p:spPr>
        <p:txBody>
          <a:bodyPr wrap="square" lIns="0" tIns="0" rIns="0" bIns="0" rtlCol="0" anchor="ctr"/>
          <a:lstStyle/>
          <a:p>
            <a:pPr indent="0" marL="0">
              <a:buNone/>
            </a:pPr>
            <a:r>
              <a:rPr lang="en-US" sz="3400" b="1" spc="140" kern="0" dirty="0">
                <a:solidFill>
                  <a:srgbClr val="FFFFFF"/>
                </a:solidFill>
                <a:latin typeface="Carlito" pitchFamily="34" charset="0"/>
                <a:ea typeface="Carlito" pitchFamily="34" charset="-122"/>
                <a:cs typeface="Carlito" pitchFamily="34" charset="-120"/>
              </a:rPr>
              <a:t>NESTUP</a:t>
            </a:r>
            <a:endParaRPr lang="en-US" sz="3400" dirty="0"/>
          </a:p>
        </p:txBody>
      </p:sp>
      <p:sp>
        <p:nvSpPr>
          <p:cNvPr id="8" name="Text 4"/>
          <p:cNvSpPr/>
          <p:nvPr/>
        </p:nvSpPr>
        <p:spPr>
          <a:xfrm>
            <a:off x="658368" y="1783080"/>
            <a:ext cx="3657600" cy="1051560"/>
          </a:xfrm>
          <a:prstGeom prst="rect">
            <a:avLst/>
          </a:prstGeom>
          <a:noFill/>
          <a:ln/>
        </p:spPr>
        <p:txBody>
          <a:bodyPr wrap="square" lIns="0" tIns="0" rIns="0" bIns="0" rtlCol="0" anchor="ctr">
            <a:normAutofit/>
          </a:bodyPr>
          <a:lstStyle/>
          <a:p>
            <a:pPr indent="0" marL="0">
              <a:buNone/>
            </a:pPr>
            <a:r>
              <a:rPr lang="en-US" sz="2100" dirty="0">
                <a:solidFill>
                  <a:srgbClr val="E9F1F1"/>
                </a:solidFill>
                <a:latin typeface="Carlito" pitchFamily="34" charset="0"/>
                <a:ea typeface="Carlito" pitchFamily="34" charset="-122"/>
                <a:cs typeface="Carlito" pitchFamily="34" charset="-120"/>
              </a:rPr>
              <a:t>Client &amp; Listing Management System</a:t>
            </a:r>
            <a:endParaRPr lang="en-US" sz="2100" dirty="0"/>
          </a:p>
          <a:p>
            <a:pPr indent="0" marL="0">
              <a:buNone/>
            </a:pPr>
            <a:r>
              <a:rPr lang="en-US" sz="2100" dirty="0">
                <a:solidFill>
                  <a:srgbClr val="E9F1F1"/>
                </a:solidFill>
                <a:latin typeface="Carlito" pitchFamily="34" charset="0"/>
                <a:ea typeface="Carlito" pitchFamily="34" charset="-122"/>
                <a:cs typeface="Carlito" pitchFamily="34" charset="-120"/>
              </a:rPr>
              <a:t>for Small Real Estate Agencies</a:t>
            </a:r>
            <a:endParaRPr lang="en-US" sz="2100" dirty="0"/>
          </a:p>
        </p:txBody>
      </p:sp>
      <p:sp>
        <p:nvSpPr>
          <p:cNvPr id="9" name="Text 5"/>
          <p:cNvSpPr/>
          <p:nvPr/>
        </p:nvSpPr>
        <p:spPr>
          <a:xfrm>
            <a:off x="658368" y="3154680"/>
            <a:ext cx="3474720" cy="274320"/>
          </a:xfrm>
          <a:prstGeom prst="rect">
            <a:avLst/>
          </a:prstGeom>
          <a:noFill/>
          <a:ln/>
        </p:spPr>
        <p:txBody>
          <a:bodyPr wrap="square" lIns="0" tIns="0" rIns="0" bIns="0" rtlCol="0" anchor="ctr"/>
          <a:lstStyle/>
          <a:p>
            <a:pPr indent="0" marL="0">
              <a:buNone/>
            </a:pPr>
            <a:r>
              <a:rPr lang="en-US" sz="1350" b="1" dirty="0">
                <a:solidFill>
                  <a:srgbClr val="BFD3D1"/>
                </a:solidFill>
              </a:rPr>
              <a:t>IA502001 — Studio 1 Presentation</a:t>
            </a:r>
            <a:endParaRPr lang="en-US" sz="1350" dirty="0"/>
          </a:p>
        </p:txBody>
      </p:sp>
      <p:sp>
        <p:nvSpPr>
          <p:cNvPr id="10" name="Shape 6"/>
          <p:cNvSpPr/>
          <p:nvPr/>
        </p:nvSpPr>
        <p:spPr>
          <a:xfrm>
            <a:off x="658368" y="3657600"/>
            <a:ext cx="1051560" cy="329184"/>
          </a:xfrm>
          <a:prstGeom prst="roundRect">
            <a:avLst>
              <a:gd name="adj" fmla="val 19444"/>
            </a:avLst>
          </a:prstGeom>
          <a:solidFill>
            <a:srgbClr val="2C6870"/>
          </a:solidFill>
          <a:ln w="12700">
            <a:solidFill>
              <a:srgbClr val="2C6870"/>
            </a:solidFill>
            <a:prstDash val="solid"/>
          </a:ln>
        </p:spPr>
      </p:sp>
      <p:sp>
        <p:nvSpPr>
          <p:cNvPr id="11" name="Text 7"/>
          <p:cNvSpPr/>
          <p:nvPr/>
        </p:nvSpPr>
        <p:spPr>
          <a:xfrm>
            <a:off x="731520" y="3730752"/>
            <a:ext cx="905256" cy="146304"/>
          </a:xfrm>
          <a:prstGeom prst="rect">
            <a:avLst/>
          </a:prstGeom>
          <a:noFill/>
          <a:ln/>
        </p:spPr>
        <p:txBody>
          <a:bodyPr wrap="square" lIns="0" tIns="0" rIns="0" bIns="0" rtlCol="0" anchor="ctr"/>
          <a:lstStyle/>
          <a:p>
            <a:pPr algn="ctr" indent="0" marL="0">
              <a:buNone/>
            </a:pPr>
            <a:r>
              <a:rPr lang="en-US" sz="1050" b="1" dirty="0">
                <a:solidFill>
                  <a:srgbClr val="FFFFFF"/>
                </a:solidFill>
              </a:rPr>
              <a:t>GROUP 2</a:t>
            </a:r>
            <a:endParaRPr lang="en-US" sz="1050" dirty="0"/>
          </a:p>
        </p:txBody>
      </p:sp>
      <p:sp>
        <p:nvSpPr>
          <p:cNvPr id="12" name="Text 8"/>
          <p:cNvSpPr/>
          <p:nvPr/>
        </p:nvSpPr>
        <p:spPr>
          <a:xfrm>
            <a:off x="658368" y="4251960"/>
            <a:ext cx="3200400" cy="1097280"/>
          </a:xfrm>
          <a:prstGeom prst="rect">
            <a:avLst/>
          </a:prstGeom>
          <a:noFill/>
          <a:ln/>
        </p:spPr>
        <p:txBody>
          <a:bodyPr wrap="square" lIns="254" tIns="254" rIns="254" bIns="254" rtlCol="0" anchor="ctr"/>
          <a:lstStyle/>
          <a:p>
            <a:pPr indent="0" marL="0">
              <a:buNone/>
            </a:pPr>
            <a:r>
              <a:rPr lang="en-US" sz="1600" b="1" dirty="0">
                <a:solidFill>
                  <a:srgbClr val="FFFFFF"/>
                </a:solidFill>
              </a:rPr>
              <a:t>Prasamsha Dahal</a:t>
            </a:r>
            <a:endParaRPr lang="en-US" sz="1600" dirty="0"/>
          </a:p>
          <a:p>
            <a:pPr indent="0" marL="0">
              <a:buNone/>
            </a:pPr>
            <a:r>
              <a:rPr lang="en-US" sz="1600" b="1" dirty="0">
                <a:solidFill>
                  <a:srgbClr val="FFFFFF"/>
                </a:solidFill>
              </a:rPr>
              <a:t>Harshdeep Kaur</a:t>
            </a:r>
            <a:endParaRPr lang="en-US" sz="1600" dirty="0"/>
          </a:p>
          <a:p>
            <a:pPr indent="0" marL="0">
              <a:buNone/>
            </a:pPr>
            <a:r>
              <a:rPr lang="en-US" sz="1600" b="1" dirty="0">
                <a:solidFill>
                  <a:srgbClr val="FFFFFF"/>
                </a:solidFill>
              </a:rPr>
              <a:t>Varish Makra</a:t>
            </a:r>
            <a:endParaRPr lang="en-US" sz="1600" dirty="0"/>
          </a:p>
        </p:txBody>
      </p:sp>
      <p:sp>
        <p:nvSpPr>
          <p:cNvPr id="13" name="Text 9"/>
          <p:cNvSpPr/>
          <p:nvPr/>
        </p:nvSpPr>
        <p:spPr>
          <a:xfrm>
            <a:off x="658368" y="5715000"/>
            <a:ext cx="2011680" cy="228600"/>
          </a:xfrm>
          <a:prstGeom prst="rect">
            <a:avLst/>
          </a:prstGeom>
          <a:noFill/>
          <a:ln/>
        </p:spPr>
        <p:txBody>
          <a:bodyPr wrap="square" lIns="0" tIns="0" rIns="0" bIns="0" rtlCol="0" anchor="ctr"/>
          <a:lstStyle/>
          <a:p>
            <a:pPr indent="0" marL="0">
              <a:buNone/>
            </a:pPr>
            <a:r>
              <a:rPr lang="en-US" sz="1150" dirty="0">
                <a:solidFill>
                  <a:srgbClr val="BFD3D1"/>
                </a:solidFill>
              </a:rPr>
              <a:t>August 2026</a:t>
            </a:r>
            <a:endParaRPr lang="en-US" sz="1150" dirty="0"/>
          </a:p>
        </p:txBody>
      </p:sp>
      <p:sp>
        <p:nvSpPr>
          <p:cNvPr id="14" name="Text 10"/>
          <p:cNvSpPr/>
          <p:nvPr/>
        </p:nvSpPr>
        <p:spPr>
          <a:xfrm>
            <a:off x="7818120" y="6016752"/>
            <a:ext cx="3200400" cy="320040"/>
          </a:xfrm>
          <a:prstGeom prst="rect">
            <a:avLst/>
          </a:prstGeom>
          <a:noFill/>
          <a:ln/>
        </p:spPr>
        <p:txBody>
          <a:bodyPr wrap="square" lIns="0" tIns="0" rIns="0" bIns="0" rtlCol="0" anchor="ctr"/>
          <a:lstStyle/>
          <a:p>
            <a:pPr algn="ctr" indent="0" marL="0">
              <a:buNone/>
            </a:pPr>
            <a:r>
              <a:rPr lang="en-US" sz="1700" b="1" i="1" dirty="0">
                <a:solidFill>
                  <a:srgbClr val="163A45"/>
                </a:solidFill>
              </a:rPr>
              <a:t>Find it. List it. Love it.</a:t>
            </a:r>
            <a:endParaRPr lang="en-US" sz="17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Table of Contents</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Presentation structure required for the Studio 1 PDR</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Text 4"/>
          <p:cNvSpPr/>
          <p:nvPr/>
        </p:nvSpPr>
        <p:spPr>
          <a:xfrm>
            <a:off x="777240" y="1417320"/>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01</a:t>
            </a:r>
            <a:endParaRPr lang="en-US" sz="1500" dirty="0"/>
          </a:p>
        </p:txBody>
      </p:sp>
      <p:sp>
        <p:nvSpPr>
          <p:cNvPr id="7" name="Text 5"/>
          <p:cNvSpPr/>
          <p:nvPr/>
        </p:nvSpPr>
        <p:spPr>
          <a:xfrm>
            <a:off x="1389888" y="1399032"/>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Introduction</a:t>
            </a:r>
            <a:endParaRPr lang="en-US" sz="1700" dirty="0"/>
          </a:p>
        </p:txBody>
      </p:sp>
      <p:sp>
        <p:nvSpPr>
          <p:cNvPr id="8" name="Shape 6"/>
          <p:cNvSpPr/>
          <p:nvPr/>
        </p:nvSpPr>
        <p:spPr>
          <a:xfrm>
            <a:off x="1371600" y="1801368"/>
            <a:ext cx="4434840" cy="0"/>
          </a:xfrm>
          <a:prstGeom prst="line">
            <a:avLst/>
          </a:prstGeom>
          <a:noFill/>
          <a:ln w="12700">
            <a:solidFill>
              <a:srgbClr val="D8DEDF"/>
            </a:solidFill>
            <a:prstDash val="solid"/>
          </a:ln>
        </p:spPr>
      </p:sp>
      <p:sp>
        <p:nvSpPr>
          <p:cNvPr id="9" name="Text 7"/>
          <p:cNvSpPr/>
          <p:nvPr/>
        </p:nvSpPr>
        <p:spPr>
          <a:xfrm>
            <a:off x="777240" y="2258568"/>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02</a:t>
            </a:r>
            <a:endParaRPr lang="en-US" sz="1500" dirty="0"/>
          </a:p>
        </p:txBody>
      </p:sp>
      <p:sp>
        <p:nvSpPr>
          <p:cNvPr id="10" name="Text 8"/>
          <p:cNvSpPr/>
          <p:nvPr/>
        </p:nvSpPr>
        <p:spPr>
          <a:xfrm>
            <a:off x="1389888" y="2240280"/>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Use Case Diagram</a:t>
            </a:r>
            <a:endParaRPr lang="en-US" sz="1700" dirty="0"/>
          </a:p>
        </p:txBody>
      </p:sp>
      <p:sp>
        <p:nvSpPr>
          <p:cNvPr id="11" name="Shape 9"/>
          <p:cNvSpPr/>
          <p:nvPr/>
        </p:nvSpPr>
        <p:spPr>
          <a:xfrm>
            <a:off x="1371600" y="2642616"/>
            <a:ext cx="4434840" cy="0"/>
          </a:xfrm>
          <a:prstGeom prst="line">
            <a:avLst/>
          </a:prstGeom>
          <a:noFill/>
          <a:ln w="12700">
            <a:solidFill>
              <a:srgbClr val="D8DEDF"/>
            </a:solidFill>
            <a:prstDash val="solid"/>
          </a:ln>
        </p:spPr>
      </p:sp>
      <p:sp>
        <p:nvSpPr>
          <p:cNvPr id="12" name="Text 10"/>
          <p:cNvSpPr/>
          <p:nvPr/>
        </p:nvSpPr>
        <p:spPr>
          <a:xfrm>
            <a:off x="777240" y="3099816"/>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03</a:t>
            </a:r>
            <a:endParaRPr lang="en-US" sz="1500" dirty="0"/>
          </a:p>
        </p:txBody>
      </p:sp>
      <p:sp>
        <p:nvSpPr>
          <p:cNvPr id="13" name="Text 11"/>
          <p:cNvSpPr/>
          <p:nvPr/>
        </p:nvSpPr>
        <p:spPr>
          <a:xfrm>
            <a:off x="1389888" y="3081528"/>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User Stories</a:t>
            </a:r>
            <a:endParaRPr lang="en-US" sz="1700" dirty="0"/>
          </a:p>
        </p:txBody>
      </p:sp>
      <p:sp>
        <p:nvSpPr>
          <p:cNvPr id="14" name="Shape 12"/>
          <p:cNvSpPr/>
          <p:nvPr/>
        </p:nvSpPr>
        <p:spPr>
          <a:xfrm>
            <a:off x="1371600" y="3483864"/>
            <a:ext cx="4434840" cy="0"/>
          </a:xfrm>
          <a:prstGeom prst="line">
            <a:avLst/>
          </a:prstGeom>
          <a:noFill/>
          <a:ln w="12700">
            <a:solidFill>
              <a:srgbClr val="D8DEDF"/>
            </a:solidFill>
            <a:prstDash val="solid"/>
          </a:ln>
        </p:spPr>
      </p:sp>
      <p:sp>
        <p:nvSpPr>
          <p:cNvPr id="15" name="Text 13"/>
          <p:cNvSpPr/>
          <p:nvPr/>
        </p:nvSpPr>
        <p:spPr>
          <a:xfrm>
            <a:off x="777240" y="3941064"/>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04</a:t>
            </a:r>
            <a:endParaRPr lang="en-US" sz="1500" dirty="0"/>
          </a:p>
        </p:txBody>
      </p:sp>
      <p:sp>
        <p:nvSpPr>
          <p:cNvPr id="16" name="Text 14"/>
          <p:cNvSpPr/>
          <p:nvPr/>
        </p:nvSpPr>
        <p:spPr>
          <a:xfrm>
            <a:off x="1389888" y="3922776"/>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Agile Practice</a:t>
            </a:r>
            <a:endParaRPr lang="en-US" sz="1700" dirty="0"/>
          </a:p>
        </p:txBody>
      </p:sp>
      <p:sp>
        <p:nvSpPr>
          <p:cNvPr id="17" name="Shape 15"/>
          <p:cNvSpPr/>
          <p:nvPr/>
        </p:nvSpPr>
        <p:spPr>
          <a:xfrm>
            <a:off x="1371600" y="4325112"/>
            <a:ext cx="4434840" cy="0"/>
          </a:xfrm>
          <a:prstGeom prst="line">
            <a:avLst/>
          </a:prstGeom>
          <a:noFill/>
          <a:ln w="12700">
            <a:solidFill>
              <a:srgbClr val="D8DEDF"/>
            </a:solidFill>
            <a:prstDash val="solid"/>
          </a:ln>
        </p:spPr>
      </p:sp>
      <p:sp>
        <p:nvSpPr>
          <p:cNvPr id="18" name="Text 16"/>
          <p:cNvSpPr/>
          <p:nvPr/>
        </p:nvSpPr>
        <p:spPr>
          <a:xfrm>
            <a:off x="777240" y="4782312"/>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05</a:t>
            </a:r>
            <a:endParaRPr lang="en-US" sz="1500" dirty="0"/>
          </a:p>
        </p:txBody>
      </p:sp>
      <p:sp>
        <p:nvSpPr>
          <p:cNvPr id="19" name="Text 17"/>
          <p:cNvSpPr/>
          <p:nvPr/>
        </p:nvSpPr>
        <p:spPr>
          <a:xfrm>
            <a:off x="1389888" y="4764024"/>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ER Diagram</a:t>
            </a:r>
            <a:endParaRPr lang="en-US" sz="1700" dirty="0"/>
          </a:p>
        </p:txBody>
      </p:sp>
      <p:sp>
        <p:nvSpPr>
          <p:cNvPr id="20" name="Shape 18"/>
          <p:cNvSpPr/>
          <p:nvPr/>
        </p:nvSpPr>
        <p:spPr>
          <a:xfrm>
            <a:off x="1371600" y="5166360"/>
            <a:ext cx="4434840" cy="0"/>
          </a:xfrm>
          <a:prstGeom prst="line">
            <a:avLst/>
          </a:prstGeom>
          <a:noFill/>
          <a:ln w="12700">
            <a:solidFill>
              <a:srgbClr val="D8DEDF"/>
            </a:solidFill>
            <a:prstDash val="solid"/>
          </a:ln>
        </p:spPr>
      </p:sp>
      <p:sp>
        <p:nvSpPr>
          <p:cNvPr id="21" name="Text 19"/>
          <p:cNvSpPr/>
          <p:nvPr/>
        </p:nvSpPr>
        <p:spPr>
          <a:xfrm>
            <a:off x="6400800" y="1417320"/>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06</a:t>
            </a:r>
            <a:endParaRPr lang="en-US" sz="1500" dirty="0"/>
          </a:p>
        </p:txBody>
      </p:sp>
      <p:sp>
        <p:nvSpPr>
          <p:cNvPr id="22" name="Text 20"/>
          <p:cNvSpPr/>
          <p:nvPr/>
        </p:nvSpPr>
        <p:spPr>
          <a:xfrm>
            <a:off x="7013448" y="1399032"/>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Data Dictionary</a:t>
            </a:r>
            <a:endParaRPr lang="en-US" sz="1700" dirty="0"/>
          </a:p>
        </p:txBody>
      </p:sp>
      <p:sp>
        <p:nvSpPr>
          <p:cNvPr id="23" name="Shape 21"/>
          <p:cNvSpPr/>
          <p:nvPr/>
        </p:nvSpPr>
        <p:spPr>
          <a:xfrm>
            <a:off x="6995160" y="1801368"/>
            <a:ext cx="4434840" cy="0"/>
          </a:xfrm>
          <a:prstGeom prst="line">
            <a:avLst/>
          </a:prstGeom>
          <a:noFill/>
          <a:ln w="12700">
            <a:solidFill>
              <a:srgbClr val="D8DEDF"/>
            </a:solidFill>
            <a:prstDash val="solid"/>
          </a:ln>
        </p:spPr>
      </p:sp>
      <p:sp>
        <p:nvSpPr>
          <p:cNvPr id="24" name="Text 22"/>
          <p:cNvSpPr/>
          <p:nvPr/>
        </p:nvSpPr>
        <p:spPr>
          <a:xfrm>
            <a:off x="6400800" y="2258568"/>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07</a:t>
            </a:r>
            <a:endParaRPr lang="en-US" sz="1500" dirty="0"/>
          </a:p>
        </p:txBody>
      </p:sp>
      <p:sp>
        <p:nvSpPr>
          <p:cNvPr id="25" name="Text 23"/>
          <p:cNvSpPr/>
          <p:nvPr/>
        </p:nvSpPr>
        <p:spPr>
          <a:xfrm>
            <a:off x="7013448" y="2240280"/>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GitHub Usage</a:t>
            </a:r>
            <a:endParaRPr lang="en-US" sz="1700" dirty="0"/>
          </a:p>
        </p:txBody>
      </p:sp>
      <p:sp>
        <p:nvSpPr>
          <p:cNvPr id="26" name="Shape 24"/>
          <p:cNvSpPr/>
          <p:nvPr/>
        </p:nvSpPr>
        <p:spPr>
          <a:xfrm>
            <a:off x="6995160" y="2642616"/>
            <a:ext cx="4434840" cy="0"/>
          </a:xfrm>
          <a:prstGeom prst="line">
            <a:avLst/>
          </a:prstGeom>
          <a:noFill/>
          <a:ln w="12700">
            <a:solidFill>
              <a:srgbClr val="D8DEDF"/>
            </a:solidFill>
            <a:prstDash val="solid"/>
          </a:ln>
        </p:spPr>
      </p:sp>
      <p:sp>
        <p:nvSpPr>
          <p:cNvPr id="27" name="Text 25"/>
          <p:cNvSpPr/>
          <p:nvPr/>
        </p:nvSpPr>
        <p:spPr>
          <a:xfrm>
            <a:off x="6400800" y="3099816"/>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08</a:t>
            </a:r>
            <a:endParaRPr lang="en-US" sz="1500" dirty="0"/>
          </a:p>
        </p:txBody>
      </p:sp>
      <p:sp>
        <p:nvSpPr>
          <p:cNvPr id="28" name="Text 26"/>
          <p:cNvSpPr/>
          <p:nvPr/>
        </p:nvSpPr>
        <p:spPr>
          <a:xfrm>
            <a:off x="7013448" y="3081528"/>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Challenges</a:t>
            </a:r>
            <a:endParaRPr lang="en-US" sz="1700" dirty="0"/>
          </a:p>
        </p:txBody>
      </p:sp>
      <p:sp>
        <p:nvSpPr>
          <p:cNvPr id="29" name="Shape 27"/>
          <p:cNvSpPr/>
          <p:nvPr/>
        </p:nvSpPr>
        <p:spPr>
          <a:xfrm>
            <a:off x="6995160" y="3483864"/>
            <a:ext cx="4434840" cy="0"/>
          </a:xfrm>
          <a:prstGeom prst="line">
            <a:avLst/>
          </a:prstGeom>
          <a:noFill/>
          <a:ln w="12700">
            <a:solidFill>
              <a:srgbClr val="D8DEDF"/>
            </a:solidFill>
            <a:prstDash val="solid"/>
          </a:ln>
        </p:spPr>
      </p:sp>
      <p:sp>
        <p:nvSpPr>
          <p:cNvPr id="30" name="Text 28"/>
          <p:cNvSpPr/>
          <p:nvPr/>
        </p:nvSpPr>
        <p:spPr>
          <a:xfrm>
            <a:off x="6400800" y="3941064"/>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09</a:t>
            </a:r>
            <a:endParaRPr lang="en-US" sz="1500" dirty="0"/>
          </a:p>
        </p:txBody>
      </p:sp>
      <p:sp>
        <p:nvSpPr>
          <p:cNvPr id="31" name="Text 29"/>
          <p:cNvSpPr/>
          <p:nvPr/>
        </p:nvSpPr>
        <p:spPr>
          <a:xfrm>
            <a:off x="7013448" y="3922776"/>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Conclusion</a:t>
            </a:r>
            <a:endParaRPr lang="en-US" sz="1700" dirty="0"/>
          </a:p>
        </p:txBody>
      </p:sp>
      <p:sp>
        <p:nvSpPr>
          <p:cNvPr id="32" name="Shape 30"/>
          <p:cNvSpPr/>
          <p:nvPr/>
        </p:nvSpPr>
        <p:spPr>
          <a:xfrm>
            <a:off x="6995160" y="4325112"/>
            <a:ext cx="4434840" cy="0"/>
          </a:xfrm>
          <a:prstGeom prst="line">
            <a:avLst/>
          </a:prstGeom>
          <a:noFill/>
          <a:ln w="12700">
            <a:solidFill>
              <a:srgbClr val="D8DEDF"/>
            </a:solidFill>
            <a:prstDash val="solid"/>
          </a:ln>
        </p:spPr>
      </p:sp>
      <p:sp>
        <p:nvSpPr>
          <p:cNvPr id="33" name="Text 31"/>
          <p:cNvSpPr/>
          <p:nvPr/>
        </p:nvSpPr>
        <p:spPr>
          <a:xfrm>
            <a:off x="6400800" y="4782312"/>
            <a:ext cx="502920" cy="256032"/>
          </a:xfrm>
          <a:prstGeom prst="rect">
            <a:avLst/>
          </a:prstGeom>
          <a:noFill/>
          <a:ln/>
        </p:spPr>
        <p:txBody>
          <a:bodyPr wrap="square" lIns="0" tIns="0" rIns="0" bIns="0" rtlCol="0" anchor="ctr"/>
          <a:lstStyle/>
          <a:p>
            <a:pPr indent="0" marL="0">
              <a:buNone/>
            </a:pPr>
            <a:r>
              <a:rPr lang="en-US" sz="1500" b="1" dirty="0">
                <a:solidFill>
                  <a:srgbClr val="C96F47"/>
                </a:solidFill>
              </a:rPr>
              <a:t>10</a:t>
            </a:r>
            <a:endParaRPr lang="en-US" sz="1500" dirty="0"/>
          </a:p>
        </p:txBody>
      </p:sp>
      <p:sp>
        <p:nvSpPr>
          <p:cNvPr id="34" name="Text 32"/>
          <p:cNvSpPr/>
          <p:nvPr/>
        </p:nvSpPr>
        <p:spPr>
          <a:xfrm>
            <a:off x="7013448" y="4764024"/>
            <a:ext cx="4206240" cy="292608"/>
          </a:xfrm>
          <a:prstGeom prst="rect">
            <a:avLst/>
          </a:prstGeom>
          <a:noFill/>
          <a:ln/>
        </p:spPr>
        <p:txBody>
          <a:bodyPr wrap="square" lIns="0" tIns="0" rIns="0" bIns="0" rtlCol="0" anchor="ctr"/>
          <a:lstStyle/>
          <a:p>
            <a:pPr indent="0" marL="0">
              <a:buNone/>
            </a:pPr>
            <a:r>
              <a:rPr lang="en-US" sz="1700" b="1" dirty="0">
                <a:solidFill>
                  <a:srgbClr val="1F2937"/>
                </a:solidFill>
              </a:rPr>
              <a:t>Q &amp; A</a:t>
            </a:r>
            <a:endParaRPr lang="en-US" sz="1700" dirty="0"/>
          </a:p>
        </p:txBody>
      </p:sp>
      <p:sp>
        <p:nvSpPr>
          <p:cNvPr id="35" name="Shape 33"/>
          <p:cNvSpPr/>
          <p:nvPr/>
        </p:nvSpPr>
        <p:spPr>
          <a:xfrm>
            <a:off x="6995160" y="5166360"/>
            <a:ext cx="4434840" cy="0"/>
          </a:xfrm>
          <a:prstGeom prst="line">
            <a:avLst/>
          </a:prstGeom>
          <a:noFill/>
          <a:ln w="12700">
            <a:solidFill>
              <a:srgbClr val="D8DEDF"/>
            </a:solidFill>
            <a:prstDash val="solid"/>
          </a:ln>
        </p:spPr>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Introduction</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Why NestUp exists and what problem it solves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Shape 4"/>
          <p:cNvSpPr/>
          <p:nvPr/>
        </p:nvSpPr>
        <p:spPr>
          <a:xfrm>
            <a:off x="640080" y="1417320"/>
            <a:ext cx="4892040" cy="4434840"/>
          </a:xfrm>
          <a:prstGeom prst="roundRect">
            <a:avLst>
              <a:gd name="adj" fmla="val 2062"/>
            </a:avLst>
          </a:prstGeom>
          <a:solidFill>
            <a:srgbClr val="163A45"/>
          </a:solidFill>
          <a:ln w="12700">
            <a:solidFill>
              <a:srgbClr val="163A45"/>
            </a:solidFill>
            <a:prstDash val="solid"/>
          </a:ln>
        </p:spPr>
      </p:sp>
      <p:sp>
        <p:nvSpPr>
          <p:cNvPr id="7" name="Text 5"/>
          <p:cNvSpPr/>
          <p:nvPr/>
        </p:nvSpPr>
        <p:spPr>
          <a:xfrm>
            <a:off x="1005840" y="1783080"/>
            <a:ext cx="2286000" cy="320040"/>
          </a:xfrm>
          <a:prstGeom prst="rect">
            <a:avLst/>
          </a:prstGeom>
          <a:noFill/>
          <a:ln/>
        </p:spPr>
        <p:txBody>
          <a:bodyPr wrap="square" lIns="0" tIns="0" rIns="0" bIns="0" rtlCol="0" anchor="ctr"/>
          <a:lstStyle/>
          <a:p>
            <a:pPr indent="0" marL="0">
              <a:buNone/>
            </a:pPr>
            <a:r>
              <a:rPr lang="en-US" sz="2100" b="1" dirty="0">
                <a:solidFill>
                  <a:srgbClr val="FFFFFF"/>
                </a:solidFill>
              </a:rPr>
              <a:t>The problem</a:t>
            </a:r>
            <a:endParaRPr lang="en-US" sz="2100" dirty="0"/>
          </a:p>
        </p:txBody>
      </p:sp>
      <p:sp>
        <p:nvSpPr>
          <p:cNvPr id="8" name="Text 6"/>
          <p:cNvSpPr/>
          <p:nvPr/>
        </p:nvSpPr>
        <p:spPr>
          <a:xfrm>
            <a:off x="1005840" y="2331720"/>
            <a:ext cx="4069080" cy="1234440"/>
          </a:xfrm>
          <a:prstGeom prst="rect">
            <a:avLst/>
          </a:prstGeom>
          <a:noFill/>
          <a:ln/>
        </p:spPr>
        <p:txBody>
          <a:bodyPr wrap="square" lIns="0" tIns="0" rIns="0" bIns="0" rtlCol="0" anchor="ctr">
            <a:normAutofit/>
          </a:bodyPr>
          <a:lstStyle/>
          <a:p>
            <a:pPr indent="0" marL="0">
              <a:buNone/>
            </a:pPr>
            <a:r>
              <a:rPr lang="en-US" sz="1700" dirty="0">
                <a:solidFill>
                  <a:srgbClr val="E6EFEF"/>
                </a:solidFill>
              </a:rPr>
              <a:t>Small agencies often keep listings, buyer details, viewing bookings and offers in separate places — spreadsheets, diaries, texts and notes.</a:t>
            </a:r>
            <a:endParaRPr lang="en-US" sz="1700" dirty="0"/>
          </a:p>
        </p:txBody>
      </p:sp>
      <p:sp>
        <p:nvSpPr>
          <p:cNvPr id="9" name="Text 7"/>
          <p:cNvSpPr/>
          <p:nvPr/>
        </p:nvSpPr>
        <p:spPr>
          <a:xfrm>
            <a:off x="1005840" y="3886200"/>
            <a:ext cx="4069080" cy="1143000"/>
          </a:xfrm>
          <a:prstGeom prst="rect">
            <a:avLst/>
          </a:prstGeom>
          <a:noFill/>
          <a:ln/>
        </p:spPr>
        <p:txBody>
          <a:bodyPr wrap="square" lIns="0" tIns="0" rIns="0" bIns="0" rtlCol="0" anchor="ctr">
            <a:normAutofit/>
          </a:bodyPr>
          <a:lstStyle/>
          <a:p>
            <a:pPr indent="0" marL="0">
              <a:buNone/>
            </a:pPr>
            <a:r>
              <a:rPr lang="en-US" sz="1700" b="1" dirty="0">
                <a:solidFill>
                  <a:srgbClr val="FFFFFF"/>
                </a:solidFill>
              </a:rPr>
              <a:t>NestUp brings these records into one relational database so agents can find a client or property history quickly and keep information consistent.</a:t>
            </a:r>
            <a:endParaRPr lang="en-US" sz="1700" dirty="0"/>
          </a:p>
        </p:txBody>
      </p:sp>
      <p:sp>
        <p:nvSpPr>
          <p:cNvPr id="10" name="Shape 8"/>
          <p:cNvSpPr/>
          <p:nvPr/>
        </p:nvSpPr>
        <p:spPr>
          <a:xfrm>
            <a:off x="5806440" y="141732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1" name="Shape 9"/>
          <p:cNvSpPr/>
          <p:nvPr/>
        </p:nvSpPr>
        <p:spPr>
          <a:xfrm>
            <a:off x="6007608" y="1618488"/>
            <a:ext cx="512064" cy="512064"/>
          </a:xfrm>
          <a:prstGeom prst="ellipse">
            <a:avLst/>
          </a:prstGeom>
          <a:solidFill>
            <a:srgbClr val="1F5A5A">
              <a:alpha val="12000"/>
            </a:srgbClr>
          </a:solidFill>
          <a:ln w="12700">
            <a:solidFill>
              <a:srgbClr val="1F5A5A">
                <a:alpha val="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0" y="1737360"/>
            <a:ext cx="274320" cy="274320"/>
          </a:xfrm>
          <a:prstGeom prst="rect">
            <a:avLst/>
          </a:prstGeom>
        </p:spPr>
      </p:pic>
      <p:sp>
        <p:nvSpPr>
          <p:cNvPr id="13" name="Text 10"/>
          <p:cNvSpPr/>
          <p:nvPr/>
        </p:nvSpPr>
        <p:spPr>
          <a:xfrm>
            <a:off x="6647688" y="164592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Centralised data</a:t>
            </a:r>
            <a:endParaRPr lang="en-US" sz="1550" dirty="0"/>
          </a:p>
        </p:txBody>
      </p:sp>
      <p:sp>
        <p:nvSpPr>
          <p:cNvPr id="14" name="Text 11"/>
          <p:cNvSpPr/>
          <p:nvPr/>
        </p:nvSpPr>
        <p:spPr>
          <a:xfrm>
            <a:off x="6647688" y="198424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Listings, vendors, buyers, viewings, offers and sales in one place.</a:t>
            </a:r>
            <a:endParaRPr lang="en-US" sz="1120" dirty="0"/>
          </a:p>
        </p:txBody>
      </p:sp>
      <p:sp>
        <p:nvSpPr>
          <p:cNvPr id="15" name="Shape 12"/>
          <p:cNvSpPr/>
          <p:nvPr/>
        </p:nvSpPr>
        <p:spPr>
          <a:xfrm>
            <a:off x="8668512" y="141732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6" name="Shape 13"/>
          <p:cNvSpPr/>
          <p:nvPr/>
        </p:nvSpPr>
        <p:spPr>
          <a:xfrm>
            <a:off x="8869680" y="1618488"/>
            <a:ext cx="512064" cy="512064"/>
          </a:xfrm>
          <a:prstGeom prst="ellipse">
            <a:avLst/>
          </a:prstGeom>
          <a:solidFill>
            <a:srgbClr val="C96F47">
              <a:alpha val="12000"/>
            </a:srgbClr>
          </a:solidFill>
          <a:ln w="12700">
            <a:solidFill>
              <a:srgbClr val="C96F47">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8552" y="1737360"/>
            <a:ext cx="274320" cy="274320"/>
          </a:xfrm>
          <a:prstGeom prst="rect">
            <a:avLst/>
          </a:prstGeom>
        </p:spPr>
      </p:pic>
      <p:sp>
        <p:nvSpPr>
          <p:cNvPr id="18" name="Text 14"/>
          <p:cNvSpPr/>
          <p:nvPr/>
        </p:nvSpPr>
        <p:spPr>
          <a:xfrm>
            <a:off x="9509760" y="164592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Faster search</a:t>
            </a:r>
            <a:endParaRPr lang="en-US" sz="1550" dirty="0"/>
          </a:p>
        </p:txBody>
      </p:sp>
      <p:sp>
        <p:nvSpPr>
          <p:cNvPr id="19" name="Text 15"/>
          <p:cNvSpPr/>
          <p:nvPr/>
        </p:nvSpPr>
        <p:spPr>
          <a:xfrm>
            <a:off x="9509760" y="198424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Agents can filter listings and quickly retrieve a client or property history.</a:t>
            </a:r>
            <a:endParaRPr lang="en-US" sz="1120" dirty="0"/>
          </a:p>
        </p:txBody>
      </p:sp>
      <p:sp>
        <p:nvSpPr>
          <p:cNvPr id="20" name="Shape 16"/>
          <p:cNvSpPr/>
          <p:nvPr/>
        </p:nvSpPr>
        <p:spPr>
          <a:xfrm>
            <a:off x="5806440" y="352044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1" name="Shape 17"/>
          <p:cNvSpPr/>
          <p:nvPr/>
        </p:nvSpPr>
        <p:spPr>
          <a:xfrm>
            <a:off x="6007608" y="3721608"/>
            <a:ext cx="512064" cy="512064"/>
          </a:xfrm>
          <a:prstGeom prst="ellipse">
            <a:avLst/>
          </a:prstGeom>
          <a:solidFill>
            <a:srgbClr val="4B7A6A">
              <a:alpha val="12000"/>
            </a:srgbClr>
          </a:solidFill>
          <a:ln w="12700">
            <a:solidFill>
              <a:srgbClr val="4B7A6A">
                <a:alpha val="0"/>
              </a:srgbClr>
            </a:solidFill>
            <a:prstDash val="solid"/>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26480" y="3840480"/>
            <a:ext cx="274320" cy="274320"/>
          </a:xfrm>
          <a:prstGeom prst="rect">
            <a:avLst/>
          </a:prstGeom>
        </p:spPr>
      </p:pic>
      <p:sp>
        <p:nvSpPr>
          <p:cNvPr id="23" name="Text 18"/>
          <p:cNvSpPr/>
          <p:nvPr/>
        </p:nvSpPr>
        <p:spPr>
          <a:xfrm>
            <a:off x="6647688" y="374904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Better matching</a:t>
            </a:r>
            <a:endParaRPr lang="en-US" sz="1550" dirty="0"/>
          </a:p>
        </p:txBody>
      </p:sp>
      <p:sp>
        <p:nvSpPr>
          <p:cNvPr id="24" name="Text 19"/>
          <p:cNvSpPr/>
          <p:nvPr/>
        </p:nvSpPr>
        <p:spPr>
          <a:xfrm>
            <a:off x="6647688" y="408736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Buyer budgets and preferences can be compared with current properties.</a:t>
            </a:r>
            <a:endParaRPr lang="en-US" sz="1120" dirty="0"/>
          </a:p>
        </p:txBody>
      </p:sp>
      <p:sp>
        <p:nvSpPr>
          <p:cNvPr id="25" name="Shape 20"/>
          <p:cNvSpPr/>
          <p:nvPr/>
        </p:nvSpPr>
        <p:spPr>
          <a:xfrm>
            <a:off x="8668512" y="3520440"/>
            <a:ext cx="2651760" cy="1828800"/>
          </a:xfrm>
          <a:prstGeom prst="roundRect">
            <a:avLst>
              <a:gd name="adj" fmla="val 4000"/>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6" name="Shape 21"/>
          <p:cNvSpPr/>
          <p:nvPr/>
        </p:nvSpPr>
        <p:spPr>
          <a:xfrm>
            <a:off x="8869680" y="3721608"/>
            <a:ext cx="512064" cy="512064"/>
          </a:xfrm>
          <a:prstGeom prst="ellipse">
            <a:avLst/>
          </a:prstGeom>
          <a:solidFill>
            <a:srgbClr val="163A45">
              <a:alpha val="12000"/>
            </a:srgbClr>
          </a:solidFill>
          <a:ln w="12700">
            <a:solidFill>
              <a:srgbClr val="163A45">
                <a:alpha val="0"/>
              </a:srgbClr>
            </a:solidFill>
            <a:prstDash val="solid"/>
          </a:ln>
        </p:spPr>
      </p:sp>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88552" y="3840480"/>
            <a:ext cx="274320" cy="274320"/>
          </a:xfrm>
          <a:prstGeom prst="rect">
            <a:avLst/>
          </a:prstGeom>
        </p:spPr>
      </p:pic>
      <p:sp>
        <p:nvSpPr>
          <p:cNvPr id="28" name="Text 22"/>
          <p:cNvSpPr/>
          <p:nvPr/>
        </p:nvSpPr>
        <p:spPr>
          <a:xfrm>
            <a:off x="9509760" y="3749040"/>
            <a:ext cx="1600200" cy="256032"/>
          </a:xfrm>
          <a:prstGeom prst="rect">
            <a:avLst/>
          </a:prstGeom>
          <a:noFill/>
          <a:ln/>
        </p:spPr>
        <p:txBody>
          <a:bodyPr wrap="square" lIns="0" tIns="0" rIns="0" bIns="0" rtlCol="0" anchor="ctr"/>
          <a:lstStyle/>
          <a:p>
            <a:pPr indent="0" marL="0">
              <a:buNone/>
            </a:pPr>
            <a:r>
              <a:rPr lang="en-US" sz="1550" b="1" dirty="0">
                <a:solidFill>
                  <a:srgbClr val="1F2937"/>
                </a:solidFill>
              </a:rPr>
              <a:t>Clear workflow</a:t>
            </a:r>
            <a:endParaRPr lang="en-US" sz="1550" dirty="0"/>
          </a:p>
        </p:txBody>
      </p:sp>
      <p:sp>
        <p:nvSpPr>
          <p:cNvPr id="29" name="Text 23"/>
          <p:cNvSpPr/>
          <p:nvPr/>
        </p:nvSpPr>
        <p:spPr>
          <a:xfrm>
            <a:off x="9509760" y="4087368"/>
            <a:ext cx="1600200" cy="109728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Viewings lead to offers, and accepted offers can become sale records.</a:t>
            </a:r>
            <a:endParaRPr lang="en-US" sz="11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icture 1" descr="NestUp_Use_Case_Final.png"/>
          <p:cNvPicPr>
            <a:picLocks noChangeAspect="1"/>
          </p:cNvPicPr>
          <p:nvPr/>
        </p:nvPicPr>
        <p:blipFill>
          <a:blip r:embed="rId9"/>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Prasamsha Dahal</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Agent &amp; Vendor</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create and update property listings so that the agency always has current information.</a:t>
            </a:r>
            <a:endParaRPr lang="en-US" sz="1120" dirty="0"/>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vendor, I want my property details linked to my listing so that ownership and property information are clear.</a:t>
            </a:r>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vendor, I want to receive updates about offers on my property so that I can make informed decisions.</a:t>
            </a:r>
          </a:p>
        </p:txBody>
      </p:sp>
      <p:sp>
        <p:nvSpPr>
          <p:cNvPr id="21" name="Shape 16"/>
          <p:cNvSpPr/>
          <p:nvPr/>
        </p:nvSpPr>
        <p:spPr>
          <a:xfrm>
            <a:off x="4480560" y="5897880"/>
            <a:ext cx="324612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553712" y="5971032"/>
            <a:ext cx="309981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AGENT + VENDOR</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Harshdeep Kaur</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Buyer &amp; Property</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buyer, I want to register with a budget and preferences so that my needs can be stored and matched.</a:t>
            </a:r>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an agent, I want to filter properties by price, status and other useful details so that I can find suitable listings quickly.</a:t>
            </a:r>
            <a:endParaRPr lang="en-US" sz="1120" dirty="0"/>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buyer, I want to compare suitable properties so that I can create a useful shortlist.</a:t>
            </a:r>
          </a:p>
        </p:txBody>
      </p:sp>
      <p:sp>
        <p:nvSpPr>
          <p:cNvPr id="21" name="Shape 16"/>
          <p:cNvSpPr/>
          <p:nvPr/>
        </p:nvSpPr>
        <p:spPr>
          <a:xfrm>
            <a:off x="4462272" y="5897880"/>
            <a:ext cx="329184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535424" y="5971032"/>
            <a:ext cx="314553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BUYER + PROPERTY</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User Stories — Varish Makra</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Individual contribution focus: Viewing, Offer &amp; Sale</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777240"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97840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7280" y="1737360"/>
            <a:ext cx="274320" cy="274320"/>
          </a:xfrm>
          <a:prstGeom prst="rect">
            <a:avLst/>
          </a:prstGeom>
        </p:spPr>
      </p:pic>
      <p:sp>
        <p:nvSpPr>
          <p:cNvPr id="9" name="Text 6"/>
          <p:cNvSpPr/>
          <p:nvPr/>
        </p:nvSpPr>
        <p:spPr>
          <a:xfrm>
            <a:off x="1618488"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1</a:t>
            </a:r>
            <a:endParaRPr lang="en-US" sz="1550" dirty="0"/>
          </a:p>
        </p:txBody>
      </p:sp>
      <p:sp>
        <p:nvSpPr>
          <p:cNvPr id="10" name="Text 7"/>
          <p:cNvSpPr/>
          <p:nvPr/>
        </p:nvSpPr>
        <p:spPr>
          <a:xfrm>
            <a:off x="1618488"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buyer, I want to book viewings and record feedback so that I can evaluate properties.</a:t>
            </a:r>
          </a:p>
        </p:txBody>
      </p:sp>
      <p:sp>
        <p:nvSpPr>
          <p:cNvPr id="11" name="Shape 8"/>
          <p:cNvSpPr/>
          <p:nvPr/>
        </p:nvSpPr>
        <p:spPr>
          <a:xfrm>
            <a:off x="4352544"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2" name="Shape 9"/>
          <p:cNvSpPr/>
          <p:nvPr/>
        </p:nvSpPr>
        <p:spPr>
          <a:xfrm>
            <a:off x="4553712" y="1618488"/>
            <a:ext cx="512064" cy="512064"/>
          </a:xfrm>
          <a:prstGeom prst="ellipse">
            <a:avLst/>
          </a:prstGeom>
          <a:solidFill>
            <a:srgbClr val="C96F47">
              <a:alpha val="12000"/>
            </a:srgbClr>
          </a:solidFill>
          <a:ln w="12700">
            <a:solidFill>
              <a:srgbClr val="C96F47">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37360"/>
            <a:ext cx="274320" cy="274320"/>
          </a:xfrm>
          <a:prstGeom prst="rect">
            <a:avLst/>
          </a:prstGeom>
        </p:spPr>
      </p:pic>
      <p:sp>
        <p:nvSpPr>
          <p:cNvPr id="14" name="Text 10"/>
          <p:cNvSpPr/>
          <p:nvPr/>
        </p:nvSpPr>
        <p:spPr>
          <a:xfrm>
            <a:off x="5193792"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2</a:t>
            </a:r>
            <a:endParaRPr lang="en-US" sz="1550" dirty="0"/>
          </a:p>
        </p:txBody>
      </p:sp>
      <p:sp>
        <p:nvSpPr>
          <p:cNvPr id="15" name="Text 11"/>
          <p:cNvSpPr/>
          <p:nvPr/>
        </p:nvSpPr>
        <p:spPr>
          <a:xfrm>
            <a:off x="5193792" y="1984248"/>
            <a:ext cx="2441448" cy="3657600"/>
          </a:xfrm>
          <a:prstGeom prst="rect">
            <a:avLst/>
          </a:prstGeom>
          <a:noFill/>
          <a:ln/>
        </p:spPr>
        <p:txBody>
          <a:bodyPr wrap="square" lIns="0" tIns="0" rIns="0" bIns="0" rtlCol="0" anchor="t">
            <a:normAutofit/>
          </a:bodyPr>
          <a:lstStyle/>
          <a:p>
            <a:pPr>
              <a:spcAft>
                <a:spcPts val="0"/>
              </a:spcAft>
            </a:pPr>
            <a:r>
              <a:rPr sz="1100">
                <a:solidFill>
                  <a:srgbClr val="5B696F"/>
                </a:solidFill>
                <a:latin typeface="Aptos"/>
              </a:rPr>
              <a:t>As a buyer, I want to submit an offer and track its status so that I know how my negotiation is progressing.</a:t>
            </a:r>
          </a:p>
        </p:txBody>
      </p:sp>
      <p:sp>
        <p:nvSpPr>
          <p:cNvPr id="16" name="Shape 12"/>
          <p:cNvSpPr/>
          <p:nvPr/>
        </p:nvSpPr>
        <p:spPr>
          <a:xfrm>
            <a:off x="7927848" y="1417320"/>
            <a:ext cx="3493008" cy="4389120"/>
          </a:xfrm>
          <a:prstGeom prst="roundRect">
            <a:avLst>
              <a:gd name="adj" fmla="val 2094"/>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7" name="Shape 13"/>
          <p:cNvSpPr/>
          <p:nvPr/>
        </p:nvSpPr>
        <p:spPr>
          <a:xfrm>
            <a:off x="8129016" y="1618488"/>
            <a:ext cx="512064" cy="512064"/>
          </a:xfrm>
          <a:prstGeom prst="ellipse">
            <a:avLst/>
          </a:prstGeom>
          <a:solidFill>
            <a:srgbClr val="4B7A6A">
              <a:alpha val="12000"/>
            </a:srgbClr>
          </a:solidFill>
          <a:ln w="12700">
            <a:solidFill>
              <a:srgbClr val="4B7A6A">
                <a:alpha val="0"/>
              </a:srgbClr>
            </a:solidFill>
            <a:prstDash val="solid"/>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7888" y="1737360"/>
            <a:ext cx="274320" cy="274320"/>
          </a:xfrm>
          <a:prstGeom prst="rect">
            <a:avLst/>
          </a:prstGeom>
        </p:spPr>
      </p:pic>
      <p:sp>
        <p:nvSpPr>
          <p:cNvPr id="19" name="Text 14"/>
          <p:cNvSpPr/>
          <p:nvPr/>
        </p:nvSpPr>
        <p:spPr>
          <a:xfrm>
            <a:off x="8769096" y="1645920"/>
            <a:ext cx="2441448" cy="256032"/>
          </a:xfrm>
          <a:prstGeom prst="rect">
            <a:avLst/>
          </a:prstGeom>
          <a:noFill/>
          <a:ln/>
        </p:spPr>
        <p:txBody>
          <a:bodyPr wrap="square" lIns="0" tIns="0" rIns="0" bIns="0" rtlCol="0" anchor="ctr"/>
          <a:lstStyle/>
          <a:p>
            <a:pPr indent="0" marL="0">
              <a:buNone/>
            </a:pPr>
            <a:r>
              <a:rPr lang="en-US" sz="1550" b="1" dirty="0">
                <a:solidFill>
                  <a:srgbClr val="1F2937"/>
                </a:solidFill>
              </a:rPr>
              <a:t>Story 3</a:t>
            </a:r>
            <a:endParaRPr lang="en-US" sz="1550" dirty="0"/>
          </a:p>
        </p:txBody>
      </p:sp>
      <p:sp>
        <p:nvSpPr>
          <p:cNvPr id="20" name="Text 15"/>
          <p:cNvSpPr/>
          <p:nvPr/>
        </p:nvSpPr>
        <p:spPr>
          <a:xfrm>
            <a:off x="8769096" y="1984248"/>
            <a:ext cx="2441448" cy="36576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As a manager, I want an accepted offer linked to one sale so that a property cannot be double-sold and the final value is traceable.</a:t>
            </a:r>
            <a:endParaRPr lang="en-US" sz="1120" dirty="0"/>
          </a:p>
        </p:txBody>
      </p:sp>
      <p:sp>
        <p:nvSpPr>
          <p:cNvPr id="21" name="Shape 16"/>
          <p:cNvSpPr/>
          <p:nvPr/>
        </p:nvSpPr>
        <p:spPr>
          <a:xfrm>
            <a:off x="4114800" y="5897880"/>
            <a:ext cx="3977640" cy="329184"/>
          </a:xfrm>
          <a:prstGeom prst="roundRect">
            <a:avLst>
              <a:gd name="adj" fmla="val 19444"/>
            </a:avLst>
          </a:prstGeom>
          <a:solidFill>
            <a:srgbClr val="EEE2CD"/>
          </a:solidFill>
          <a:ln w="12700">
            <a:solidFill>
              <a:srgbClr val="EEE2CD"/>
            </a:solidFill>
            <a:prstDash val="solid"/>
          </a:ln>
        </p:spPr>
      </p:sp>
      <p:sp>
        <p:nvSpPr>
          <p:cNvPr id="22" name="Text 17"/>
          <p:cNvSpPr/>
          <p:nvPr/>
        </p:nvSpPr>
        <p:spPr>
          <a:xfrm>
            <a:off x="4187952" y="5971032"/>
            <a:ext cx="3831336" cy="146304"/>
          </a:xfrm>
          <a:prstGeom prst="rect">
            <a:avLst/>
          </a:prstGeom>
          <a:noFill/>
          <a:ln/>
        </p:spPr>
        <p:txBody>
          <a:bodyPr wrap="square" lIns="0" tIns="0" rIns="0" bIns="0" rtlCol="0" anchor="ctr"/>
          <a:lstStyle/>
          <a:p>
            <a:pPr algn="ctr" indent="0" marL="0">
              <a:buNone/>
            </a:pPr>
            <a:r>
              <a:rPr lang="en-US" sz="1050" b="1" dirty="0">
                <a:solidFill>
                  <a:srgbClr val="163A45"/>
                </a:solidFill>
              </a:rPr>
              <a:t>Tables: VIEWING + OFFER + SALE</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Brief Explanation of Agile Practice</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A lightweight iterative approach aligned with the Studio 1 weekly milestones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4572000" y="1463040"/>
            <a:ext cx="2971800" cy="2971800"/>
          </a:xfrm>
          <a:prstGeom prst="ellipse">
            <a:avLst/>
          </a:prstGeom>
          <a:solidFill>
            <a:srgbClr val="DCEBE4"/>
          </a:solidFill>
          <a:ln w="15240">
            <a:solidFill>
              <a:srgbClr val="1F5A5A"/>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349240" y="2212848"/>
            <a:ext cx="1417320" cy="1417320"/>
          </a:xfrm>
          <a:prstGeom prst="rect">
            <a:avLst/>
          </a:prstGeom>
        </p:spPr>
      </p:pic>
      <p:sp>
        <p:nvSpPr>
          <p:cNvPr id="8" name="Text 5"/>
          <p:cNvSpPr/>
          <p:nvPr/>
        </p:nvSpPr>
        <p:spPr>
          <a:xfrm>
            <a:off x="4206240" y="3794760"/>
            <a:ext cx="3703320" cy="274320"/>
          </a:xfrm>
          <a:prstGeom prst="rect">
            <a:avLst/>
          </a:prstGeom>
          <a:noFill/>
          <a:ln/>
        </p:spPr>
        <p:txBody>
          <a:bodyPr wrap="square" lIns="0" tIns="0" rIns="0" bIns="0" rtlCol="0" anchor="ctr"/>
          <a:lstStyle/>
          <a:p>
            <a:pPr algn="ctr" indent="0" marL="0">
              <a:buNone/>
            </a:pPr>
            <a:r>
              <a:rPr lang="en-US" sz="1400" b="1" dirty="0">
                <a:solidFill>
                  <a:srgbClr val="163A45"/>
                </a:solidFill>
              </a:rPr>
              <a:t>PLAN → BUILD → TEST → REVIEW</a:t>
            </a:r>
            <a:endParaRPr lang="en-US" sz="1400" dirty="0"/>
          </a:p>
        </p:txBody>
      </p:sp>
      <p:sp>
        <p:nvSpPr>
          <p:cNvPr id="9" name="Shape 6"/>
          <p:cNvSpPr/>
          <p:nvPr/>
        </p:nvSpPr>
        <p:spPr>
          <a:xfrm>
            <a:off x="685800" y="141732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0" name="Shape 7"/>
          <p:cNvSpPr/>
          <p:nvPr/>
        </p:nvSpPr>
        <p:spPr>
          <a:xfrm>
            <a:off x="886968" y="1618488"/>
            <a:ext cx="512064" cy="512064"/>
          </a:xfrm>
          <a:prstGeom prst="ellipse">
            <a:avLst/>
          </a:prstGeom>
          <a:solidFill>
            <a:srgbClr val="1F5A5A">
              <a:alpha val="12000"/>
            </a:srgbClr>
          </a:solidFill>
          <a:ln w="12700">
            <a:solidFill>
              <a:srgbClr val="1F5A5A">
                <a:alpha val="0"/>
              </a:srgbClr>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737360"/>
            <a:ext cx="274320" cy="274320"/>
          </a:xfrm>
          <a:prstGeom prst="rect">
            <a:avLst/>
          </a:prstGeom>
        </p:spPr>
      </p:pic>
      <p:sp>
        <p:nvSpPr>
          <p:cNvPr id="12" name="Text 8"/>
          <p:cNvSpPr/>
          <p:nvPr/>
        </p:nvSpPr>
        <p:spPr>
          <a:xfrm>
            <a:off x="1527048" y="164592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5 — Analyse</a:t>
            </a:r>
            <a:endParaRPr lang="en-US" sz="1550" dirty="0"/>
          </a:p>
        </p:txBody>
      </p:sp>
      <p:sp>
        <p:nvSpPr>
          <p:cNvPr id="13" name="Text 9"/>
          <p:cNvSpPr/>
          <p:nvPr/>
        </p:nvSpPr>
        <p:spPr>
          <a:xfrm>
            <a:off x="1527048" y="198424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Finalise scope and ERD</a:t>
            </a:r>
            <a:endParaRPr lang="en-US" sz="1120" dirty="0"/>
          </a:p>
        </p:txBody>
      </p:sp>
      <p:sp>
        <p:nvSpPr>
          <p:cNvPr id="14" name="Shape 10"/>
          <p:cNvSpPr/>
          <p:nvPr/>
        </p:nvSpPr>
        <p:spPr>
          <a:xfrm>
            <a:off x="685800" y="397764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5" name="Shape 11"/>
          <p:cNvSpPr/>
          <p:nvPr/>
        </p:nvSpPr>
        <p:spPr>
          <a:xfrm>
            <a:off x="886968" y="4178808"/>
            <a:ext cx="512064" cy="512064"/>
          </a:xfrm>
          <a:prstGeom prst="ellipse">
            <a:avLst/>
          </a:prstGeom>
          <a:solidFill>
            <a:srgbClr val="C96F47">
              <a:alpha val="12000"/>
            </a:srgbClr>
          </a:solidFill>
          <a:ln w="12700">
            <a:solidFill>
              <a:srgbClr val="C96F47">
                <a:alpha val="0"/>
              </a:srgbClr>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840" y="4297680"/>
            <a:ext cx="274320" cy="274320"/>
          </a:xfrm>
          <a:prstGeom prst="rect">
            <a:avLst/>
          </a:prstGeom>
        </p:spPr>
      </p:pic>
      <p:sp>
        <p:nvSpPr>
          <p:cNvPr id="17" name="Text 12"/>
          <p:cNvSpPr/>
          <p:nvPr/>
        </p:nvSpPr>
        <p:spPr>
          <a:xfrm>
            <a:off x="1527048" y="420624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6 — Build</a:t>
            </a:r>
            <a:endParaRPr lang="en-US" sz="1550" dirty="0"/>
          </a:p>
        </p:txBody>
      </p:sp>
      <p:sp>
        <p:nvSpPr>
          <p:cNvPr id="18" name="Text 13"/>
          <p:cNvSpPr/>
          <p:nvPr/>
        </p:nvSpPr>
        <p:spPr>
          <a:xfrm>
            <a:off x="1527048" y="454456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Data dictionary + core database</a:t>
            </a:r>
            <a:endParaRPr lang="en-US" sz="1120" dirty="0"/>
          </a:p>
        </p:txBody>
      </p:sp>
      <p:sp>
        <p:nvSpPr>
          <p:cNvPr id="19" name="Shape 14"/>
          <p:cNvSpPr/>
          <p:nvPr/>
        </p:nvSpPr>
        <p:spPr>
          <a:xfrm>
            <a:off x="8458200" y="141732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0" name="Shape 15"/>
          <p:cNvSpPr/>
          <p:nvPr/>
        </p:nvSpPr>
        <p:spPr>
          <a:xfrm>
            <a:off x="8659368" y="1618488"/>
            <a:ext cx="512064" cy="512064"/>
          </a:xfrm>
          <a:prstGeom prst="ellipse">
            <a:avLst/>
          </a:prstGeom>
          <a:solidFill>
            <a:srgbClr val="4B7A6A">
              <a:alpha val="12000"/>
            </a:srgbClr>
          </a:solidFill>
          <a:ln w="12700">
            <a:solidFill>
              <a:srgbClr val="4B7A6A">
                <a:alpha val="0"/>
              </a:srgbClr>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78240" y="1737360"/>
            <a:ext cx="274320" cy="274320"/>
          </a:xfrm>
          <a:prstGeom prst="rect">
            <a:avLst/>
          </a:prstGeom>
        </p:spPr>
      </p:pic>
      <p:sp>
        <p:nvSpPr>
          <p:cNvPr id="22" name="Text 16"/>
          <p:cNvSpPr/>
          <p:nvPr/>
        </p:nvSpPr>
        <p:spPr>
          <a:xfrm>
            <a:off x="9299448" y="164592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7 — Test</a:t>
            </a:r>
            <a:endParaRPr lang="en-US" sz="1550" dirty="0"/>
          </a:p>
        </p:txBody>
      </p:sp>
      <p:sp>
        <p:nvSpPr>
          <p:cNvPr id="23" name="Text 17"/>
          <p:cNvSpPr/>
          <p:nvPr/>
        </p:nvSpPr>
        <p:spPr>
          <a:xfrm>
            <a:off x="9299448" y="198424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Queries, validation and fixes</a:t>
            </a:r>
            <a:endParaRPr lang="en-US" sz="1120" dirty="0"/>
          </a:p>
        </p:txBody>
      </p:sp>
      <p:sp>
        <p:nvSpPr>
          <p:cNvPr id="24" name="Shape 18"/>
          <p:cNvSpPr/>
          <p:nvPr/>
        </p:nvSpPr>
        <p:spPr>
          <a:xfrm>
            <a:off x="8458200" y="3977640"/>
            <a:ext cx="2971800" cy="1874520"/>
          </a:xfrm>
          <a:prstGeom prst="roundRect">
            <a:avLst>
              <a:gd name="adj" fmla="val 3902"/>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5" name="Shape 19"/>
          <p:cNvSpPr/>
          <p:nvPr/>
        </p:nvSpPr>
        <p:spPr>
          <a:xfrm>
            <a:off x="8659368" y="4178808"/>
            <a:ext cx="512064" cy="512064"/>
          </a:xfrm>
          <a:prstGeom prst="ellipse">
            <a:avLst/>
          </a:prstGeom>
          <a:solidFill>
            <a:srgbClr val="163A45">
              <a:alpha val="12000"/>
            </a:srgbClr>
          </a:solidFill>
          <a:ln w="12700">
            <a:solidFill>
              <a:srgbClr val="163A45">
                <a:alpha val="0"/>
              </a:srgbClr>
            </a:solidFill>
            <a:prstDash val="solid"/>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78240" y="4297680"/>
            <a:ext cx="274320" cy="274320"/>
          </a:xfrm>
          <a:prstGeom prst="rect">
            <a:avLst/>
          </a:prstGeom>
        </p:spPr>
      </p:pic>
      <p:sp>
        <p:nvSpPr>
          <p:cNvPr id="27" name="Text 20"/>
          <p:cNvSpPr/>
          <p:nvPr/>
        </p:nvSpPr>
        <p:spPr>
          <a:xfrm>
            <a:off x="9299448" y="4206240"/>
            <a:ext cx="1920240" cy="256032"/>
          </a:xfrm>
          <a:prstGeom prst="rect">
            <a:avLst/>
          </a:prstGeom>
          <a:noFill/>
          <a:ln/>
        </p:spPr>
        <p:txBody>
          <a:bodyPr wrap="square" lIns="0" tIns="0" rIns="0" bIns="0" rtlCol="0" anchor="ctr"/>
          <a:lstStyle/>
          <a:p>
            <a:pPr indent="0" marL="0">
              <a:buNone/>
            </a:pPr>
            <a:r>
              <a:rPr lang="en-US" sz="1550" b="1" dirty="0">
                <a:solidFill>
                  <a:srgbClr val="1F2937"/>
                </a:solidFill>
              </a:rPr>
              <a:t>Week 8 — Review</a:t>
            </a:r>
            <a:endParaRPr lang="en-US" sz="1550" dirty="0"/>
          </a:p>
        </p:txBody>
      </p:sp>
      <p:sp>
        <p:nvSpPr>
          <p:cNvPr id="28" name="Text 21"/>
          <p:cNvSpPr/>
          <p:nvPr/>
        </p:nvSpPr>
        <p:spPr>
          <a:xfrm>
            <a:off x="9299448" y="4544568"/>
            <a:ext cx="1920240" cy="11430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PDR, feedback and final evaluation</a:t>
            </a:r>
            <a:endParaRPr lang="en-US" sz="1120" dirty="0"/>
          </a:p>
        </p:txBody>
      </p:sp>
      <p:sp>
        <p:nvSpPr>
          <p:cNvPr id="29" name="Text 22"/>
          <p:cNvSpPr/>
          <p:nvPr/>
        </p:nvSpPr>
        <p:spPr>
          <a:xfrm>
            <a:off x="3246120" y="5029200"/>
            <a:ext cx="5669280" cy="685800"/>
          </a:xfrm>
          <a:prstGeom prst="rect">
            <a:avLst/>
          </a:prstGeom>
          <a:noFill/>
          <a:ln/>
        </p:spPr>
        <p:txBody>
          <a:bodyPr wrap="square" lIns="0" tIns="0" rIns="0" bIns="0" rtlCol="0" anchor="ctr">
            <a:normAutofit/>
          </a:bodyPr>
          <a:lstStyle/>
          <a:p>
            <a:pPr algn="ctr" indent="0" marL="0">
              <a:buNone/>
            </a:pPr>
            <a:r>
              <a:rPr lang="en-US" sz="1600" b="1" dirty="0">
                <a:solidFill>
                  <a:srgbClr val="1F2937"/>
                </a:solidFill>
              </a:rPr>
              <a:t>Agile idea: deliver in small steps, review early, fix issues, and keep the shared work current.</a:t>
            </a:r>
            <a:endParaRPr lang="en-US" sz="16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icture 1" descr="NestUp_ERD_Final.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Prasamsha Dahal</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Agent and Vendor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Text 4"/>
          <p:cNvSpPr/>
          <p:nvPr/>
        </p:nvSpPr>
        <p:spPr>
          <a:xfrm>
            <a:off x="777240" y="1325880"/>
            <a:ext cx="1828800" cy="274320"/>
          </a:xfrm>
          <a:prstGeom prst="rect">
            <a:avLst/>
          </a:prstGeom>
          <a:noFill/>
          <a:ln/>
        </p:spPr>
        <p:txBody>
          <a:bodyPr wrap="square" lIns="0" tIns="0" rIns="0" bIns="0" rtlCol="0" anchor="ctr"/>
          <a:lstStyle/>
          <a:p>
            <a:pPr indent="0" marL="0">
              <a:buNone/>
            </a:pPr>
            <a:r>
              <a:rPr lang="en-US" sz="1600" b="1" dirty="0">
                <a:solidFill>
                  <a:srgbClr val="1F5A5A"/>
                </a:solidFill>
              </a:rPr>
              <a:t>AGENT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673352"/>
          <a:ext cx="10652760" cy="1828800"/>
        </p:xfrm>
        <a:graphic>
          <a:graphicData uri="http://schemas.openxmlformats.org/drawingml/2006/table">
            <a:tbl>
              <a:tblPr/>
              <a:tblGrid>
                <a:gridCol w="1920240"/>
                <a:gridCol w="1417320"/>
                <a:gridCol w="2834640"/>
                <a:gridCol w="4480560"/>
              </a:tblGrid>
              <a:tr h="347472">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Field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Type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Key / Constraint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Purpose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agent_id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INTEGER</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PK • AUTOINCREMENT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Unique agent 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Agent full 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Corporate 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commission_rate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REAL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 • CHECK &lt;= 10</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Commission percentage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solidFill>
                      <a:srgbClr val="FFFFFF"/>
                    </a:solidFill>
                  </a:tcPr>
                </a:tc>
              </a:tr>
            </a:tbl>
          </a:graphicData>
        </a:graphic>
      </p:graphicFrame>
      <p:sp>
        <p:nvSpPr>
          <p:cNvPr id="8" name="Shape 5"/>
          <p:cNvSpPr/>
          <p:nvPr/>
        </p:nvSpPr>
        <p:spPr>
          <a:xfrm>
            <a:off x="777240" y="1673352"/>
            <a:ext cx="10652760" cy="347472"/>
          </a:xfrm>
          <a:prstGeom prst="rect">
            <a:avLst/>
          </a:prstGeom>
          <a:solidFill>
            <a:srgbClr val="1F5A5A"/>
          </a:solidFill>
          <a:ln w="12700">
            <a:solidFill>
              <a:srgbClr val="1F5A5A"/>
            </a:solidFill>
            <a:prstDash val="solid"/>
          </a:ln>
        </p:spPr>
      </p:sp>
      <p:sp>
        <p:nvSpPr>
          <p:cNvPr id="9" name="Text 6"/>
          <p:cNvSpPr/>
          <p:nvPr/>
        </p:nvSpPr>
        <p:spPr>
          <a:xfrm>
            <a:off x="868680" y="1773936"/>
            <a:ext cx="1645920" cy="128016"/>
          </a:xfrm>
          <a:prstGeom prst="rect">
            <a:avLst/>
          </a:prstGeom>
          <a:noFill/>
          <a:ln/>
        </p:spPr>
        <p:txBody>
          <a:bodyPr wrap="square" lIns="0" tIns="0" rIns="0" bIns="0" rtlCol="0" anchor="ctr"/>
          <a:lstStyle/>
          <a:p>
            <a:pPr indent="0" marL="0">
              <a:buNone/>
            </a:pPr>
            <a:r>
              <a:rPr lang="en-US" sz="1080" b="1" dirty="0">
                <a:solidFill>
                  <a:srgbClr val="FFFFFF"/>
                </a:solidFill>
              </a:rPr>
              <a:t>Field</a:t>
            </a:r>
            <a:endParaRPr lang="en-US" sz="1080" dirty="0"/>
          </a:p>
        </p:txBody>
      </p:sp>
      <p:sp>
        <p:nvSpPr>
          <p:cNvPr id="10" name="Text 7"/>
          <p:cNvSpPr/>
          <p:nvPr/>
        </p:nvSpPr>
        <p:spPr>
          <a:xfrm>
            <a:off x="2788920" y="1773936"/>
            <a:ext cx="1097280" cy="128016"/>
          </a:xfrm>
          <a:prstGeom prst="rect">
            <a:avLst/>
          </a:prstGeom>
          <a:noFill/>
          <a:ln/>
        </p:spPr>
        <p:txBody>
          <a:bodyPr wrap="square" lIns="0" tIns="0" rIns="0" bIns="0" rtlCol="0" anchor="ctr"/>
          <a:lstStyle/>
          <a:p>
            <a:pPr indent="0" marL="0">
              <a:buNone/>
            </a:pPr>
            <a:r>
              <a:rPr lang="en-US" sz="1080" b="1" dirty="0">
                <a:solidFill>
                  <a:srgbClr val="FFFFFF"/>
                </a:solidFill>
              </a:rPr>
              <a:t>Type</a:t>
            </a:r>
            <a:endParaRPr lang="en-US" sz="1080" dirty="0"/>
          </a:p>
        </p:txBody>
      </p:sp>
      <p:sp>
        <p:nvSpPr>
          <p:cNvPr id="11" name="Text 8"/>
          <p:cNvSpPr/>
          <p:nvPr/>
        </p:nvSpPr>
        <p:spPr>
          <a:xfrm>
            <a:off x="4206240" y="1773936"/>
            <a:ext cx="2377440" cy="128016"/>
          </a:xfrm>
          <a:prstGeom prst="rect">
            <a:avLst/>
          </a:prstGeom>
          <a:noFill/>
          <a:ln/>
        </p:spPr>
        <p:txBody>
          <a:bodyPr wrap="square" lIns="0" tIns="0" rIns="0" bIns="0" rtlCol="0" anchor="ctr"/>
          <a:lstStyle/>
          <a:p>
            <a:pPr indent="0" marL="0">
              <a:buNone/>
            </a:pPr>
            <a:r>
              <a:rPr lang="en-US" sz="1080" b="1" dirty="0">
                <a:solidFill>
                  <a:srgbClr val="FFFFFF"/>
                </a:solidFill>
              </a:rPr>
              <a:t>Key / Constraint</a:t>
            </a:r>
            <a:endParaRPr lang="en-US" sz="1080" dirty="0"/>
          </a:p>
        </p:txBody>
      </p:sp>
      <p:sp>
        <p:nvSpPr>
          <p:cNvPr id="12" name="Text 9"/>
          <p:cNvSpPr/>
          <p:nvPr/>
        </p:nvSpPr>
        <p:spPr>
          <a:xfrm>
            <a:off x="7059168" y="1773936"/>
            <a:ext cx="1828800" cy="128016"/>
          </a:xfrm>
          <a:prstGeom prst="rect">
            <a:avLst/>
          </a:prstGeom>
          <a:noFill/>
          <a:ln/>
        </p:spPr>
        <p:txBody>
          <a:bodyPr wrap="square" lIns="0" tIns="0" rIns="0" bIns="0" rtlCol="0" anchor="ctr"/>
          <a:lstStyle/>
          <a:p>
            <a:pPr indent="0" marL="0">
              <a:buNone/>
            </a:pPr>
            <a:r>
              <a:rPr lang="en-US" sz="1080" b="1" dirty="0">
                <a:solidFill>
                  <a:srgbClr val="FFFFFF"/>
                </a:solidFill>
              </a:rPr>
              <a:t>Purpose</a:t>
            </a:r>
            <a:endParaRPr lang="en-US" sz="1080" dirty="0"/>
          </a:p>
        </p:txBody>
      </p:sp>
      <p:sp>
        <p:nvSpPr>
          <p:cNvPr id="13" name="Text 10"/>
          <p:cNvSpPr/>
          <p:nvPr/>
        </p:nvSpPr>
        <p:spPr>
          <a:xfrm>
            <a:off x="777240" y="3813048"/>
            <a:ext cx="1828800" cy="274320"/>
          </a:xfrm>
          <a:prstGeom prst="rect">
            <a:avLst/>
          </a:prstGeom>
          <a:noFill/>
          <a:ln/>
        </p:spPr>
        <p:txBody>
          <a:bodyPr wrap="square" lIns="0" tIns="0" rIns="0" bIns="0" rtlCol="0" anchor="ctr"/>
          <a:lstStyle/>
          <a:p>
            <a:pPr indent="0" marL="0">
              <a:buNone/>
            </a:pPr>
            <a:r>
              <a:rPr lang="en-US" sz="1600" b="1" dirty="0">
                <a:solidFill>
                  <a:srgbClr val="C96F47"/>
                </a:solidFill>
              </a:rPr>
              <a:t>VENDOR</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77240" y="4160520"/>
          <a:ext cx="10652760" cy="1371600"/>
        </p:xfrm>
        <a:graphic>
          <a:graphicData uri="http://schemas.openxmlformats.org/drawingml/2006/table">
            <a:tbl>
              <a:tblPr/>
              <a:tblGrid>
                <a:gridCol w="1920240"/>
                <a:gridCol w="1417320"/>
                <a:gridCol w="2834640"/>
                <a:gridCol w="4480560"/>
              </a:tblGrid>
              <a:tr h="347472">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Field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Type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Key / Constraint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b="1" dirty="0">
                          <a:solidFill>
                            <a:srgbClr val="FFFFFF"/>
                          </a:solidFill>
                          <a:latin typeface="Carlito" pitchFamily="34" charset="0"/>
                          <a:ea typeface="Carlito" pitchFamily="34" charset="-122"/>
                          <a:cs typeface="Carlito" pitchFamily="34" charset="-120"/>
                        </a:rPr>
                        <a:t>Purpose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vendor_id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INTEGER</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PK • AUTOINCREMENT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Unique vendor ID</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Seller full name</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r h="347472">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TEXT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NOT NULL</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c>
                  <a:txBody>
                    <a:bodyPr/>
                    <a:lstStyle/>
                    <a:p>
                      <a:pPr indent="0" marL="0">
                        <a:buNone/>
                      </a:pPr>
                      <a:r>
                        <a:rPr lang="en-US" sz="1100" dirty="0">
                          <a:solidFill>
                            <a:srgbClr val="1F2937"/>
                          </a:solidFill>
                          <a:latin typeface="Carlito" pitchFamily="34" charset="0"/>
                          <a:ea typeface="Carlito" pitchFamily="34" charset="-122"/>
                          <a:cs typeface="Carlito" pitchFamily="34" charset="-120"/>
                        </a:rPr>
                        <a:t>Primary phone/contact</a:t>
                      </a:r>
                      <a:endParaRPr lang="en-US" sz="1100" dirty="0">
                        <a:latin typeface="Carlito" charset="0"/>
                        <a:ea typeface="Carlito" charset="0"/>
                        <a:cs typeface="Carlito" charset="0"/>
                      </a:endParaRPr>
                    </a:p>
                  </a:txBody>
                  <a:tcPr marL="45720" marR="45720" marT="45720" marB="45720" anchor="mid">
                    <a:lnL w="12700" cap="flat" cmpd="sng" algn="ctr">
                      <a:solidFill>
                        <a:srgbClr val="C6CFD0"/>
                      </a:solidFill>
                      <a:prstDash val="solid"/>
                      <a:round/>
                      <a:headEnd type="none" w="med" len="med"/>
                      <a:tailEnd type="none" w="med" len="med"/>
                    </a:lnL>
                    <a:lnR w="12700" cap="flat" cmpd="sng" algn="ctr">
                      <a:solidFill>
                        <a:srgbClr val="C6CFD0"/>
                      </a:solidFill>
                      <a:prstDash val="solid"/>
                      <a:round/>
                      <a:headEnd type="none" w="med" len="med"/>
                      <a:tailEnd type="none" w="med" len="med"/>
                    </a:lnR>
                    <a:lnT w="12700" cap="flat" cmpd="sng" algn="ctr">
                      <a:solidFill>
                        <a:srgbClr val="C6CFD0"/>
                      </a:solidFill>
                      <a:prstDash val="solid"/>
                      <a:round/>
                      <a:headEnd type="none" w="med" len="med"/>
                      <a:tailEnd type="none" w="med" len="med"/>
                    </a:lnT>
                    <a:lnB w="12700" cap="flat" cmpd="sng" algn="ctr">
                      <a:solidFill>
                        <a:srgbClr val="C6CFD0"/>
                      </a:solidFill>
                      <a:prstDash val="solid"/>
                      <a:round/>
                      <a:headEnd type="none" w="med" len="med"/>
                      <a:tailEnd type="none" w="med" len="med"/>
                    </a:lnB>
                  </a:tcPr>
                </a:tc>
              </a:tr>
            </a:tbl>
          </a:graphicData>
        </a:graphic>
      </p:graphicFrame>
      <p:sp>
        <p:nvSpPr>
          <p:cNvPr id="15" name="Shape 11"/>
          <p:cNvSpPr/>
          <p:nvPr/>
        </p:nvSpPr>
        <p:spPr>
          <a:xfrm>
            <a:off x="777240" y="4160520"/>
            <a:ext cx="10652760" cy="347472"/>
          </a:xfrm>
          <a:prstGeom prst="rect">
            <a:avLst/>
          </a:prstGeom>
          <a:solidFill>
            <a:srgbClr val="C96F47"/>
          </a:solidFill>
          <a:ln w="12700">
            <a:solidFill>
              <a:srgbClr val="C96F47"/>
            </a:solidFill>
            <a:prstDash val="solid"/>
          </a:ln>
        </p:spPr>
      </p:sp>
      <p:sp>
        <p:nvSpPr>
          <p:cNvPr id="16" name="Text 12"/>
          <p:cNvSpPr/>
          <p:nvPr/>
        </p:nvSpPr>
        <p:spPr>
          <a:xfrm>
            <a:off x="868680" y="4261104"/>
            <a:ext cx="1645920" cy="128016"/>
          </a:xfrm>
          <a:prstGeom prst="rect">
            <a:avLst/>
          </a:prstGeom>
          <a:noFill/>
          <a:ln/>
        </p:spPr>
        <p:txBody>
          <a:bodyPr wrap="square" lIns="0" tIns="0" rIns="0" bIns="0" rtlCol="0" anchor="ctr"/>
          <a:lstStyle/>
          <a:p>
            <a:pPr indent="0" marL="0">
              <a:buNone/>
            </a:pPr>
            <a:r>
              <a:rPr lang="en-US" sz="1080" b="1" dirty="0">
                <a:solidFill>
                  <a:srgbClr val="FFFFFF"/>
                </a:solidFill>
              </a:rPr>
              <a:t>Field</a:t>
            </a:r>
            <a:endParaRPr lang="en-US" sz="1080" dirty="0"/>
          </a:p>
        </p:txBody>
      </p:sp>
      <p:sp>
        <p:nvSpPr>
          <p:cNvPr id="17" name="Text 13"/>
          <p:cNvSpPr/>
          <p:nvPr/>
        </p:nvSpPr>
        <p:spPr>
          <a:xfrm>
            <a:off x="2788920" y="4261104"/>
            <a:ext cx="1097280" cy="128016"/>
          </a:xfrm>
          <a:prstGeom prst="rect">
            <a:avLst/>
          </a:prstGeom>
          <a:noFill/>
          <a:ln/>
        </p:spPr>
        <p:txBody>
          <a:bodyPr wrap="square" lIns="0" tIns="0" rIns="0" bIns="0" rtlCol="0" anchor="ctr"/>
          <a:lstStyle/>
          <a:p>
            <a:pPr indent="0" marL="0">
              <a:buNone/>
            </a:pPr>
            <a:r>
              <a:rPr lang="en-US" sz="1080" b="1" dirty="0">
                <a:solidFill>
                  <a:srgbClr val="FFFFFF"/>
                </a:solidFill>
              </a:rPr>
              <a:t>Type</a:t>
            </a:r>
            <a:endParaRPr lang="en-US" sz="1080" dirty="0"/>
          </a:p>
        </p:txBody>
      </p:sp>
      <p:sp>
        <p:nvSpPr>
          <p:cNvPr id="18" name="Text 14"/>
          <p:cNvSpPr/>
          <p:nvPr/>
        </p:nvSpPr>
        <p:spPr>
          <a:xfrm>
            <a:off x="4206240" y="4261104"/>
            <a:ext cx="2377440" cy="128016"/>
          </a:xfrm>
          <a:prstGeom prst="rect">
            <a:avLst/>
          </a:prstGeom>
          <a:noFill/>
          <a:ln/>
        </p:spPr>
        <p:txBody>
          <a:bodyPr wrap="square" lIns="0" tIns="0" rIns="0" bIns="0" rtlCol="0" anchor="ctr"/>
          <a:lstStyle/>
          <a:p>
            <a:pPr indent="0" marL="0">
              <a:buNone/>
            </a:pPr>
            <a:r>
              <a:rPr lang="en-US" sz="1080" b="1" dirty="0">
                <a:solidFill>
                  <a:srgbClr val="FFFFFF"/>
                </a:solidFill>
              </a:rPr>
              <a:t>Key / Constraint</a:t>
            </a:r>
            <a:endParaRPr lang="en-US" sz="1080" dirty="0"/>
          </a:p>
        </p:txBody>
      </p:sp>
      <p:sp>
        <p:nvSpPr>
          <p:cNvPr id="19" name="Text 15"/>
          <p:cNvSpPr/>
          <p:nvPr/>
        </p:nvSpPr>
        <p:spPr>
          <a:xfrm>
            <a:off x="7059168" y="4261104"/>
            <a:ext cx="1828800" cy="128016"/>
          </a:xfrm>
          <a:prstGeom prst="rect">
            <a:avLst/>
          </a:prstGeom>
          <a:noFill/>
          <a:ln/>
        </p:spPr>
        <p:txBody>
          <a:bodyPr wrap="square" lIns="0" tIns="0" rIns="0" bIns="0" rtlCol="0" anchor="ctr"/>
          <a:lstStyle/>
          <a:p>
            <a:pPr indent="0" marL="0">
              <a:buNone/>
            </a:pPr>
            <a:r>
              <a:rPr lang="en-US" sz="1080" b="1" dirty="0">
                <a:solidFill>
                  <a:srgbClr val="FFFFFF"/>
                </a:solidFill>
              </a:rPr>
              <a:t>Purpose</a:t>
            </a:r>
            <a:endParaRPr lang="en-US" sz="108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Harshdeep Kaur</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Buyer and Property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417320"/>
          <a:ext cx="10881360" cy="4526280"/>
        </p:xfrm>
        <a:graphic>
          <a:graphicData uri="http://schemas.openxmlformats.org/drawingml/2006/table">
            <a:tbl>
              <a:tblPr/>
              <a:tblGrid>
                <a:gridCol w="1143000"/>
                <a:gridCol w="1572768"/>
                <a:gridCol w="1280160"/>
                <a:gridCol w="2651760"/>
                <a:gridCol w="4233672"/>
              </a:tblGrid>
              <a:tr h="438912">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Entity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Field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Type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Key / Constraint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b="1" dirty="0">
                          <a:solidFill>
                            <a:srgbClr val="1F2937"/>
                          </a:solidFill>
                          <a:latin typeface="Carlito" pitchFamily="34" charset="0"/>
                          <a:ea typeface="Carlito" pitchFamily="34" charset="-122"/>
                          <a:cs typeface="Carlito" pitchFamily="34" charset="-120"/>
                        </a:rPr>
                        <a:t>Purpose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PK • AUTOINCREMENT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Unique buyer 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budget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CHECK &gt; 0</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Maximum buying budget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preferences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NULL</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Buyer preference keywords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PK • AUTOINCREMENT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Unique listing 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address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UNIQUE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 address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price</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NOT NULL • CHECK &gt; 0</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Listing price (NZD)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status</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TEXT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DEFAULT 'Listed'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Listed / Under Offer / Sold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vendor_id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FK → vendor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Links property to seller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438912">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PROPERTY</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agent_id</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INTEGER</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FK → agent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1060" dirty="0">
                          <a:solidFill>
                            <a:srgbClr val="1F2937"/>
                          </a:solidFill>
                          <a:latin typeface="Carlito" pitchFamily="34" charset="0"/>
                          <a:ea typeface="Carlito" pitchFamily="34" charset="-122"/>
                          <a:cs typeface="Carlito" pitchFamily="34" charset="-120"/>
                        </a:rPr>
                        <a:t>Links property to agent</a:t>
                      </a:r>
                      <a:endParaRPr lang="en-US" sz="1060" dirty="0">
                        <a:latin typeface="Carlito" charset="0"/>
                        <a:ea typeface="Carlito" charset="0"/>
                        <a:cs typeface="Carlito" charset="0"/>
                      </a:endParaRPr>
                    </a:p>
                  </a:txBody>
                  <a:tcPr marL="45720" marR="45720" marT="45720" marB="45720"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bl>
          </a:graphicData>
        </a:graphic>
      </p:graphicFrame>
      <p:sp>
        <p:nvSpPr>
          <p:cNvPr id="7" name="Shape 4"/>
          <p:cNvSpPr/>
          <p:nvPr/>
        </p:nvSpPr>
        <p:spPr>
          <a:xfrm>
            <a:off x="658368" y="1417320"/>
            <a:ext cx="10881360" cy="438912"/>
          </a:xfrm>
          <a:prstGeom prst="rect">
            <a:avLst/>
          </a:prstGeom>
          <a:solidFill>
            <a:srgbClr val="4B7A6A"/>
          </a:solidFill>
          <a:ln w="12700">
            <a:solidFill>
              <a:srgbClr val="4B7A6A"/>
            </a:solidFill>
            <a:prstDash val="solid"/>
          </a:ln>
        </p:spPr>
      </p:sp>
      <p:sp>
        <p:nvSpPr>
          <p:cNvPr id="8" name="Text 5"/>
          <p:cNvSpPr/>
          <p:nvPr/>
        </p:nvSpPr>
        <p:spPr>
          <a:xfrm>
            <a:off x="731520" y="1563624"/>
            <a:ext cx="1005840" cy="146304"/>
          </a:xfrm>
          <a:prstGeom prst="rect">
            <a:avLst/>
          </a:prstGeom>
          <a:noFill/>
          <a:ln/>
        </p:spPr>
        <p:txBody>
          <a:bodyPr wrap="square" lIns="0" tIns="0" rIns="0" bIns="0" rtlCol="0" anchor="ctr"/>
          <a:lstStyle/>
          <a:p>
            <a:pPr indent="0" marL="0">
              <a:buNone/>
            </a:pPr>
            <a:r>
              <a:rPr lang="en-US" sz="1070" b="1" dirty="0">
                <a:solidFill>
                  <a:srgbClr val="FFFFFF"/>
                </a:solidFill>
              </a:rPr>
              <a:t>Entity</a:t>
            </a:r>
            <a:endParaRPr lang="en-US" sz="1070" dirty="0"/>
          </a:p>
        </p:txBody>
      </p:sp>
      <p:sp>
        <p:nvSpPr>
          <p:cNvPr id="9" name="Text 6"/>
          <p:cNvSpPr/>
          <p:nvPr/>
        </p:nvSpPr>
        <p:spPr>
          <a:xfrm>
            <a:off x="1874520" y="1563624"/>
            <a:ext cx="1371600" cy="146304"/>
          </a:xfrm>
          <a:prstGeom prst="rect">
            <a:avLst/>
          </a:prstGeom>
          <a:noFill/>
          <a:ln/>
        </p:spPr>
        <p:txBody>
          <a:bodyPr wrap="square" lIns="0" tIns="0" rIns="0" bIns="0" rtlCol="0" anchor="ctr"/>
          <a:lstStyle/>
          <a:p>
            <a:pPr indent="0" marL="0">
              <a:buNone/>
            </a:pPr>
            <a:r>
              <a:rPr lang="en-US" sz="1070" b="1" dirty="0">
                <a:solidFill>
                  <a:srgbClr val="FFFFFF"/>
                </a:solidFill>
              </a:rPr>
              <a:t>Field</a:t>
            </a:r>
            <a:endParaRPr lang="en-US" sz="1070" dirty="0"/>
          </a:p>
        </p:txBody>
      </p:sp>
      <p:sp>
        <p:nvSpPr>
          <p:cNvPr id="10" name="Text 7"/>
          <p:cNvSpPr/>
          <p:nvPr/>
        </p:nvSpPr>
        <p:spPr>
          <a:xfrm>
            <a:off x="3447288" y="1563624"/>
            <a:ext cx="1097280" cy="146304"/>
          </a:xfrm>
          <a:prstGeom prst="rect">
            <a:avLst/>
          </a:prstGeom>
          <a:noFill/>
          <a:ln/>
        </p:spPr>
        <p:txBody>
          <a:bodyPr wrap="square" lIns="0" tIns="0" rIns="0" bIns="0" rtlCol="0" anchor="ctr"/>
          <a:lstStyle/>
          <a:p>
            <a:pPr indent="0" marL="0">
              <a:buNone/>
            </a:pPr>
            <a:r>
              <a:rPr lang="en-US" sz="1070" b="1" dirty="0">
                <a:solidFill>
                  <a:srgbClr val="FFFFFF"/>
                </a:solidFill>
              </a:rPr>
              <a:t>Type</a:t>
            </a:r>
            <a:endParaRPr lang="en-US" sz="1070" dirty="0"/>
          </a:p>
        </p:txBody>
      </p:sp>
      <p:sp>
        <p:nvSpPr>
          <p:cNvPr id="11" name="Text 8"/>
          <p:cNvSpPr/>
          <p:nvPr/>
        </p:nvSpPr>
        <p:spPr>
          <a:xfrm>
            <a:off x="4727448" y="1563624"/>
            <a:ext cx="2377440" cy="146304"/>
          </a:xfrm>
          <a:prstGeom prst="rect">
            <a:avLst/>
          </a:prstGeom>
          <a:noFill/>
          <a:ln/>
        </p:spPr>
        <p:txBody>
          <a:bodyPr wrap="square" lIns="0" tIns="0" rIns="0" bIns="0" rtlCol="0" anchor="ctr"/>
          <a:lstStyle/>
          <a:p>
            <a:pPr indent="0" marL="0">
              <a:buNone/>
            </a:pPr>
            <a:r>
              <a:rPr lang="en-US" sz="1070" b="1" dirty="0">
                <a:solidFill>
                  <a:srgbClr val="FFFFFF"/>
                </a:solidFill>
              </a:rPr>
              <a:t>Key / Constraint</a:t>
            </a:r>
            <a:endParaRPr lang="en-US" sz="1070" dirty="0"/>
          </a:p>
        </p:txBody>
      </p:sp>
      <p:sp>
        <p:nvSpPr>
          <p:cNvPr id="12" name="Text 9"/>
          <p:cNvSpPr/>
          <p:nvPr/>
        </p:nvSpPr>
        <p:spPr>
          <a:xfrm>
            <a:off x="7379208" y="1563624"/>
            <a:ext cx="3566160" cy="146304"/>
          </a:xfrm>
          <a:prstGeom prst="rect">
            <a:avLst/>
          </a:prstGeom>
          <a:noFill/>
          <a:ln/>
        </p:spPr>
        <p:txBody>
          <a:bodyPr wrap="square" lIns="0" tIns="0" rIns="0" bIns="0" rtlCol="0" anchor="ctr"/>
          <a:lstStyle/>
          <a:p>
            <a:pPr indent="0" marL="0">
              <a:buNone/>
            </a:pPr>
            <a:r>
              <a:rPr lang="en-US" sz="1070" b="1" dirty="0">
                <a:solidFill>
                  <a:srgbClr val="FFFFFF"/>
                </a:solidFill>
              </a:rPr>
              <a:t>Purpose</a:t>
            </a:r>
            <a:endParaRPr lang="en-US" sz="107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Data Dictionary — Varish Makra</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Viewing, Offer and Sale entities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18520" cy="4800600"/>
        </p:xfrm>
        <a:graphic>
          <a:graphicData uri="http://schemas.openxmlformats.org/drawingml/2006/table">
            <a:tbl>
              <a:tblPr/>
              <a:tblGrid>
                <a:gridCol w="1234440"/>
                <a:gridCol w="1508760"/>
                <a:gridCol w="1234440"/>
                <a:gridCol w="2697480"/>
                <a:gridCol w="4343400"/>
              </a:tblGrid>
              <a:tr h="393192">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Entity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Field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Type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Key / Constraint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b="1" dirty="0">
                          <a:solidFill>
                            <a:srgbClr val="1F2937"/>
                          </a:solidFill>
                          <a:latin typeface="Carlito" pitchFamily="34" charset="0"/>
                          <a:ea typeface="Carlito" pitchFamily="34" charset="-122"/>
                          <a:cs typeface="Carlito" pitchFamily="34" charset="-120"/>
                        </a:rPr>
                        <a:t>Purpose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property_id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FK → property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Viewed property</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buyer_id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FK → buyer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Attending buyer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VIEWING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date_time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TEXT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Inspection time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amount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 • CHECK &gt; 0</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amount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status</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TEXT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DEFAULT 'Pending'</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 evaluation state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PK • AUTOINCREMENT</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 record 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offer_id</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UNIQUE FK → offer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One accepted offer per 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final_price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INTEGER</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 • CHECK &gt; 0</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Final settled price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r h="393192">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SALE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commission</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REAL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NOT NULL</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c>
                  <a:txBody>
                    <a:bodyPr/>
                    <a:lstStyle/>
                    <a:p>
                      <a:pPr indent="0" marL="0">
                        <a:buNone/>
                      </a:pPr>
                      <a:r>
                        <a:rPr lang="en-US" sz="990" dirty="0">
                          <a:solidFill>
                            <a:srgbClr val="1F2937"/>
                          </a:solidFill>
                          <a:latin typeface="Carlito" pitchFamily="34" charset="0"/>
                          <a:ea typeface="Carlito" pitchFamily="34" charset="-122"/>
                          <a:cs typeface="Carlito" pitchFamily="34" charset="-120"/>
                        </a:rPr>
                        <a:t>Agent payout value</a:t>
                      </a:r>
                      <a:endParaRPr lang="en-US" sz="990" dirty="0">
                        <a:latin typeface="Carlito" charset="0"/>
                        <a:ea typeface="Carlito" charset="0"/>
                        <a:cs typeface="Carlito" charset="0"/>
                      </a:endParaRPr>
                    </a:p>
                  </a:txBody>
                  <a:tcPr marL="36576" marR="36576" marT="36576" marB="36576" anchor="mid">
                    <a:lnL w="12700" cap="flat" cmpd="sng" algn="ctr">
                      <a:solidFill>
                        <a:srgbClr val="CAD2D3"/>
                      </a:solidFill>
                      <a:prstDash val="solid"/>
                      <a:round/>
                      <a:headEnd type="none" w="med" len="med"/>
                      <a:tailEnd type="none" w="med" len="med"/>
                    </a:lnL>
                    <a:lnR w="12700" cap="flat" cmpd="sng" algn="ctr">
                      <a:solidFill>
                        <a:srgbClr val="CAD2D3"/>
                      </a:solidFill>
                      <a:prstDash val="solid"/>
                      <a:round/>
                      <a:headEnd type="none" w="med" len="med"/>
                      <a:tailEnd type="none" w="med" len="med"/>
                    </a:lnR>
                    <a:lnT w="12700" cap="flat" cmpd="sng" algn="ctr">
                      <a:solidFill>
                        <a:srgbClr val="CAD2D3"/>
                      </a:solidFill>
                      <a:prstDash val="solid"/>
                      <a:round/>
                      <a:headEnd type="none" w="med" len="med"/>
                      <a:tailEnd type="none" w="med" len="med"/>
                    </a:lnT>
                    <a:lnB w="12700" cap="flat" cmpd="sng" algn="ctr">
                      <a:solidFill>
                        <a:srgbClr val="CAD2D3"/>
                      </a:solidFill>
                      <a:prstDash val="solid"/>
                      <a:round/>
                      <a:headEnd type="none" w="med" len="med"/>
                      <a:tailEnd type="none" w="med" len="med"/>
                    </a:lnB>
                  </a:tcPr>
                </a:tc>
              </a:tr>
            </a:tbl>
          </a:graphicData>
        </a:graphic>
      </p:graphicFrame>
      <p:sp>
        <p:nvSpPr>
          <p:cNvPr id="7" name="Shape 4"/>
          <p:cNvSpPr/>
          <p:nvPr/>
        </p:nvSpPr>
        <p:spPr>
          <a:xfrm>
            <a:off x="566928" y="1325880"/>
            <a:ext cx="11018520" cy="393192"/>
          </a:xfrm>
          <a:prstGeom prst="rect">
            <a:avLst/>
          </a:prstGeom>
          <a:solidFill>
            <a:srgbClr val="C96F47"/>
          </a:solidFill>
          <a:ln w="12700">
            <a:solidFill>
              <a:srgbClr val="C96F47"/>
            </a:solidFill>
            <a:prstDash val="solid"/>
          </a:ln>
        </p:spPr>
      </p:sp>
      <p:sp>
        <p:nvSpPr>
          <p:cNvPr id="8" name="Text 5"/>
          <p:cNvSpPr/>
          <p:nvPr/>
        </p:nvSpPr>
        <p:spPr>
          <a:xfrm>
            <a:off x="640080" y="1444752"/>
            <a:ext cx="1051560" cy="137160"/>
          </a:xfrm>
          <a:prstGeom prst="rect">
            <a:avLst/>
          </a:prstGeom>
          <a:noFill/>
          <a:ln/>
        </p:spPr>
        <p:txBody>
          <a:bodyPr wrap="square" lIns="0" tIns="0" rIns="0" bIns="0" rtlCol="0" anchor="ctr"/>
          <a:lstStyle/>
          <a:p>
            <a:pPr indent="0" marL="0">
              <a:buNone/>
            </a:pPr>
            <a:r>
              <a:rPr lang="en-US" sz="1020" b="1" dirty="0">
                <a:solidFill>
                  <a:srgbClr val="FFFFFF"/>
                </a:solidFill>
              </a:rPr>
              <a:t>Entity</a:t>
            </a:r>
            <a:endParaRPr lang="en-US" sz="1020" dirty="0"/>
          </a:p>
        </p:txBody>
      </p:sp>
      <p:sp>
        <p:nvSpPr>
          <p:cNvPr id="9" name="Text 6"/>
          <p:cNvSpPr/>
          <p:nvPr/>
        </p:nvSpPr>
        <p:spPr>
          <a:xfrm>
            <a:off x="1874520" y="1444752"/>
            <a:ext cx="1325880" cy="137160"/>
          </a:xfrm>
          <a:prstGeom prst="rect">
            <a:avLst/>
          </a:prstGeom>
          <a:noFill/>
          <a:ln/>
        </p:spPr>
        <p:txBody>
          <a:bodyPr wrap="square" lIns="0" tIns="0" rIns="0" bIns="0" rtlCol="0" anchor="ctr"/>
          <a:lstStyle/>
          <a:p>
            <a:pPr indent="0" marL="0">
              <a:buNone/>
            </a:pPr>
            <a:r>
              <a:rPr lang="en-US" sz="1020" b="1" dirty="0">
                <a:solidFill>
                  <a:srgbClr val="FFFFFF"/>
                </a:solidFill>
              </a:rPr>
              <a:t>Field</a:t>
            </a:r>
            <a:endParaRPr lang="en-US" sz="1020" dirty="0"/>
          </a:p>
        </p:txBody>
      </p:sp>
      <p:sp>
        <p:nvSpPr>
          <p:cNvPr id="10" name="Text 7"/>
          <p:cNvSpPr/>
          <p:nvPr/>
        </p:nvSpPr>
        <p:spPr>
          <a:xfrm>
            <a:off x="3383280" y="1444752"/>
            <a:ext cx="1051560" cy="137160"/>
          </a:xfrm>
          <a:prstGeom prst="rect">
            <a:avLst/>
          </a:prstGeom>
          <a:noFill/>
          <a:ln/>
        </p:spPr>
        <p:txBody>
          <a:bodyPr wrap="square" lIns="0" tIns="0" rIns="0" bIns="0" rtlCol="0" anchor="ctr"/>
          <a:lstStyle/>
          <a:p>
            <a:pPr indent="0" marL="0">
              <a:buNone/>
            </a:pPr>
            <a:r>
              <a:rPr lang="en-US" sz="1020" b="1" dirty="0">
                <a:solidFill>
                  <a:srgbClr val="FFFFFF"/>
                </a:solidFill>
              </a:rPr>
              <a:t>Type</a:t>
            </a:r>
            <a:endParaRPr lang="en-US" sz="1020" dirty="0"/>
          </a:p>
        </p:txBody>
      </p:sp>
      <p:sp>
        <p:nvSpPr>
          <p:cNvPr id="11" name="Text 8"/>
          <p:cNvSpPr/>
          <p:nvPr/>
        </p:nvSpPr>
        <p:spPr>
          <a:xfrm>
            <a:off x="4617720" y="1444752"/>
            <a:ext cx="2377440" cy="137160"/>
          </a:xfrm>
          <a:prstGeom prst="rect">
            <a:avLst/>
          </a:prstGeom>
          <a:noFill/>
          <a:ln/>
        </p:spPr>
        <p:txBody>
          <a:bodyPr wrap="square" lIns="0" tIns="0" rIns="0" bIns="0" rtlCol="0" anchor="ctr"/>
          <a:lstStyle/>
          <a:p>
            <a:pPr indent="0" marL="0">
              <a:buNone/>
            </a:pPr>
            <a:r>
              <a:rPr lang="en-US" sz="1020" b="1" dirty="0">
                <a:solidFill>
                  <a:srgbClr val="FFFFFF"/>
                </a:solidFill>
              </a:rPr>
              <a:t>Key / Constraint</a:t>
            </a:r>
            <a:endParaRPr lang="en-US" sz="1020" dirty="0"/>
          </a:p>
        </p:txBody>
      </p:sp>
      <p:sp>
        <p:nvSpPr>
          <p:cNvPr id="12" name="Text 9"/>
          <p:cNvSpPr/>
          <p:nvPr/>
        </p:nvSpPr>
        <p:spPr>
          <a:xfrm>
            <a:off x="7315200" y="1444752"/>
            <a:ext cx="3611880" cy="137160"/>
          </a:xfrm>
          <a:prstGeom prst="rect">
            <a:avLst/>
          </a:prstGeom>
          <a:noFill/>
          <a:ln/>
        </p:spPr>
        <p:txBody>
          <a:bodyPr wrap="square" lIns="0" tIns="0" rIns="0" bIns="0" rtlCol="0" anchor="ctr"/>
          <a:lstStyle/>
          <a:p>
            <a:pPr indent="0" marL="0">
              <a:buNone/>
            </a:pPr>
            <a:r>
              <a:rPr lang="en-US" sz="1020" b="1" dirty="0">
                <a:solidFill>
                  <a:srgbClr val="FFFFFF"/>
                </a:solidFill>
              </a:rPr>
              <a:t>Purpose</a:t>
            </a:r>
            <a:endParaRPr lang="en-US" sz="10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GitHub Usage</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Version control, collaboration and evidence of progress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Varish</a:t>
            </a:r>
            <a:endParaRPr lang="en-US" sz="970" dirty="0"/>
          </a:p>
        </p:txBody>
      </p:sp>
      <p:sp>
        <p:nvSpPr>
          <p:cNvPr id="6" name="Shape 4"/>
          <p:cNvSpPr/>
          <p:nvPr/>
        </p:nvSpPr>
        <p:spPr>
          <a:xfrm>
            <a:off x="68580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7" name="Shape 5"/>
          <p:cNvSpPr/>
          <p:nvPr/>
        </p:nvSpPr>
        <p:spPr>
          <a:xfrm>
            <a:off x="886968" y="1618488"/>
            <a:ext cx="512064" cy="512064"/>
          </a:xfrm>
          <a:prstGeom prst="ellipse">
            <a:avLst/>
          </a:prstGeom>
          <a:solidFill>
            <a:srgbClr val="1F5A5A">
              <a:alpha val="12000"/>
            </a:srgbClr>
          </a:solidFill>
          <a:ln w="12700">
            <a:solidFill>
              <a:srgbClr val="1F5A5A">
                <a:alpha val="0"/>
              </a:srgbClr>
            </a:solidFill>
            <a:prstDash val="solid"/>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737360"/>
            <a:ext cx="274320" cy="274320"/>
          </a:xfrm>
          <a:prstGeom prst="rect">
            <a:avLst/>
          </a:prstGeom>
        </p:spPr>
      </p:pic>
      <p:sp>
        <p:nvSpPr>
          <p:cNvPr id="9" name="Text 6"/>
          <p:cNvSpPr/>
          <p:nvPr/>
        </p:nvSpPr>
        <p:spPr>
          <a:xfrm>
            <a:off x="152704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1. Pull latest work</a:t>
            </a:r>
            <a:endParaRPr lang="en-US" sz="1550" dirty="0"/>
          </a:p>
        </p:txBody>
      </p:sp>
      <p:sp>
        <p:nvSpPr>
          <p:cNvPr id="10" name="Text 7"/>
          <p:cNvSpPr/>
          <p:nvPr/>
        </p:nvSpPr>
        <p:spPr>
          <a:xfrm>
            <a:off x="152704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Start from the newest shared version</a:t>
            </a:r>
            <a:endParaRPr lang="en-US" sz="112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408" y="2304288"/>
            <a:ext cx="292608" cy="292608"/>
          </a:xfrm>
          <a:prstGeom prst="rect">
            <a:avLst/>
          </a:prstGeom>
        </p:spPr>
      </p:pic>
      <p:sp>
        <p:nvSpPr>
          <p:cNvPr id="12" name="Shape 8"/>
          <p:cNvSpPr/>
          <p:nvPr/>
        </p:nvSpPr>
        <p:spPr>
          <a:xfrm>
            <a:off x="352044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3" name="Shape 9"/>
          <p:cNvSpPr/>
          <p:nvPr/>
        </p:nvSpPr>
        <p:spPr>
          <a:xfrm>
            <a:off x="3721608" y="1618488"/>
            <a:ext cx="512064" cy="512064"/>
          </a:xfrm>
          <a:prstGeom prst="ellipse">
            <a:avLst/>
          </a:prstGeom>
          <a:solidFill>
            <a:srgbClr val="C96F47">
              <a:alpha val="12000"/>
            </a:srgbClr>
          </a:solidFill>
          <a:ln w="12700">
            <a:solidFill>
              <a:srgbClr val="C96F47">
                <a:alpha val="0"/>
              </a:srgbClr>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0480" y="1737360"/>
            <a:ext cx="274320" cy="274320"/>
          </a:xfrm>
          <a:prstGeom prst="rect">
            <a:avLst/>
          </a:prstGeom>
        </p:spPr>
      </p:pic>
      <p:sp>
        <p:nvSpPr>
          <p:cNvPr id="15" name="Text 10"/>
          <p:cNvSpPr/>
          <p:nvPr/>
        </p:nvSpPr>
        <p:spPr>
          <a:xfrm>
            <a:off x="436168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2. Make changes</a:t>
            </a:r>
            <a:endParaRPr lang="en-US" sz="1550" dirty="0"/>
          </a:p>
        </p:txBody>
      </p:sp>
      <p:sp>
        <p:nvSpPr>
          <p:cNvPr id="16" name="Text 11"/>
          <p:cNvSpPr/>
          <p:nvPr/>
        </p:nvSpPr>
        <p:spPr>
          <a:xfrm>
            <a:off x="436168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Update SQL, report or diagrams</a:t>
            </a:r>
            <a:endParaRPr lang="en-US" sz="112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99048" y="2304288"/>
            <a:ext cx="292608" cy="292608"/>
          </a:xfrm>
          <a:prstGeom prst="rect">
            <a:avLst/>
          </a:prstGeom>
        </p:spPr>
      </p:pic>
      <p:sp>
        <p:nvSpPr>
          <p:cNvPr id="18" name="Shape 12"/>
          <p:cNvSpPr/>
          <p:nvPr/>
        </p:nvSpPr>
        <p:spPr>
          <a:xfrm>
            <a:off x="635508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19" name="Shape 13"/>
          <p:cNvSpPr/>
          <p:nvPr/>
        </p:nvSpPr>
        <p:spPr>
          <a:xfrm>
            <a:off x="6556248" y="1618488"/>
            <a:ext cx="512064" cy="512064"/>
          </a:xfrm>
          <a:prstGeom prst="ellipse">
            <a:avLst/>
          </a:prstGeom>
          <a:solidFill>
            <a:srgbClr val="4B7A6A">
              <a:alpha val="12000"/>
            </a:srgbClr>
          </a:solidFill>
          <a:ln w="12700">
            <a:solidFill>
              <a:srgbClr val="4B7A6A">
                <a:alpha val="0"/>
              </a:srgbClr>
            </a:solidFill>
            <a:prstDash val="solid"/>
          </a:ln>
        </p:spPr>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0" y="1737360"/>
            <a:ext cx="274320" cy="274320"/>
          </a:xfrm>
          <a:prstGeom prst="rect">
            <a:avLst/>
          </a:prstGeom>
        </p:spPr>
      </p:pic>
      <p:sp>
        <p:nvSpPr>
          <p:cNvPr id="21" name="Text 14"/>
          <p:cNvSpPr/>
          <p:nvPr/>
        </p:nvSpPr>
        <p:spPr>
          <a:xfrm>
            <a:off x="7196328" y="1645920"/>
            <a:ext cx="1490472" cy="256032"/>
          </a:xfrm>
          <a:prstGeom prst="rect">
            <a:avLst/>
          </a:prstGeom>
          <a:noFill/>
          <a:ln/>
        </p:spPr>
        <p:txBody>
          <a:bodyPr wrap="square" lIns="0" tIns="0" rIns="0" bIns="0" rtlCol="0" anchor="ctr"/>
          <a:lstStyle/>
          <a:p>
            <a:pPr indent="0" marL="0">
              <a:buNone/>
            </a:pPr>
            <a:r>
              <a:rPr lang="en-US" sz="1550" b="1" dirty="0">
                <a:solidFill>
                  <a:srgbClr val="1F2937"/>
                </a:solidFill>
              </a:rPr>
              <a:t>3. Commit clearly</a:t>
            </a:r>
            <a:endParaRPr lang="en-US" sz="1550" dirty="0"/>
          </a:p>
        </p:txBody>
      </p:sp>
      <p:sp>
        <p:nvSpPr>
          <p:cNvPr id="22" name="Text 15"/>
          <p:cNvSpPr/>
          <p:nvPr/>
        </p:nvSpPr>
        <p:spPr>
          <a:xfrm>
            <a:off x="7196328" y="1984248"/>
            <a:ext cx="149047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Use meaningful messages for each change</a:t>
            </a:r>
            <a:endParaRPr lang="en-US" sz="112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33688" y="2304288"/>
            <a:ext cx="292608" cy="292608"/>
          </a:xfrm>
          <a:prstGeom prst="rect">
            <a:avLst/>
          </a:prstGeom>
        </p:spPr>
      </p:pic>
      <p:sp>
        <p:nvSpPr>
          <p:cNvPr id="24" name="Shape 16"/>
          <p:cNvSpPr/>
          <p:nvPr/>
        </p:nvSpPr>
        <p:spPr>
          <a:xfrm>
            <a:off x="9189720" y="1417320"/>
            <a:ext cx="2542032" cy="2331720"/>
          </a:xfrm>
          <a:prstGeom prst="roundRect">
            <a:avLst>
              <a:gd name="adj" fmla="val 3137"/>
            </a:avLst>
          </a:prstGeom>
          <a:solidFill>
            <a:srgbClr val="FFFFFF"/>
          </a:solidFill>
          <a:ln w="12700">
            <a:solidFill>
              <a:srgbClr val="D8DEDF"/>
            </a:solidFill>
            <a:prstDash val="solid"/>
          </a:ln>
          <a:effectLst>
            <a:outerShdw sx="100000" sy="100000" kx="0" ky="0" algn="bl" rotWithShape="0" blurRad="19050" dist="50800" dir="2700000">
              <a:srgbClr val="C5CBCB">
                <a:alpha val="18000"/>
              </a:srgbClr>
            </a:outerShdw>
          </a:effectLst>
        </p:spPr>
      </p:sp>
      <p:sp>
        <p:nvSpPr>
          <p:cNvPr id="25" name="Text 17"/>
          <p:cNvSpPr/>
          <p:nvPr/>
        </p:nvSpPr>
        <p:spPr>
          <a:xfrm>
            <a:off x="9418320" y="1618488"/>
            <a:ext cx="2084832" cy="274320"/>
          </a:xfrm>
          <a:prstGeom prst="rect">
            <a:avLst/>
          </a:prstGeom>
          <a:noFill/>
          <a:ln/>
        </p:spPr>
        <p:txBody>
          <a:bodyPr wrap="square" lIns="0" tIns="0" rIns="0" bIns="0" rtlCol="0" anchor="ctr"/>
          <a:lstStyle/>
          <a:p>
            <a:pPr indent="0" marL="0">
              <a:buNone/>
            </a:pPr>
            <a:r>
              <a:rPr lang="en-US" sz="1550" b="1" dirty="0">
                <a:solidFill>
                  <a:srgbClr val="1F2937"/>
                </a:solidFill>
              </a:rPr>
              <a:t>4. Push &amp; review</a:t>
            </a:r>
            <a:endParaRPr lang="en-US" sz="1550" dirty="0"/>
          </a:p>
        </p:txBody>
      </p:sp>
      <p:sp>
        <p:nvSpPr>
          <p:cNvPr id="26" name="Text 18"/>
          <p:cNvSpPr/>
          <p:nvPr/>
        </p:nvSpPr>
        <p:spPr>
          <a:xfrm>
            <a:off x="9418320" y="1984248"/>
            <a:ext cx="2084832" cy="1600200"/>
          </a:xfrm>
          <a:prstGeom prst="rect">
            <a:avLst/>
          </a:prstGeom>
          <a:noFill/>
          <a:ln/>
        </p:spPr>
        <p:txBody>
          <a:bodyPr wrap="square" lIns="127" tIns="127" rIns="127" bIns="127" rtlCol="0" anchor="t">
            <a:normAutofit/>
          </a:bodyPr>
          <a:lstStyle/>
          <a:p>
            <a:pPr indent="0" marL="0">
              <a:buNone/>
            </a:pPr>
            <a:r>
              <a:rPr lang="en-US" sz="1120" dirty="0">
                <a:solidFill>
                  <a:srgbClr val="6B7280"/>
                </a:solidFill>
              </a:rPr>
              <a:t>Share progress and check before finalising</a:t>
            </a:r>
            <a:endParaRPr lang="en-US" sz="1120" dirty="0"/>
          </a:p>
        </p:txBody>
      </p:sp>
      <p:sp>
        <p:nvSpPr>
          <p:cNvPr id="27" name="Shape 19"/>
          <p:cNvSpPr/>
          <p:nvPr/>
        </p:nvSpPr>
        <p:spPr>
          <a:xfrm>
            <a:off x="868680" y="4160520"/>
            <a:ext cx="10424160" cy="1417320"/>
          </a:xfrm>
          <a:prstGeom prst="roundRect">
            <a:avLst>
              <a:gd name="adj" fmla="val 5161"/>
            </a:avLst>
          </a:prstGeom>
          <a:solidFill>
            <a:srgbClr val="DCE8EC"/>
          </a:solidFill>
          <a:ln w="12700">
            <a:solidFill>
              <a:srgbClr val="C4D5DB"/>
            </a:solidFill>
            <a:prstDash val="solid"/>
          </a:ln>
        </p:spPr>
      </p:sp>
      <p:sp>
        <p:nvSpPr>
          <p:cNvPr id="28" name="Text 20"/>
          <p:cNvSpPr/>
          <p:nvPr/>
        </p:nvSpPr>
        <p:spPr>
          <a:xfrm>
            <a:off x="1143000" y="4462272"/>
            <a:ext cx="2103120" cy="274320"/>
          </a:xfrm>
          <a:prstGeom prst="rect">
            <a:avLst/>
          </a:prstGeom>
          <a:noFill/>
          <a:ln/>
        </p:spPr>
        <p:txBody>
          <a:bodyPr wrap="square" lIns="0" tIns="0" rIns="0" bIns="0" rtlCol="0" anchor="ctr"/>
          <a:lstStyle/>
          <a:p>
            <a:pPr indent="0" marL="0">
              <a:buNone/>
            </a:pPr>
            <a:r>
              <a:rPr lang="en-US" sz="1650" b="1" dirty="0">
                <a:solidFill>
                  <a:srgbClr val="163A45"/>
                </a:solidFill>
              </a:rPr>
              <a:t>Repository evidence</a:t>
            </a:r>
            <a:endParaRPr lang="en-US" sz="1650" dirty="0"/>
          </a:p>
        </p:txBody>
      </p:sp>
      <p:sp>
        <p:nvSpPr>
          <p:cNvPr id="29" name="Text 21"/>
          <p:cNvSpPr/>
          <p:nvPr/>
        </p:nvSpPr>
        <p:spPr>
          <a:xfrm>
            <a:off x="3337560" y="4325112"/>
            <a:ext cx="5257800" cy="960120"/>
          </a:xfrm>
          <a:prstGeom prst="rect">
            <a:avLst/>
          </a:prstGeom>
          <a:noFill/>
          <a:ln/>
        </p:spPr>
        <p:txBody>
          <a:bodyPr wrap="square" lIns="508" tIns="508" rIns="508" bIns="508" rtlCol="0" anchor="t">
            <a:normAutofit/>
          </a:bodyPr>
          <a:lstStyle/>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Database build / population file</a:t>
            </a:r>
            <a:endParaRPr lang="en-US" sz="1300" dirty="0"/>
          </a:p>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Query file covering use cases and SQL skills</a:t>
            </a:r>
            <a:endParaRPr lang="en-US" sz="1300" dirty="0"/>
          </a:p>
          <a:p>
            <a:pPr marL="177800" indent="-177800">
              <a:buSzPct val="100000"/>
              <a:buChar char="•"/>
            </a:pPr>
            <a:r>
              <a:rPr lang="en-US" sz="1300" dirty="0">
                <a:solidFill>
                  <a:srgbClr val="1F2937"/>
                </a:solidFill>
                <a:latin typeface="Carlito" pitchFamily="34" charset="0"/>
                <a:ea typeface="Carlito" pitchFamily="34" charset="-122"/>
                <a:cs typeface="Carlito" pitchFamily="34" charset="-120"/>
              </a:rPr>
              <a:t>Final report / data dictionary / ERD</a:t>
            </a:r>
            <a:endParaRPr lang="en-US" sz="1300" dirty="0"/>
          </a:p>
        </p:txBody>
      </p:sp>
      <p:sp>
        <p:nvSpPr>
          <p:cNvPr id="30" name="Shape 22"/>
          <p:cNvSpPr/>
          <p:nvPr/>
        </p:nvSpPr>
        <p:spPr>
          <a:xfrm>
            <a:off x="8823960" y="4370832"/>
            <a:ext cx="2148840" cy="749808"/>
          </a:xfrm>
          <a:prstGeom prst="roundRect">
            <a:avLst>
              <a:gd name="adj" fmla="val 6098"/>
            </a:avLst>
          </a:prstGeom>
          <a:solidFill>
            <a:srgbClr val="FFFFFF"/>
          </a:solidFill>
          <a:ln w="12700">
            <a:solidFill>
              <a:srgbClr val="B7C2C5"/>
            </a:solidFill>
            <a:prstDash val="solid"/>
          </a:ln>
        </p:spPr>
      </p:sp>
      <p:sp>
        <p:nvSpPr>
          <p:cNvPr id="31" name="Text 23"/>
          <p:cNvSpPr/>
          <p:nvPr/>
        </p:nvSpPr>
        <p:spPr>
          <a:xfrm>
            <a:off x="9034272" y="4517136"/>
            <a:ext cx="1719072" cy="393192"/>
          </a:xfrm>
          <a:prstGeom prst="rect">
            <a:avLst/>
          </a:prstGeom>
          <a:noFill/>
          <a:ln/>
        </p:spPr>
        <p:txBody>
          <a:bodyPr wrap="square" lIns="0" tIns="0" rIns="0" bIns="0" rtlCol="0" anchor="ctr">
            <a:normAutofit/>
          </a:bodyPr>
          <a:lstStyle/>
          <a:p>
            <a:pPr algn="ctr" indent="0" marL="0">
              <a:buNone/>
            </a:pPr>
            <a:r>
              <a:rPr lang="en-US" sz="1050" dirty="0">
                <a:solidFill>
                  <a:srgbClr val="6B7280"/>
                </a:solidFill>
              </a:rPr>
              <a:t>Add your real GitHub</a:t>
            </a:r>
            <a:endParaRPr lang="en-US" sz="1050" dirty="0"/>
          </a:p>
          <a:p>
            <a:pPr algn="ctr" indent="0" marL="0">
              <a:buNone/>
            </a:pPr>
            <a:r>
              <a:rPr lang="en-US" sz="1050" dirty="0">
                <a:solidFill>
                  <a:srgbClr val="6B7280"/>
                </a:solidFill>
              </a:rPr>
              <a:t>commit screenshot here</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Challenges</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What was difficult — and how we responded</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Harshdeep</a:t>
            </a:r>
            <a:endParaRPr lang="en-US" sz="970" dirty="0"/>
          </a:p>
        </p:txBody>
      </p:sp>
      <p:sp>
        <p:nvSpPr>
          <p:cNvPr id="6" name="Shape 4"/>
          <p:cNvSpPr/>
          <p:nvPr/>
        </p:nvSpPr>
        <p:spPr>
          <a:xfrm>
            <a:off x="685800" y="137160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0120" y="1682496"/>
            <a:ext cx="475488" cy="475488"/>
          </a:xfrm>
          <a:prstGeom prst="rect">
            <a:avLst/>
          </a:prstGeom>
        </p:spPr>
      </p:pic>
      <p:sp>
        <p:nvSpPr>
          <p:cNvPr id="8" name="Text 5"/>
          <p:cNvSpPr/>
          <p:nvPr/>
        </p:nvSpPr>
        <p:spPr>
          <a:xfrm>
            <a:off x="1581912" y="160020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Scope control</a:t>
            </a:r>
            <a:endParaRPr lang="en-US" sz="1600" dirty="0"/>
          </a:p>
        </p:txBody>
      </p:sp>
      <p:sp>
        <p:nvSpPr>
          <p:cNvPr id="9" name="Text 6"/>
          <p:cNvSpPr/>
          <p:nvPr/>
        </p:nvSpPr>
        <p:spPr>
          <a:xfrm>
            <a:off x="1581912" y="197510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10" name="Text 7"/>
          <p:cNvSpPr/>
          <p:nvPr/>
        </p:nvSpPr>
        <p:spPr>
          <a:xfrm>
            <a:off x="2350008" y="192938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Real estate operations contain too much data for one small project.</a:t>
            </a:r>
            <a:endParaRPr lang="en-US" sz="1120" dirty="0"/>
          </a:p>
        </p:txBody>
      </p:sp>
      <p:sp>
        <p:nvSpPr>
          <p:cNvPr id="11" name="Text 8"/>
          <p:cNvSpPr/>
          <p:nvPr/>
        </p:nvSpPr>
        <p:spPr>
          <a:xfrm>
            <a:off x="1581912" y="256032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12" name="Text 9"/>
          <p:cNvSpPr/>
          <p:nvPr/>
        </p:nvSpPr>
        <p:spPr>
          <a:xfrm>
            <a:off x="2350008" y="249631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Reduced the scope to seven core entities and excluded physical/unstructured items.</a:t>
            </a:r>
            <a:endParaRPr lang="en-US" sz="1120" dirty="0"/>
          </a:p>
        </p:txBody>
      </p:sp>
      <p:sp>
        <p:nvSpPr>
          <p:cNvPr id="13" name="Shape 10"/>
          <p:cNvSpPr/>
          <p:nvPr/>
        </p:nvSpPr>
        <p:spPr>
          <a:xfrm>
            <a:off x="6172200" y="137160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46520" y="1682496"/>
            <a:ext cx="475488" cy="475488"/>
          </a:xfrm>
          <a:prstGeom prst="rect">
            <a:avLst/>
          </a:prstGeom>
        </p:spPr>
      </p:pic>
      <p:sp>
        <p:nvSpPr>
          <p:cNvPr id="15" name="Text 11"/>
          <p:cNvSpPr/>
          <p:nvPr/>
        </p:nvSpPr>
        <p:spPr>
          <a:xfrm>
            <a:off x="7068312" y="160020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Relationships</a:t>
            </a:r>
            <a:endParaRPr lang="en-US" sz="1600" dirty="0"/>
          </a:p>
        </p:txBody>
      </p:sp>
      <p:sp>
        <p:nvSpPr>
          <p:cNvPr id="16" name="Text 12"/>
          <p:cNvSpPr/>
          <p:nvPr/>
        </p:nvSpPr>
        <p:spPr>
          <a:xfrm>
            <a:off x="7068312" y="197510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17" name="Text 13"/>
          <p:cNvSpPr/>
          <p:nvPr/>
        </p:nvSpPr>
        <p:spPr>
          <a:xfrm>
            <a:off x="7836408" y="192938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Buyer–property interactions can become many-to-many and confusing.</a:t>
            </a:r>
            <a:endParaRPr lang="en-US" sz="1120" dirty="0"/>
          </a:p>
        </p:txBody>
      </p:sp>
      <p:sp>
        <p:nvSpPr>
          <p:cNvPr id="18" name="Text 14"/>
          <p:cNvSpPr/>
          <p:nvPr/>
        </p:nvSpPr>
        <p:spPr>
          <a:xfrm>
            <a:off x="7068312" y="256032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19" name="Text 15"/>
          <p:cNvSpPr/>
          <p:nvPr/>
        </p:nvSpPr>
        <p:spPr>
          <a:xfrm>
            <a:off x="7836408" y="249631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Used VIEWING as an associative record and foreign keys to keep links clear.</a:t>
            </a:r>
            <a:endParaRPr lang="en-US" sz="1120" dirty="0"/>
          </a:p>
        </p:txBody>
      </p:sp>
      <p:sp>
        <p:nvSpPr>
          <p:cNvPr id="20" name="Shape 16"/>
          <p:cNvSpPr/>
          <p:nvPr/>
        </p:nvSpPr>
        <p:spPr>
          <a:xfrm>
            <a:off x="685800" y="370332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120" y="4014216"/>
            <a:ext cx="475488" cy="475488"/>
          </a:xfrm>
          <a:prstGeom prst="rect">
            <a:avLst/>
          </a:prstGeom>
        </p:spPr>
      </p:pic>
      <p:sp>
        <p:nvSpPr>
          <p:cNvPr id="22" name="Text 17"/>
          <p:cNvSpPr/>
          <p:nvPr/>
        </p:nvSpPr>
        <p:spPr>
          <a:xfrm>
            <a:off x="1581912" y="393192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Data integrity</a:t>
            </a:r>
            <a:endParaRPr lang="en-US" sz="1600" dirty="0"/>
          </a:p>
        </p:txBody>
      </p:sp>
      <p:sp>
        <p:nvSpPr>
          <p:cNvPr id="23" name="Text 18"/>
          <p:cNvSpPr/>
          <p:nvPr/>
        </p:nvSpPr>
        <p:spPr>
          <a:xfrm>
            <a:off x="1581912" y="430682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24" name="Text 19"/>
          <p:cNvSpPr/>
          <p:nvPr/>
        </p:nvSpPr>
        <p:spPr>
          <a:xfrm>
            <a:off x="2350008" y="426110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Invalid prices, budgets or duplicate sales could damage reliability.</a:t>
            </a:r>
            <a:endParaRPr lang="en-US" sz="1120" dirty="0"/>
          </a:p>
        </p:txBody>
      </p:sp>
      <p:sp>
        <p:nvSpPr>
          <p:cNvPr id="25" name="Text 20"/>
          <p:cNvSpPr/>
          <p:nvPr/>
        </p:nvSpPr>
        <p:spPr>
          <a:xfrm>
            <a:off x="1581912" y="489204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26" name="Text 21"/>
          <p:cNvSpPr/>
          <p:nvPr/>
        </p:nvSpPr>
        <p:spPr>
          <a:xfrm>
            <a:off x="2350008" y="482803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Added PKs, FKs, UNIQUE, NOT NULL, DEFAULT and CHECK constraints.</a:t>
            </a:r>
            <a:endParaRPr lang="en-US" sz="1120" dirty="0"/>
          </a:p>
        </p:txBody>
      </p:sp>
      <p:sp>
        <p:nvSpPr>
          <p:cNvPr id="27" name="Shape 22"/>
          <p:cNvSpPr/>
          <p:nvPr/>
        </p:nvSpPr>
        <p:spPr>
          <a:xfrm>
            <a:off x="6172200" y="3703320"/>
            <a:ext cx="5349240" cy="1965960"/>
          </a:xfrm>
          <a:prstGeom prst="roundRect">
            <a:avLst>
              <a:gd name="adj" fmla="val 3721"/>
            </a:avLst>
          </a:prstGeom>
          <a:solidFill>
            <a:srgbClr val="FFFFFF"/>
          </a:solidFill>
          <a:ln w="12700">
            <a:solidFill>
              <a:srgbClr val="D5DDDE"/>
            </a:solidFill>
            <a:prstDash val="solid"/>
          </a:ln>
          <a:effectLst>
            <a:outerShdw sx="100000" sy="100000" kx="0" ky="0" algn="bl" rotWithShape="0" blurRad="12700" dist="50800" dir="2700000">
              <a:srgbClr val="C5CBCB">
                <a:alpha val="12000"/>
              </a:srgbClr>
            </a:outerShdw>
          </a:effectLst>
        </p:spPr>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46520" y="4014216"/>
            <a:ext cx="475488" cy="475488"/>
          </a:xfrm>
          <a:prstGeom prst="rect">
            <a:avLst/>
          </a:prstGeom>
        </p:spPr>
      </p:pic>
      <p:sp>
        <p:nvSpPr>
          <p:cNvPr id="29" name="Text 23"/>
          <p:cNvSpPr/>
          <p:nvPr/>
        </p:nvSpPr>
        <p:spPr>
          <a:xfrm>
            <a:off x="7068312" y="3931920"/>
            <a:ext cx="2011680" cy="274320"/>
          </a:xfrm>
          <a:prstGeom prst="rect">
            <a:avLst/>
          </a:prstGeom>
          <a:noFill/>
          <a:ln/>
        </p:spPr>
        <p:txBody>
          <a:bodyPr wrap="square" lIns="0" tIns="0" rIns="0" bIns="0" rtlCol="0" anchor="ctr"/>
          <a:lstStyle/>
          <a:p>
            <a:pPr indent="0" marL="0">
              <a:buNone/>
            </a:pPr>
            <a:r>
              <a:rPr lang="en-US" sz="1600" b="1" dirty="0">
                <a:solidFill>
                  <a:srgbClr val="1F2937"/>
                </a:solidFill>
              </a:rPr>
              <a:t>Team versions</a:t>
            </a:r>
            <a:endParaRPr lang="en-US" sz="1600" dirty="0"/>
          </a:p>
        </p:txBody>
      </p:sp>
      <p:sp>
        <p:nvSpPr>
          <p:cNvPr id="30" name="Text 24"/>
          <p:cNvSpPr/>
          <p:nvPr/>
        </p:nvSpPr>
        <p:spPr>
          <a:xfrm>
            <a:off x="7068312" y="4306824"/>
            <a:ext cx="777240" cy="182880"/>
          </a:xfrm>
          <a:prstGeom prst="rect">
            <a:avLst/>
          </a:prstGeom>
          <a:noFill/>
          <a:ln/>
        </p:spPr>
        <p:txBody>
          <a:bodyPr wrap="square" lIns="0" tIns="0" rIns="0" bIns="0" rtlCol="0" anchor="ctr"/>
          <a:lstStyle/>
          <a:p>
            <a:pPr indent="0" marL="0">
              <a:buNone/>
            </a:pPr>
            <a:r>
              <a:rPr lang="en-US" sz="950" b="1" dirty="0">
                <a:solidFill>
                  <a:srgbClr val="C96F47"/>
                </a:solidFill>
              </a:rPr>
              <a:t>Challenge</a:t>
            </a:r>
            <a:endParaRPr lang="en-US" sz="950" dirty="0"/>
          </a:p>
        </p:txBody>
      </p:sp>
      <p:sp>
        <p:nvSpPr>
          <p:cNvPr id="31" name="Text 25"/>
          <p:cNvSpPr/>
          <p:nvPr/>
        </p:nvSpPr>
        <p:spPr>
          <a:xfrm>
            <a:off x="7836408" y="4261104"/>
            <a:ext cx="3310128" cy="457200"/>
          </a:xfrm>
          <a:prstGeom prst="rect">
            <a:avLst/>
          </a:prstGeom>
          <a:noFill/>
          <a:ln/>
        </p:spPr>
        <p:txBody>
          <a:bodyPr wrap="square" lIns="0" tIns="0" rIns="0" bIns="0" rtlCol="0" anchor="ctr">
            <a:normAutofit/>
          </a:bodyPr>
          <a:lstStyle/>
          <a:p>
            <a:pPr indent="0" marL="0">
              <a:buNone/>
            </a:pPr>
            <a:r>
              <a:rPr lang="en-US" sz="1120" dirty="0">
                <a:solidFill>
                  <a:srgbClr val="6B7280"/>
                </a:solidFill>
              </a:rPr>
              <a:t>Different file versions can create merge or submission problems.</a:t>
            </a:r>
            <a:endParaRPr lang="en-US" sz="1120" dirty="0"/>
          </a:p>
        </p:txBody>
      </p:sp>
      <p:sp>
        <p:nvSpPr>
          <p:cNvPr id="32" name="Text 26"/>
          <p:cNvSpPr/>
          <p:nvPr/>
        </p:nvSpPr>
        <p:spPr>
          <a:xfrm>
            <a:off x="7068312" y="4892040"/>
            <a:ext cx="777240" cy="182880"/>
          </a:xfrm>
          <a:prstGeom prst="rect">
            <a:avLst/>
          </a:prstGeom>
          <a:noFill/>
          <a:ln/>
        </p:spPr>
        <p:txBody>
          <a:bodyPr wrap="square" lIns="0" tIns="0" rIns="0" bIns="0" rtlCol="0" anchor="ctr"/>
          <a:lstStyle/>
          <a:p>
            <a:pPr indent="0" marL="0">
              <a:buNone/>
            </a:pPr>
            <a:r>
              <a:rPr lang="en-US" sz="950" b="1" dirty="0">
                <a:solidFill>
                  <a:srgbClr val="1F5A5A"/>
                </a:solidFill>
              </a:rPr>
              <a:t>Response</a:t>
            </a:r>
            <a:endParaRPr lang="en-US" sz="950" dirty="0"/>
          </a:p>
        </p:txBody>
      </p:sp>
      <p:sp>
        <p:nvSpPr>
          <p:cNvPr id="33" name="Text 27"/>
          <p:cNvSpPr/>
          <p:nvPr/>
        </p:nvSpPr>
        <p:spPr>
          <a:xfrm>
            <a:off x="7836408" y="4828032"/>
            <a:ext cx="3310128" cy="594360"/>
          </a:xfrm>
          <a:prstGeom prst="rect">
            <a:avLst/>
          </a:prstGeom>
          <a:noFill/>
          <a:ln/>
        </p:spPr>
        <p:txBody>
          <a:bodyPr wrap="square" lIns="0" tIns="0" rIns="0" bIns="0" rtlCol="0" anchor="ctr">
            <a:normAutofit/>
          </a:bodyPr>
          <a:lstStyle/>
          <a:p>
            <a:pPr indent="0" marL="0">
              <a:buNone/>
            </a:pPr>
            <a:r>
              <a:rPr lang="en-US" sz="1120" b="1" dirty="0">
                <a:solidFill>
                  <a:srgbClr val="1F2937"/>
                </a:solidFill>
              </a:rPr>
              <a:t>Used GitHub and clear commits so everyone could work from the current version.</a:t>
            </a:r>
            <a:endParaRPr lang="en-US" sz="112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11480"/>
            <a:ext cx="10698480" cy="438912"/>
          </a:xfrm>
          <a:prstGeom prst="rect">
            <a:avLst/>
          </a:prstGeom>
          <a:noFill/>
          <a:ln/>
        </p:spPr>
        <p:txBody>
          <a:bodyPr wrap="square" lIns="0" tIns="0" rIns="0" bIns="0" rtlCol="0" anchor="ctr"/>
          <a:lstStyle/>
          <a:p>
            <a:pPr indent="0" marL="0">
              <a:buNone/>
            </a:pPr>
            <a:r>
              <a:rPr lang="en-US" sz="2500" b="1" dirty="0">
                <a:solidFill>
                  <a:srgbClr val="163A45"/>
                </a:solidFill>
                <a:latin typeface="Carlito" pitchFamily="34" charset="0"/>
                <a:ea typeface="Carlito" pitchFamily="34" charset="-122"/>
                <a:cs typeface="Carlito" pitchFamily="34" charset="-120"/>
              </a:rPr>
              <a:t>Conclusion</a:t>
            </a:r>
            <a:endParaRPr lang="en-US" sz="2500" dirty="0"/>
          </a:p>
        </p:txBody>
      </p:sp>
      <p:sp>
        <p:nvSpPr>
          <p:cNvPr id="3" name="Text 1"/>
          <p:cNvSpPr/>
          <p:nvPr/>
        </p:nvSpPr>
        <p:spPr>
          <a:xfrm>
            <a:off x="658368" y="877824"/>
            <a:ext cx="10789920" cy="310896"/>
          </a:xfrm>
          <a:prstGeom prst="rect">
            <a:avLst/>
          </a:prstGeom>
          <a:noFill/>
          <a:ln/>
        </p:spPr>
        <p:txBody>
          <a:bodyPr wrap="square" lIns="0" tIns="0" rIns="0" bIns="0" rtlCol="0" anchor="ctr"/>
          <a:lstStyle/>
          <a:p>
            <a:pPr indent="0" marL="0">
              <a:buNone/>
            </a:pPr>
            <a:r>
              <a:rPr lang="en-US" sz="1250" dirty="0">
                <a:solidFill>
                  <a:srgbClr val="6B7280"/>
                </a:solidFill>
                <a:latin typeface="Carlito" pitchFamily="34" charset="0"/>
                <a:ea typeface="Carlito" pitchFamily="34" charset="-122"/>
                <a:cs typeface="Carlito" pitchFamily="34" charset="-120"/>
              </a:rPr>
              <a:t>What the project demonstrates</a:t>
            </a:r>
            <a:endParaRPr lang="en-US" sz="1250" dirty="0"/>
          </a:p>
        </p:txBody>
      </p:sp>
      <p:sp>
        <p:nvSpPr>
          <p:cNvPr id="4" name="Shape 2"/>
          <p:cNvSpPr/>
          <p:nvPr/>
        </p:nvSpPr>
        <p:spPr>
          <a:xfrm>
            <a:off x="9674352" y="457200"/>
            <a:ext cx="1810512" cy="347472"/>
          </a:xfrm>
          <a:prstGeom prst="roundRect">
            <a:avLst>
              <a:gd name="adj" fmla="val 15789"/>
            </a:avLst>
          </a:prstGeom>
          <a:solidFill>
            <a:srgbClr val="EEE2CD"/>
          </a:solidFill>
          <a:ln w="12700">
            <a:solidFill>
              <a:srgbClr val="EEE2CD"/>
            </a:solidFill>
            <a:prstDash val="solid"/>
          </a:ln>
        </p:spPr>
        <p:txBody>
          <a:bodyPr/>
          <a:p/>
        </p:txBody>
      </p:sp>
      <p:sp>
        <p:nvSpPr>
          <p:cNvPr id="5" name="Text 3"/>
          <p:cNvSpPr/>
          <p:nvPr/>
        </p:nvSpPr>
        <p:spPr>
          <a:xfrm>
            <a:off x="9747504" y="548640"/>
            <a:ext cx="1664208" cy="137160"/>
          </a:xfrm>
          <a:prstGeom prst="rect">
            <a:avLst/>
          </a:prstGeom>
          <a:noFill/>
          <a:ln/>
        </p:spPr>
        <p:txBody>
          <a:bodyPr wrap="square" lIns="0" tIns="0" rIns="0" bIns="0" rtlCol="0" anchor="ctr"/>
          <a:lstStyle/>
          <a:p>
            <a:pPr algn="ctr" indent="0" marL="0">
              <a:buNone/>
            </a:pPr>
            <a:r>
              <a:rPr lang="en-US" sz="970" b="1" dirty="0">
                <a:solidFill>
                  <a:srgbClr val="163A45"/>
                </a:solidFill>
              </a:rPr>
              <a:t>Speaker: Prasamsha</a:t>
            </a:r>
            <a:endParaRPr lang="en-US" sz="970" dirty="0"/>
          </a:p>
        </p:txBody>
      </p:sp>
      <p:sp>
        <p:nvSpPr>
          <p:cNvPr id="6" name="Shape 4"/>
          <p:cNvSpPr/>
          <p:nvPr/>
        </p:nvSpPr>
        <p:spPr>
          <a:xfrm>
            <a:off x="731520" y="1417320"/>
            <a:ext cx="10744200" cy="4160520"/>
          </a:xfrm>
          <a:prstGeom prst="roundRect">
            <a:avLst>
              <a:gd name="adj" fmla="val 2637"/>
            </a:avLst>
          </a:prstGeom>
          <a:solidFill>
            <a:srgbClr val="163A45"/>
          </a:solidFill>
          <a:ln w="12700">
            <a:solidFill>
              <a:srgbClr val="163A45"/>
            </a:solidFill>
            <a:prstDash val="solid"/>
          </a:ln>
        </p:spPr>
        <p:txBody>
          <a:bodyPr/>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34440" y="1874520"/>
            <a:ext cx="868680" cy="868680"/>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1680" y="1874520"/>
            <a:ext cx="868680" cy="868680"/>
          </a:xfrm>
          <a:prstGeom prst="rect">
            <a:avLst/>
          </a:prstGeom>
        </p:spPr>
      </p:pic>
      <p:sp>
        <p:nvSpPr>
          <p:cNvPr id="9" name="Text 5"/>
          <p:cNvSpPr/>
          <p:nvPr/>
        </p:nvSpPr>
        <p:spPr>
          <a:xfrm>
            <a:off x="2788920" y="1764792"/>
            <a:ext cx="7772400" cy="777240"/>
          </a:xfrm>
          <a:prstGeom prst="rect">
            <a:avLst/>
          </a:prstGeom>
          <a:noFill/>
          <a:ln/>
        </p:spPr>
        <p:txBody>
          <a:bodyPr wrap="square" lIns="0" tIns="0" rIns="0" bIns="0" rtlCol="0" anchor="ctr">
            <a:normAutofit/>
          </a:bodyPr>
          <a:lstStyle/>
          <a:p>
            <a:pPr indent="0" marL="0">
              <a:buNone/>
            </a:pPr>
            <a:r>
              <a:rPr lang="en-US" sz="2400" b="1" dirty="0">
                <a:solidFill>
                  <a:srgbClr val="FFFFFF"/>
                </a:solidFill>
              </a:rPr>
              <a:t>NestUp turns a scattered small-agency workflow into one connected relational database.</a:t>
            </a:r>
            <a:endParaRPr lang="en-US" sz="2400" dirty="0"/>
          </a:p>
        </p:txBody>
      </p:sp>
      <p:sp>
        <p:nvSpPr>
          <p:cNvPr id="10" name="Shape 6"/>
          <p:cNvSpPr/>
          <p:nvPr/>
        </p:nvSpPr>
        <p:spPr>
          <a:xfrm>
            <a:off x="1234440" y="3017520"/>
            <a:ext cx="310896" cy="310896"/>
          </a:xfrm>
          <a:prstGeom prst="ellipse">
            <a:avLst/>
          </a:prstGeom>
          <a:solidFill>
            <a:srgbClr val="DCEBE4"/>
          </a:solidFill>
          <a:ln w="12700">
            <a:solidFill>
              <a:srgbClr val="FFFFFF">
                <a:alpha val="0"/>
              </a:srgbClr>
            </a:solidFill>
            <a:prstDash val="solid"/>
          </a:ln>
        </p:spPr>
        <p:txBody>
          <a:bodyPr/>
          <a:p/>
        </p:txBody>
      </p:sp>
      <p:sp>
        <p:nvSpPr>
          <p:cNvPr id="11" name="Text 7"/>
          <p:cNvSpPr/>
          <p:nvPr/>
        </p:nvSpPr>
        <p:spPr>
          <a:xfrm>
            <a:off x="1289304" y="304495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12" name="Text 8"/>
          <p:cNvSpPr/>
          <p:nvPr/>
        </p:nvSpPr>
        <p:spPr>
          <a:xfrm>
            <a:off x="1691640" y="299923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7 core entities</a:t>
            </a:r>
            <a:endParaRPr lang="en-US" sz="1400" dirty="0"/>
          </a:p>
        </p:txBody>
      </p:sp>
      <p:sp>
        <p:nvSpPr>
          <p:cNvPr id="13" name="Text 9"/>
          <p:cNvSpPr/>
          <p:nvPr/>
        </p:nvSpPr>
        <p:spPr>
          <a:xfrm>
            <a:off x="3200400" y="299923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Agent, Vendor, Buyer, Property, Viewing, Offer and Sale</a:t>
            </a:r>
            <a:endParaRPr lang="en-US" sz="1120" dirty="0"/>
          </a:p>
        </p:txBody>
      </p:sp>
      <p:sp>
        <p:nvSpPr>
          <p:cNvPr id="14" name="Shape 10"/>
          <p:cNvSpPr/>
          <p:nvPr/>
        </p:nvSpPr>
        <p:spPr>
          <a:xfrm>
            <a:off x="6217920" y="3017520"/>
            <a:ext cx="310896" cy="310896"/>
          </a:xfrm>
          <a:prstGeom prst="ellipse">
            <a:avLst/>
          </a:prstGeom>
          <a:solidFill>
            <a:srgbClr val="EEE2CD"/>
          </a:solidFill>
          <a:ln w="12700">
            <a:solidFill>
              <a:srgbClr val="FFFFFF">
                <a:alpha val="0"/>
              </a:srgbClr>
            </a:solidFill>
            <a:prstDash val="solid"/>
          </a:ln>
        </p:spPr>
        <p:txBody>
          <a:bodyPr/>
          <a:p/>
        </p:txBody>
      </p:sp>
      <p:sp>
        <p:nvSpPr>
          <p:cNvPr id="15" name="Text 11"/>
          <p:cNvSpPr/>
          <p:nvPr/>
        </p:nvSpPr>
        <p:spPr>
          <a:xfrm>
            <a:off x="6272784" y="304495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16" name="Text 12"/>
          <p:cNvSpPr/>
          <p:nvPr/>
        </p:nvSpPr>
        <p:spPr>
          <a:xfrm>
            <a:off x="6675120" y="299923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Clear relationships</a:t>
            </a:r>
            <a:endParaRPr lang="en-US" sz="1400" dirty="0"/>
          </a:p>
        </p:txBody>
      </p:sp>
      <p:sp>
        <p:nvSpPr>
          <p:cNvPr id="17" name="Text 13"/>
          <p:cNvSpPr/>
          <p:nvPr/>
        </p:nvSpPr>
        <p:spPr>
          <a:xfrm>
            <a:off x="8183880" y="299923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PK/FK structure and referential integrity</a:t>
            </a:r>
            <a:endParaRPr lang="en-US" sz="1120" dirty="0"/>
          </a:p>
        </p:txBody>
      </p:sp>
      <p:sp>
        <p:nvSpPr>
          <p:cNvPr id="18" name="Shape 14"/>
          <p:cNvSpPr/>
          <p:nvPr/>
        </p:nvSpPr>
        <p:spPr>
          <a:xfrm>
            <a:off x="1234440" y="4114800"/>
            <a:ext cx="310896" cy="310896"/>
          </a:xfrm>
          <a:prstGeom prst="ellipse">
            <a:avLst/>
          </a:prstGeom>
          <a:solidFill>
            <a:srgbClr val="DCEBE4"/>
          </a:solidFill>
          <a:ln w="12700">
            <a:solidFill>
              <a:srgbClr val="FFFFFF">
                <a:alpha val="0"/>
              </a:srgbClr>
            </a:solidFill>
            <a:prstDash val="solid"/>
          </a:ln>
        </p:spPr>
        <p:txBody>
          <a:bodyPr/>
          <a:p/>
        </p:txBody>
      </p:sp>
      <p:sp>
        <p:nvSpPr>
          <p:cNvPr id="19" name="Text 15"/>
          <p:cNvSpPr/>
          <p:nvPr/>
        </p:nvSpPr>
        <p:spPr>
          <a:xfrm>
            <a:off x="1289304" y="414223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20" name="Text 16"/>
          <p:cNvSpPr/>
          <p:nvPr/>
        </p:nvSpPr>
        <p:spPr>
          <a:xfrm>
            <a:off x="1691640" y="409651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Useful use cases</a:t>
            </a:r>
            <a:endParaRPr lang="en-US" sz="1400" dirty="0"/>
          </a:p>
        </p:txBody>
      </p:sp>
      <p:sp>
        <p:nvSpPr>
          <p:cNvPr id="21" name="Text 17"/>
          <p:cNvSpPr/>
          <p:nvPr/>
        </p:nvSpPr>
        <p:spPr>
          <a:xfrm>
            <a:off x="3200400" y="409651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Listings, matching, viewings, offers, sales and reporting</a:t>
            </a:r>
            <a:endParaRPr lang="en-US" sz="1120" dirty="0"/>
          </a:p>
        </p:txBody>
      </p:sp>
      <p:sp>
        <p:nvSpPr>
          <p:cNvPr id="22" name="Shape 18"/>
          <p:cNvSpPr/>
          <p:nvPr/>
        </p:nvSpPr>
        <p:spPr>
          <a:xfrm>
            <a:off x="6217920" y="4114800"/>
            <a:ext cx="310896" cy="310896"/>
          </a:xfrm>
          <a:prstGeom prst="ellipse">
            <a:avLst/>
          </a:prstGeom>
          <a:solidFill>
            <a:srgbClr val="EEE2CD"/>
          </a:solidFill>
          <a:ln w="12700">
            <a:solidFill>
              <a:srgbClr val="FFFFFF">
                <a:alpha val="0"/>
              </a:srgbClr>
            </a:solidFill>
            <a:prstDash val="solid"/>
          </a:ln>
        </p:spPr>
        <p:txBody>
          <a:bodyPr/>
          <a:p/>
        </p:txBody>
      </p:sp>
      <p:sp>
        <p:nvSpPr>
          <p:cNvPr id="23" name="Text 19"/>
          <p:cNvSpPr/>
          <p:nvPr/>
        </p:nvSpPr>
        <p:spPr>
          <a:xfrm>
            <a:off x="6272784" y="4142232"/>
            <a:ext cx="182880" cy="182880"/>
          </a:xfrm>
          <a:prstGeom prst="rect">
            <a:avLst/>
          </a:prstGeom>
          <a:noFill/>
          <a:ln/>
        </p:spPr>
        <p:txBody>
          <a:bodyPr wrap="square" lIns="0" tIns="0" rIns="0" bIns="0" rtlCol="0" anchor="ctr"/>
          <a:lstStyle/>
          <a:p>
            <a:pPr algn="ctr" indent="0" marL="0">
              <a:buNone/>
            </a:pPr>
            <a:r>
              <a:rPr lang="en-US" sz="1200" b="1" dirty="0">
                <a:solidFill>
                  <a:srgbClr val="163A45"/>
                </a:solidFill>
              </a:rPr>
              <a:t>✓</a:t>
            </a:r>
            <a:endParaRPr lang="en-US" sz="1200" dirty="0"/>
          </a:p>
        </p:txBody>
      </p:sp>
      <p:sp>
        <p:nvSpPr>
          <p:cNvPr id="24" name="Text 20"/>
          <p:cNvSpPr/>
          <p:nvPr/>
        </p:nvSpPr>
        <p:spPr>
          <a:xfrm>
            <a:off x="6675120" y="4096512"/>
            <a:ext cx="1554480" cy="228600"/>
          </a:xfrm>
          <a:prstGeom prst="rect">
            <a:avLst/>
          </a:prstGeom>
          <a:noFill/>
          <a:ln/>
        </p:spPr>
        <p:txBody>
          <a:bodyPr wrap="square" lIns="0" tIns="0" rIns="0" bIns="0" rtlCol="0" anchor="ctr"/>
          <a:lstStyle/>
          <a:p>
            <a:pPr indent="0" marL="0">
              <a:buNone/>
            </a:pPr>
            <a:r>
              <a:rPr lang="en-US" sz="1400" b="1" dirty="0">
                <a:solidFill>
                  <a:srgbClr val="FFFFFF"/>
                </a:solidFill>
              </a:rPr>
              <a:t>Team workflow</a:t>
            </a:r>
            <a:endParaRPr lang="en-US" sz="1400" dirty="0"/>
          </a:p>
        </p:txBody>
      </p:sp>
      <p:sp>
        <p:nvSpPr>
          <p:cNvPr id="25" name="Text 21"/>
          <p:cNvSpPr/>
          <p:nvPr/>
        </p:nvSpPr>
        <p:spPr>
          <a:xfrm>
            <a:off x="8183880" y="4096512"/>
            <a:ext cx="2560320" cy="411480"/>
          </a:xfrm>
          <a:prstGeom prst="rect">
            <a:avLst/>
          </a:prstGeom>
          <a:noFill/>
          <a:ln/>
        </p:spPr>
        <p:txBody>
          <a:bodyPr wrap="square" lIns="0" tIns="0" rIns="0" bIns="0" rtlCol="0" anchor="ctr">
            <a:normAutofit/>
          </a:bodyPr>
          <a:lstStyle/>
          <a:p>
            <a:pPr indent="0" marL="0">
              <a:buNone/>
            </a:pPr>
            <a:r>
              <a:rPr lang="en-US" sz="1120" dirty="0">
                <a:solidFill>
                  <a:srgbClr val="DDE8E8"/>
                </a:solidFill>
              </a:rPr>
              <a:t>Agile iterations + GitHub version control</a:t>
            </a:r>
            <a:endParaRPr lang="en-US" sz="1120" dirty="0"/>
          </a:p>
        </p:txBody>
      </p:sp>
      <p:sp>
        <p:nvSpPr>
          <p:cNvPr id="26" name="Text 22"/>
          <p:cNvSpPr/>
          <p:nvPr/>
        </p:nvSpPr>
        <p:spPr>
          <a:xfrm>
            <a:off x="1051560" y="5806440"/>
            <a:ext cx="10149840" cy="411480"/>
          </a:xfrm>
          <a:prstGeom prst="rect">
            <a:avLst/>
          </a:prstGeom>
          <a:noFill/>
          <a:ln/>
        </p:spPr>
        <p:txBody>
          <a:bodyPr wrap="square" lIns="0" tIns="0" rIns="0" bIns="0" rtlCol="0" anchor="ctr"/>
          <a:lstStyle/>
          <a:p>
            <a:pPr algn="ctr" indent="0" marL="0">
              <a:buNone/>
            </a:pPr>
            <a:r>
              <a:rPr lang="en-US" sz="1650" b="1" dirty="0">
                <a:solidFill>
                  <a:srgbClr val="1F2937"/>
                </a:solidFill>
              </a:rPr>
              <a:t>Overall, the project demonstrates database modelling, SQLite implementation, collaboration and problem-solving.</a:t>
            </a:r>
            <a:endParaRPr lang="en-US" sz="16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3A45"/>
          </a:solidFill>
          <a:ln w="12700">
            <a:solidFill>
              <a:srgbClr val="163A45"/>
            </a:solidFill>
            <a:prstDash val="solid"/>
          </a:ln>
        </p:spPr>
      </p:sp>
      <p:sp>
        <p:nvSpPr>
          <p:cNvPr id="3" name="Shape 1"/>
          <p:cNvSpPr/>
          <p:nvPr/>
        </p:nvSpPr>
        <p:spPr>
          <a:xfrm>
            <a:off x="4800600" y="960120"/>
            <a:ext cx="2606040" cy="2606040"/>
          </a:xfrm>
          <a:prstGeom prst="ellipse">
            <a:avLst/>
          </a:prstGeom>
          <a:solidFill>
            <a:srgbClr val="DCEBE4"/>
          </a:solidFill>
          <a:ln w="12700">
            <a:solidFill>
              <a:srgbClr val="DCEBE4"/>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0" y="1572768"/>
            <a:ext cx="1234440" cy="1234440"/>
          </a:xfrm>
          <a:prstGeom prst="rect">
            <a:avLst/>
          </a:prstGeom>
        </p:spPr>
      </p:pic>
      <p:sp>
        <p:nvSpPr>
          <p:cNvPr id="5" name="Text 2"/>
          <p:cNvSpPr/>
          <p:nvPr/>
        </p:nvSpPr>
        <p:spPr>
          <a:xfrm>
            <a:off x="2926080" y="3749040"/>
            <a:ext cx="6309360" cy="777240"/>
          </a:xfrm>
          <a:prstGeom prst="rect">
            <a:avLst/>
          </a:prstGeom>
          <a:noFill/>
          <a:ln/>
        </p:spPr>
        <p:txBody>
          <a:bodyPr wrap="square" lIns="0" tIns="0" rIns="0" bIns="0" rtlCol="0" anchor="ctr"/>
          <a:lstStyle/>
          <a:p>
            <a:pPr algn="ctr" indent="0" marL="0">
              <a:buNone/>
            </a:pPr>
            <a:r>
              <a:rPr lang="en-US" sz="3800" b="1" dirty="0">
                <a:solidFill>
                  <a:srgbClr val="FFFFFF"/>
                </a:solidFill>
              </a:rPr>
              <a:t>Q &amp; A</a:t>
            </a:r>
            <a:endParaRPr lang="en-US" sz="3800" dirty="0"/>
          </a:p>
        </p:txBody>
      </p:sp>
      <p:sp>
        <p:nvSpPr>
          <p:cNvPr id="6" name="Text 3"/>
          <p:cNvSpPr/>
          <p:nvPr/>
        </p:nvSpPr>
        <p:spPr>
          <a:xfrm>
            <a:off x="2834640" y="4709160"/>
            <a:ext cx="6492240" cy="384048"/>
          </a:xfrm>
          <a:prstGeom prst="rect">
            <a:avLst/>
          </a:prstGeom>
          <a:noFill/>
          <a:ln/>
        </p:spPr>
        <p:txBody>
          <a:bodyPr wrap="square" lIns="0" tIns="0" rIns="0" bIns="0" rtlCol="0" anchor="ctr"/>
          <a:lstStyle/>
          <a:p>
            <a:pPr algn="ctr" indent="0" marL="0">
              <a:buNone/>
            </a:pPr>
            <a:r>
              <a:rPr lang="en-US" sz="1700" dirty="0">
                <a:solidFill>
                  <a:srgbClr val="D7E5E4"/>
                </a:solidFill>
              </a:rPr>
              <a:t>Thank you — we are happy to answer your questions.</a:t>
            </a:r>
            <a:endParaRPr lang="en-US" sz="1700" dirty="0"/>
          </a:p>
        </p:txBody>
      </p:sp>
      <p:sp>
        <p:nvSpPr>
          <p:cNvPr id="7" name="Text 4"/>
          <p:cNvSpPr/>
          <p:nvPr/>
        </p:nvSpPr>
        <p:spPr>
          <a:xfrm>
            <a:off x="2880360" y="5559552"/>
            <a:ext cx="6446520" cy="292608"/>
          </a:xfrm>
          <a:prstGeom prst="rect">
            <a:avLst/>
          </a:prstGeom>
          <a:noFill/>
          <a:ln/>
        </p:spPr>
        <p:txBody>
          <a:bodyPr wrap="square" lIns="0" tIns="0" rIns="0" bIns="0" rtlCol="0" anchor="ctr"/>
          <a:lstStyle/>
          <a:p>
            <a:pPr algn="ctr" indent="0" marL="0">
              <a:buNone/>
            </a:pPr>
            <a:r>
              <a:rPr lang="en-US" sz="1250" b="1" dirty="0">
                <a:solidFill>
                  <a:srgbClr val="EEE2CD"/>
                </a:solidFill>
              </a:rPr>
              <a:t>Prasamsha Dahal  •  Harshdeep Kaur  •  Varish Makra</a:t>
            </a:r>
            <a:endParaRPr lang="en-US" sz="12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Carlito"/>
                <a:ea typeface="Carlito"/>
                <a:cs typeface="Carlito"/>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Otago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NestUp - Client and Listing Management System</dc:title>
  <dc:subject>IA502001 Studio 1 Presentation</dc:subject>
  <dc:creator>NestUp - Group 2</dc:creator>
  <cp:lastModifiedBy>NestUp - Group 2</cp:lastModifiedBy>
  <cp:revision>1</cp:revision>
  <dcterms:created xsi:type="dcterms:W3CDTF">2026-08-27T07:51:40Z</dcterms:created>
  <dcterms:modified xsi:type="dcterms:W3CDTF">2026-08-27T07:51:40Z</dcterms:modified>
</cp:coreProperties>
</file>